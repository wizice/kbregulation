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84" r:id="rId2"/>
    <p:sldId id="265" r:id="rId3"/>
    <p:sldId id="266" r:id="rId4"/>
  </p:sldIdLst>
  <p:sldSz cx="6858000" cy="9906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65" autoAdjust="0"/>
  </p:normalViewPr>
  <p:slideViewPr>
    <p:cSldViewPr>
      <p:cViewPr varScale="1">
        <p:scale>
          <a:sx n="75" d="100"/>
          <a:sy n="75" d="100"/>
        </p:scale>
        <p:origin x="3174" y="72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B2043-2B6E-4B66-9F0A-B4E9AA19993F}" type="datetimeFigureOut">
              <a:rPr lang="ko-KR" altLang="en-US" smtClean="0"/>
              <a:pPr/>
              <a:t>2025-04-04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09788" y="744538"/>
            <a:ext cx="25781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44DBF-A43F-4EC7-913C-AC9FB1D7216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917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2DB4D-3429-474C-9558-0E7A41344B56}" type="datetime1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85E15-63FC-4A6A-AE3E-F0310AB029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864F-578A-4746-B840-15B272C8FE62}" type="datetime1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85E15-63FC-4A6A-AE3E-F0310AB029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B8AA-92AC-4EFF-8374-BFB43BCA7D67}" type="datetime1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85E15-63FC-4A6A-AE3E-F0310AB029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8615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EB12B-6224-4564-BD85-77077DA96706}" type="datetime1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85E15-63FC-4A6A-AE3E-F0310AB029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3D96-BB40-4858-8C0B-FC46108A78E4}" type="datetime1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85E15-63FC-4A6A-AE3E-F0310AB029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011F9-A9B5-4113-9CBD-A7338D0E08BB}" type="datetime1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85E15-63FC-4A6A-AE3E-F0310AB029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681F-5908-49F2-B7DF-773C339B4004}" type="datetime1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85E15-63FC-4A6A-AE3E-F0310AB029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A6007-C8C1-4948-B3D3-C32DA1FC9242}" type="datetime1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85E15-63FC-4A6A-AE3E-F0310AB029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EB95-CCAE-4B55-8772-469068A6FFD0}" type="datetime1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85E15-63FC-4A6A-AE3E-F0310AB029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46E9-D6D6-4F96-AA13-2C2C90112456}" type="datetime1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85E15-63FC-4A6A-AE3E-F0310AB029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96701"/>
            <a:ext cx="1543050" cy="845220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96701"/>
            <a:ext cx="4514850" cy="845220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F4F63-C617-4ABC-8D5A-EBED14273BBF}" type="datetime1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85E15-63FC-4A6A-AE3E-F0310AB029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EFD05-F586-42A5-B0C3-153776279752}" type="datetime1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5E15-63FC-4A6A-AE3E-F0310AB029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2E9F009-8406-4AF0-95F6-AB62836D1E1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56" y="732224"/>
            <a:ext cx="1315894" cy="3323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13487CC8-6699-4413-A4A1-442ED363BF14}"/>
              </a:ext>
            </a:extLst>
          </p:cNvPr>
          <p:cNvSpPr txBox="1"/>
          <p:nvPr/>
        </p:nvSpPr>
        <p:spPr>
          <a:xfrm>
            <a:off x="5927468" y="705760"/>
            <a:ext cx="597877" cy="24970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385"/>
              </a:spcBef>
              <a:spcAft>
                <a:spcPts val="1385"/>
              </a:spcAft>
            </a:pPr>
            <a:r>
              <a:rPr lang="ko-KR" altLang="en-US" sz="1015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923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표 7">
            <a:extLst>
              <a:ext uri="{FF2B5EF4-FFF2-40B4-BE49-F238E27FC236}">
                <a16:creationId xmlns:a16="http://schemas.microsoft.com/office/drawing/2014/main" id="{AE26ACEE-D404-425C-9E2A-95EAD3287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95840"/>
              </p:ext>
            </p:extLst>
          </p:nvPr>
        </p:nvGraphicFramePr>
        <p:xfrm>
          <a:off x="393585" y="1934203"/>
          <a:ext cx="6059748" cy="6547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958">
                  <a:extLst>
                    <a:ext uri="{9D8B030D-6E8A-4147-A177-3AD203B41FA5}">
                      <a16:colId xmlns:a16="http://schemas.microsoft.com/office/drawing/2014/main" val="3307287349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2503108154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1982474349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159794727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842079274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267532808"/>
                    </a:ext>
                  </a:extLst>
                </a:gridCol>
              </a:tblGrid>
              <a:tr h="419125">
                <a:tc gridSpan="6"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세브란스병원 내규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10.7.2.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직무상 재해 관리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84877"/>
                  </a:ext>
                </a:extLst>
              </a:tr>
              <a:tr h="5354122"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10.7.2. 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부록</a:t>
                      </a: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1. </a:t>
                      </a:r>
                    </a:p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직무상 재해 접수</a:t>
                      </a: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, 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처리 및 추후관리 과정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995443"/>
                  </a:ext>
                </a:extLst>
              </a:tr>
              <a:tr h="386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담당부서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안전보건관리위원회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327800"/>
                  </a:ext>
                </a:extLst>
              </a:tr>
              <a:tr h="386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2012.05.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2025.03.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최종검토일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2025.03.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832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88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그림 6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2521" y="332399"/>
            <a:ext cx="1017905" cy="295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9" name="직사각형 68"/>
          <p:cNvSpPr/>
          <p:nvPr/>
        </p:nvSpPr>
        <p:spPr>
          <a:xfrm>
            <a:off x="1750504" y="1104764"/>
            <a:ext cx="3429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ko-KR" altLang="en-US" sz="1400" b="1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직</a:t>
            </a:r>
            <a:r>
              <a:rPr lang="ko-KR" altLang="ko-KR" sz="1400" b="1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무상 재해 접수</a:t>
            </a:r>
            <a:r>
              <a:rPr lang="en-US" altLang="ko-KR" sz="1400" b="1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400" b="1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처리 및 추후관리 과정</a:t>
            </a:r>
            <a:endParaRPr lang="ko-KR" altLang="ko-KR" sz="1400" dirty="0">
              <a:latin typeface="Times New Roman" panose="02020603050405020304" pitchFamily="18" charset="0"/>
              <a:ea typeface="HY신명조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4F49C4-FD99-4CC1-8EB6-F9A9B8FC370A}"/>
              </a:ext>
            </a:extLst>
          </p:cNvPr>
          <p:cNvSpPr txBox="1"/>
          <p:nvPr/>
        </p:nvSpPr>
        <p:spPr>
          <a:xfrm>
            <a:off x="260648" y="1412541"/>
            <a:ext cx="6408712" cy="7572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1.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직무상 재해 접수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처리 및 추후관리 절차</a:t>
            </a: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 </a:t>
            </a:r>
            <a:r>
              <a:rPr lang="en-US" altLang="ko-KR" sz="10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 1)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출퇴근 과정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또는 업무 중 직무와 관련된 안전사고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직원감염노출 포함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로 인하여 부상하거나 질병에 </a:t>
            </a: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    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걸리는 경우 필요한 응급처치를 시행한다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  </a:t>
            </a:r>
            <a:r>
              <a:rPr lang="en-US" altLang="ko-KR" sz="10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2)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이후 소속 부서장과 안전보건팀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(</a:t>
            </a:r>
            <a:r>
              <a:rPr lang="en-US" altLang="ko-KR" sz="10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☎87801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에 신고한다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  </a:t>
            </a:r>
            <a:r>
              <a:rPr lang="en-US" altLang="ko-KR" sz="10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3) </a:t>
            </a:r>
            <a:r>
              <a:rPr lang="ko-KR" altLang="en-US" sz="10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진료 시</a:t>
            </a:r>
            <a:r>
              <a:rPr lang="en-US" altLang="ko-KR" sz="10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원내 재해발생 신고서를 작성하여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외래원무팀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또는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입원원무팀에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제출한다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  </a:t>
            </a:r>
            <a:r>
              <a:rPr lang="en-US" altLang="ko-KR" sz="10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4)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진료 후 작성한 원내 재해발생 신고서를 안전보건팀에 제출한다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  </a:t>
            </a:r>
            <a:r>
              <a:rPr lang="en-US" altLang="ko-KR" sz="10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5)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접수된 원내 재해발생 신고에 대해 안전보건실무소위원회에서 심의한다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  </a:t>
            </a:r>
            <a:r>
              <a:rPr lang="en-US" altLang="ko-KR" sz="10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6)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안전보건실무소위원회 심의 결과에 따라 다음과 같은 처리 절차를 밟는다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     </a:t>
            </a:r>
            <a:r>
              <a:rPr lang="en-US" altLang="ko-KR" sz="10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(1)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무과실 책임주의의 원칙하에 산업재해보상보험법 및 사립학교연금법에 따라 실손 처리한다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.  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          </a:t>
            </a:r>
            <a:r>
              <a:rPr lang="en-US" altLang="ko-KR" sz="1000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①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사학연금 직무요양 신청</a:t>
            </a: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               </a:t>
            </a:r>
            <a:r>
              <a:rPr lang="en-US" altLang="ko-KR" sz="1000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②</a:t>
            </a:r>
            <a:r>
              <a:rPr lang="en-US" altLang="ko-KR" sz="1000" dirty="0">
                <a:latin typeface="굴림" panose="020B0600000101010101" pitchFamily="50" charset="-127"/>
                <a:ea typeface="굴림" panose="020B0600000101010101" pitchFamily="50" charset="-127"/>
                <a:cs typeface="함초롬바탕" panose="02030604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근로복지공단 요양급여 신청</a:t>
            </a: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   7)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개인의 질병요양과 관련하여 근로자가 원하거나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보건관리자가 필요하다고 판단되는 근로자인 경우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, 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   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보건관리자는 상담 및 사후관리를 시행한다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2.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직무상 재해 관련 제출서류 안내</a:t>
            </a: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 </a:t>
            </a:r>
            <a:r>
              <a:rPr lang="en-US" altLang="ko-KR" sz="10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 1)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원내 재해발생 신고서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안전보건실무소위원회 심의용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) </a:t>
            </a:r>
          </a:p>
          <a:p>
            <a:pPr>
              <a:lnSpc>
                <a:spcPct val="130000"/>
              </a:lnSpc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     그룹웨어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기관별게시판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]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사무처 게시판 → 안전보건팀 → 각종서식</a:t>
            </a: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    2)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교직원 직무상 요양 승인신청서</a:t>
            </a: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      그룹웨어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기관별게시판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]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사무처 게시판 → 안전보건팀 → 각종서식</a:t>
            </a: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    3)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첨부서류</a:t>
            </a: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500" dirty="0">
              <a:latin typeface="HY신명조" panose="02030600000101010101" pitchFamily="18" charset="-127"/>
              <a:ea typeface="HY신명조" panose="02030600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참고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] [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그림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1]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직무상 재해 접수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  <a:cs typeface="함초롬바탕" panose="02030604000101010101" pitchFamily="18" charset="-127"/>
              </a:rPr>
              <a:t>처리 및 추후관리 절차</a:t>
            </a:r>
            <a:r>
              <a:rPr lang="en-US" altLang="ko-KR" sz="1000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(Page.2)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AAC473DC-5212-47EC-89FB-FED4A7CAD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273858"/>
              </p:ext>
            </p:extLst>
          </p:nvPr>
        </p:nvGraphicFramePr>
        <p:xfrm>
          <a:off x="404664" y="5250395"/>
          <a:ext cx="6120680" cy="327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340">
                  <a:extLst>
                    <a:ext uri="{9D8B030D-6E8A-4147-A177-3AD203B41FA5}">
                      <a16:colId xmlns:a16="http://schemas.microsoft.com/office/drawing/2014/main" val="2934724066"/>
                    </a:ext>
                  </a:extLst>
                </a:gridCol>
                <a:gridCol w="3060340">
                  <a:extLst>
                    <a:ext uri="{9D8B030D-6E8A-4147-A177-3AD203B41FA5}">
                      <a16:colId xmlns:a16="http://schemas.microsoft.com/office/drawing/2014/main" val="335983399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사학연금공단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근로복지공단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50973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직무상요양승인신청서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요양급여신청서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0561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상병경위서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요양급여신청 소견서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5863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목격자 진술서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급여명세서</a:t>
                      </a:r>
                      <a:r>
                        <a:rPr lang="en-US" altLang="ko-KR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상병일 포함 이전 </a:t>
                      </a:r>
                      <a:r>
                        <a:rPr lang="en-US" altLang="ko-KR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4</a:t>
                      </a:r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개월</a:t>
                      </a:r>
                      <a:r>
                        <a:rPr lang="en-US" altLang="ko-KR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  <a:endParaRPr lang="ko-KR" altLang="en-US" sz="1000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24876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진단서 원본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근로계약서 사본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90787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의무기록사본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진단서 원본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6587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출근부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의무기록사본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8506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방사선필름자료</a:t>
                      </a:r>
                      <a:r>
                        <a:rPr lang="en-US" altLang="ko-KR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(CD)</a:t>
                      </a:r>
                      <a:endParaRPr lang="ko-KR" altLang="en-US" sz="1000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보험가입자 의견서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49578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교통사고사실확인서 또는 보험사의 지불보증서</a:t>
                      </a:r>
                      <a:endParaRPr lang="en-US" altLang="ko-KR" sz="1000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교통사고 해당자</a:t>
                      </a:r>
                      <a:r>
                        <a:rPr lang="en-US" altLang="ko-KR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  <a:endParaRPr lang="ko-KR" altLang="en-US" sz="1000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방사선필름자료</a:t>
                      </a:r>
                      <a:r>
                        <a:rPr lang="en-US" altLang="ko-KR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(CD)</a:t>
                      </a:r>
                      <a:endParaRPr lang="ko-KR" altLang="en-US" sz="1000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24712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출퇴근 경로</a:t>
                      </a:r>
                      <a:r>
                        <a:rPr lang="en-US" altLang="ko-KR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교통사고 및 출퇴근 사고 해당자</a:t>
                      </a:r>
                      <a:r>
                        <a:rPr lang="en-US" altLang="ko-KR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  <a:endParaRPr lang="ko-KR" altLang="en-US" sz="1000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출퇴근 재해발생 신고서</a:t>
                      </a:r>
                      <a:r>
                        <a:rPr lang="en-US" altLang="ko-KR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출퇴근 사고 해당자</a:t>
                      </a:r>
                      <a:r>
                        <a:rPr lang="en-US" altLang="ko-KR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  <a:endParaRPr lang="ko-KR" altLang="en-US" sz="1000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72418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출장 중 상해 관련 근거자료</a:t>
                      </a:r>
                      <a:r>
                        <a:rPr lang="en-US" altLang="ko-KR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출장 시 상해 해당자</a:t>
                      </a:r>
                      <a:r>
                        <a:rPr lang="en-US" altLang="ko-KR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  <a:endParaRPr lang="ko-KR" altLang="en-US" sz="1000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제 </a:t>
                      </a:r>
                      <a:r>
                        <a:rPr lang="en-US" altLang="ko-KR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3</a:t>
                      </a:r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자의 행위에 따른 재해발생 신고서</a:t>
                      </a:r>
                      <a:r>
                        <a:rPr lang="en-US" altLang="ko-KR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lang="ko-KR" altLang="en-US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해당자</a:t>
                      </a:r>
                      <a:r>
                        <a:rPr lang="en-US" altLang="ko-KR" sz="1000" dirty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  <a:endParaRPr lang="ko-KR" altLang="en-US" sz="1000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4784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그림 6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2521" y="332399"/>
            <a:ext cx="1017905" cy="295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9" name="직사각형 68"/>
          <p:cNvSpPr/>
          <p:nvPr/>
        </p:nvSpPr>
        <p:spPr>
          <a:xfrm>
            <a:off x="1517685" y="1188002"/>
            <a:ext cx="3753074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300" b="1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[</a:t>
            </a:r>
            <a:r>
              <a:rPr lang="ko-KR" altLang="en-US" sz="1300" b="1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그림</a:t>
            </a:r>
            <a:r>
              <a:rPr lang="en-US" altLang="ko-KR" sz="1300" b="1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1] </a:t>
            </a:r>
            <a:r>
              <a:rPr lang="ko-KR" altLang="en-US" sz="1300" b="1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직</a:t>
            </a:r>
            <a:r>
              <a:rPr lang="ko-KR" altLang="ko-KR" sz="1300" b="1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무상 재해 접수</a:t>
            </a:r>
            <a:r>
              <a:rPr lang="en-US" altLang="ko-KR" sz="1300" b="1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300" b="1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처리 및 추후관리 </a:t>
            </a:r>
            <a:r>
              <a:rPr lang="ko-KR" altLang="en-US" sz="1300" b="1" dirty="0">
                <a:latin typeface="Times New Roman" panose="02020603050405020304" pitchFamily="18" charset="0"/>
                <a:ea typeface="HY신명조" panose="02030600000101010101" pitchFamily="18" charset="-127"/>
                <a:cs typeface="Times New Roman" panose="02020603050405020304" pitchFamily="18" charset="0"/>
              </a:rPr>
              <a:t>절차</a:t>
            </a:r>
            <a:endParaRPr lang="ko-KR" altLang="ko-KR" sz="1300" dirty="0">
              <a:latin typeface="Times New Roman" panose="02020603050405020304" pitchFamily="18" charset="0"/>
              <a:ea typeface="HY신명조" panose="02030600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2197840-A99A-488F-92A0-3B1B49A28742}"/>
              </a:ext>
            </a:extLst>
          </p:cNvPr>
          <p:cNvGrpSpPr/>
          <p:nvPr/>
        </p:nvGrpSpPr>
        <p:grpSpPr>
          <a:xfrm>
            <a:off x="755839" y="1784648"/>
            <a:ext cx="5346321" cy="7301534"/>
            <a:chOff x="818983" y="1613407"/>
            <a:chExt cx="5346321" cy="7301534"/>
          </a:xfrm>
        </p:grpSpPr>
        <p:grpSp>
          <p:nvGrpSpPr>
            <p:cNvPr id="117" name="그룹 116"/>
            <p:cNvGrpSpPr/>
            <p:nvPr/>
          </p:nvGrpSpPr>
          <p:grpSpPr>
            <a:xfrm>
              <a:off x="818983" y="1613407"/>
              <a:ext cx="5346321" cy="7301534"/>
              <a:chOff x="4865397" y="732818"/>
              <a:chExt cx="4372780" cy="5655301"/>
            </a:xfrm>
          </p:grpSpPr>
          <p:sp>
            <p:nvSpPr>
              <p:cNvPr id="118" name="아래쪽 화살표 117"/>
              <p:cNvSpPr>
                <a:spLocks noChangeArrowheads="1"/>
              </p:cNvSpPr>
              <p:nvPr/>
            </p:nvSpPr>
            <p:spPr bwMode="auto">
              <a:xfrm>
                <a:off x="7613389" y="2252413"/>
                <a:ext cx="149151" cy="471701"/>
              </a:xfrm>
              <a:prstGeom prst="downArrow">
                <a:avLst>
                  <a:gd name="adj1" fmla="val 39704"/>
                  <a:gd name="adj2" fmla="val 71072"/>
                </a:avLst>
              </a:prstGeom>
              <a:solidFill>
                <a:srgbClr val="FFC000"/>
              </a:solidFill>
              <a:ln w="25400" algn="ctr">
                <a:solidFill>
                  <a:srgbClr val="FAC09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000">
                  <a:latin typeface="+mn-lt"/>
                  <a:ea typeface="+mn-ea"/>
                </a:endParaRPr>
              </a:p>
            </p:txBody>
          </p:sp>
          <p:sp>
            <p:nvSpPr>
              <p:cNvPr id="119" name="아래쪽 화살표 22"/>
              <p:cNvSpPr>
                <a:spLocks noChangeArrowheads="1"/>
              </p:cNvSpPr>
              <p:nvPr/>
            </p:nvSpPr>
            <p:spPr bwMode="auto">
              <a:xfrm>
                <a:off x="5766490" y="2255115"/>
                <a:ext cx="150247" cy="1042966"/>
              </a:xfrm>
              <a:prstGeom prst="downArrow">
                <a:avLst>
                  <a:gd name="adj1" fmla="val 37222"/>
                  <a:gd name="adj2" fmla="val 121175"/>
                </a:avLst>
              </a:prstGeom>
              <a:solidFill>
                <a:srgbClr val="FFC000"/>
              </a:solidFill>
              <a:ln w="25400" algn="ctr">
                <a:solidFill>
                  <a:srgbClr val="FAC09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000">
                  <a:latin typeface="+mn-lt"/>
                  <a:ea typeface="+mn-ea"/>
                </a:endParaRPr>
              </a:p>
            </p:txBody>
          </p:sp>
          <p:sp>
            <p:nvSpPr>
              <p:cNvPr id="120" name="모서리가 둥근 직사각형 119"/>
              <p:cNvSpPr>
                <a:spLocks noChangeArrowheads="1"/>
              </p:cNvSpPr>
              <p:nvPr/>
            </p:nvSpPr>
            <p:spPr bwMode="auto">
              <a:xfrm>
                <a:off x="4865397" y="1649161"/>
                <a:ext cx="3829671" cy="600262"/>
              </a:xfrm>
              <a:prstGeom prst="roundRect">
                <a:avLst>
                  <a:gd name="adj" fmla="val 16667"/>
                </a:avLst>
              </a:prstGeom>
              <a:solidFill>
                <a:srgbClr val="FEE3BE"/>
              </a:solidFill>
              <a:ln w="25400" algn="ctr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kumimoji="0" lang="ko-KR" altLang="en-US" sz="1000" b="1" u="sng" dirty="0">
                    <a:latin typeface="맑은 고딕" pitchFamily="50" charset="-127"/>
                    <a:ea typeface="맑은 고딕" pitchFamily="50" charset="-127"/>
                  </a:rPr>
                  <a:t>재해발생신고</a:t>
                </a:r>
                <a:r>
                  <a:rPr kumimoji="0" lang="en-US" altLang="ko-KR" sz="1000" b="1" u="sng" dirty="0">
                    <a:latin typeface="맑은 고딕" pitchFamily="50" charset="-127"/>
                    <a:ea typeface="맑은 고딕" pitchFamily="50" charset="-127"/>
                  </a:rPr>
                  <a:t>: </a:t>
                </a:r>
                <a:r>
                  <a:rPr kumimoji="0" lang="ko-KR" altLang="en-US" sz="900" b="1" dirty="0">
                    <a:latin typeface="맑은 고딕" pitchFamily="50" charset="-127"/>
                    <a:ea typeface="맑은 고딕" pitchFamily="50" charset="-127"/>
                  </a:rPr>
                  <a:t>부서장</a:t>
                </a:r>
                <a:r>
                  <a:rPr kumimoji="0" lang="en-US" altLang="ko-KR" sz="900" b="1" dirty="0">
                    <a:latin typeface="맑은 고딕" pitchFamily="50" charset="-127"/>
                    <a:ea typeface="맑은 고딕" pitchFamily="50" charset="-127"/>
                  </a:rPr>
                  <a:t> </a:t>
                </a:r>
                <a:r>
                  <a:rPr kumimoji="0" lang="ko-KR" altLang="en-US" sz="900" b="1" dirty="0">
                    <a:latin typeface="맑은 고딕" pitchFamily="50" charset="-127"/>
                    <a:ea typeface="맑은 고딕" pitchFamily="50" charset="-127"/>
                  </a:rPr>
                  <a:t>및 관련부서에 신고</a:t>
                </a:r>
                <a:endParaRPr kumimoji="0" lang="en-US" altLang="ko-KR" sz="900" b="1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22" name="모서리가 둥근 직사각형 121"/>
              <p:cNvSpPr/>
              <p:nvPr/>
            </p:nvSpPr>
            <p:spPr>
              <a:xfrm>
                <a:off x="5271473" y="4636913"/>
                <a:ext cx="2992506" cy="234811"/>
              </a:xfrm>
              <a:prstGeom prst="roundRect">
                <a:avLst/>
              </a:prstGeom>
              <a:gradFill flip="none" rotWithShape="0">
                <a:gsLst>
                  <a:gs pos="0">
                    <a:schemeClr val="tx2">
                      <a:lumMod val="20000"/>
                      <a:lumOff val="80000"/>
                    </a:schemeClr>
                  </a:gs>
                  <a:gs pos="39999">
                    <a:schemeClr val="bg1"/>
                  </a:gs>
                  <a:gs pos="70000">
                    <a:schemeClr val="tx2">
                      <a:lumMod val="20000"/>
                      <a:lumOff val="80000"/>
                    </a:schemeClr>
                  </a:gs>
                  <a:gs pos="100000">
                    <a:srgbClr val="FFEBFA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en-US" altLang="ko-KR" sz="1000" b="1" u="sng" dirty="0">
                  <a:solidFill>
                    <a:schemeClr val="tx1"/>
                  </a:solidFill>
                </a:endParaRP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1000" b="1" u="sng" dirty="0">
                    <a:solidFill>
                      <a:schemeClr val="tx1"/>
                    </a:solidFill>
                  </a:rPr>
                  <a:t>안전보건실무소위원회</a:t>
                </a: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altLang="ko-KR" sz="1000" b="1" u="sng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아래쪽 화살표 122"/>
              <p:cNvSpPr/>
              <p:nvPr/>
            </p:nvSpPr>
            <p:spPr>
              <a:xfrm>
                <a:off x="6711844" y="1484784"/>
                <a:ext cx="197406" cy="156034"/>
              </a:xfrm>
              <a:prstGeom prst="downArrow">
                <a:avLst/>
              </a:prstGeom>
              <a:solidFill>
                <a:srgbClr val="FFC000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아래쪽 화살표 123"/>
              <p:cNvSpPr>
                <a:spLocks noChangeArrowheads="1"/>
              </p:cNvSpPr>
              <p:nvPr/>
            </p:nvSpPr>
            <p:spPr bwMode="auto">
              <a:xfrm>
                <a:off x="7612839" y="3103894"/>
                <a:ext cx="150248" cy="198888"/>
              </a:xfrm>
              <a:prstGeom prst="downArrow">
                <a:avLst>
                  <a:gd name="adj1" fmla="val 32963"/>
                  <a:gd name="adj2" fmla="val 60587"/>
                </a:avLst>
              </a:prstGeom>
              <a:solidFill>
                <a:srgbClr val="FFC000"/>
              </a:solidFill>
              <a:ln w="25400" algn="ctr">
                <a:solidFill>
                  <a:srgbClr val="FAC09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000">
                  <a:latin typeface="+mn-lt"/>
                  <a:ea typeface="+mn-ea"/>
                </a:endParaRPr>
              </a:p>
            </p:txBody>
          </p:sp>
          <p:sp>
            <p:nvSpPr>
              <p:cNvPr id="126" name="모서리가 둥근 직사각형 125"/>
              <p:cNvSpPr/>
              <p:nvPr/>
            </p:nvSpPr>
            <p:spPr>
              <a:xfrm>
                <a:off x="5269853" y="5752369"/>
                <a:ext cx="2992506" cy="635750"/>
              </a:xfrm>
              <a:prstGeom prst="roundRect">
                <a:avLst/>
              </a:prstGeom>
              <a:solidFill>
                <a:srgbClr val="E9FE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en-US" altLang="ko-KR" sz="1000" b="1" u="sng" dirty="0">
                  <a:solidFill>
                    <a:schemeClr val="tx1"/>
                  </a:solidFill>
                </a:endParaRPr>
              </a:p>
              <a:p>
                <a:pPr algn="ctr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1100" b="1" u="sng" dirty="0" err="1">
                    <a:solidFill>
                      <a:schemeClr val="tx1"/>
                    </a:solidFill>
                  </a:rPr>
                  <a:t>승인시</a:t>
                </a:r>
                <a:endParaRPr kumimoji="0" lang="en-US" altLang="ko-KR" sz="1100" b="1" u="sng" dirty="0">
                  <a:solidFill>
                    <a:schemeClr val="tx1"/>
                  </a:solidFill>
                </a:endParaRP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1000" b="1" dirty="0">
                    <a:solidFill>
                      <a:schemeClr val="tx1"/>
                    </a:solidFill>
                  </a:rPr>
                  <a:t>휴가</a:t>
                </a:r>
                <a:r>
                  <a:rPr kumimoji="0" lang="en-US" altLang="ko-KR" sz="1000" b="1" dirty="0">
                    <a:solidFill>
                      <a:schemeClr val="tx1"/>
                    </a:solidFill>
                  </a:rPr>
                  <a:t>(</a:t>
                </a:r>
                <a:r>
                  <a:rPr kumimoji="0" lang="ko-KR" altLang="en-US" sz="1000" b="1" dirty="0">
                    <a:solidFill>
                      <a:schemeClr val="tx1"/>
                    </a:solidFill>
                  </a:rPr>
                  <a:t>병가</a:t>
                </a:r>
                <a:r>
                  <a:rPr kumimoji="0" lang="en-US" altLang="ko-KR" sz="1000" b="1" dirty="0">
                    <a:solidFill>
                      <a:schemeClr val="tx1"/>
                    </a:solidFill>
                  </a:rPr>
                  <a:t>) </a:t>
                </a:r>
                <a:r>
                  <a:rPr kumimoji="0" lang="en-US" altLang="ko-KR" sz="1000" b="1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→ </a:t>
                </a:r>
                <a:r>
                  <a:rPr lang="ko-KR" altLang="en-US" sz="1000" b="1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000" b="1" dirty="0" err="1">
                    <a:solidFill>
                      <a:schemeClr val="tx1"/>
                    </a:solidFill>
                  </a:rPr>
                  <a:t>공가처리</a:t>
                </a:r>
                <a:r>
                  <a:rPr lang="en-US" altLang="ko-KR" sz="1000" b="1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b="1" dirty="0">
                    <a:solidFill>
                      <a:schemeClr val="tx1"/>
                    </a:solidFill>
                  </a:rPr>
                  <a:t>진료비 보상                      </a:t>
                </a:r>
                <a:endParaRPr kumimoji="0" lang="en-US" altLang="ko-KR" sz="1000" b="1" dirty="0">
                  <a:solidFill>
                    <a:schemeClr val="tx1"/>
                  </a:solidFill>
                </a:endParaRP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1000" b="1" dirty="0">
                    <a:solidFill>
                      <a:schemeClr val="tx1"/>
                    </a:solidFill>
                  </a:rPr>
                  <a:t>데이터 관리</a:t>
                </a:r>
                <a:r>
                  <a:rPr kumimoji="0" lang="en-US" altLang="ko-KR" sz="1000" b="1" dirty="0">
                    <a:solidFill>
                      <a:schemeClr val="tx1"/>
                    </a:solidFill>
                  </a:rPr>
                  <a:t>,</a:t>
                </a:r>
                <a:r>
                  <a:rPr kumimoji="0" lang="ko-KR" altLang="en-US" sz="1000" b="1" dirty="0">
                    <a:solidFill>
                      <a:schemeClr val="tx1"/>
                    </a:solidFill>
                  </a:rPr>
                  <a:t> 추후 관리</a:t>
                </a:r>
                <a:endParaRPr kumimoji="0" lang="en-US" altLang="ko-KR" sz="1000" b="1" dirty="0">
                  <a:solidFill>
                    <a:schemeClr val="tx1"/>
                  </a:solidFill>
                </a:endParaRPr>
              </a:p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1000" b="1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b="1" dirty="0" err="1">
                    <a:solidFill>
                      <a:schemeClr val="tx1"/>
                    </a:solidFill>
                  </a:rPr>
                  <a:t>보건관리자</a:t>
                </a:r>
                <a:r>
                  <a:rPr lang="en-US" altLang="ko-KR" sz="1000" b="1" dirty="0">
                    <a:solidFill>
                      <a:schemeClr val="tx1"/>
                    </a:solidFill>
                  </a:rPr>
                  <a:t>)</a:t>
                </a:r>
                <a:r>
                  <a:rPr kumimoji="0" lang="en-US" altLang="ko-KR" sz="900" b="1" dirty="0">
                    <a:solidFill>
                      <a:schemeClr val="tx1"/>
                    </a:solidFill>
                  </a:rPr>
                  <a:t>                </a:t>
                </a: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000" b="1" u="sng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모서리가 둥근 직사각형 126"/>
              <p:cNvSpPr/>
              <p:nvPr/>
            </p:nvSpPr>
            <p:spPr>
              <a:xfrm>
                <a:off x="8596608" y="3229532"/>
                <a:ext cx="641569" cy="214582"/>
              </a:xfrm>
              <a:prstGeom prst="roundRect">
                <a:avLst/>
              </a:prstGeom>
              <a:solidFill>
                <a:srgbClr val="FFEBFF"/>
              </a:solidFill>
              <a:ln>
                <a:solidFill>
                  <a:srgbClr val="FFCC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1000" b="1" u="sng" dirty="0">
                    <a:solidFill>
                      <a:schemeClr val="tx1"/>
                    </a:solidFill>
                  </a:rPr>
                  <a:t>종결</a:t>
                </a:r>
              </a:p>
            </p:txBody>
          </p:sp>
          <p:sp>
            <p:nvSpPr>
              <p:cNvPr id="128" name="TextBox 52"/>
              <p:cNvSpPr txBox="1">
                <a:spLocks noChangeArrowheads="1"/>
              </p:cNvSpPr>
              <p:nvPr/>
            </p:nvSpPr>
            <p:spPr bwMode="auto">
              <a:xfrm>
                <a:off x="8413619" y="2758870"/>
                <a:ext cx="333485" cy="1787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sz="900" b="1" dirty="0">
                    <a:latin typeface="맑은 고딕" pitchFamily="50" charset="-127"/>
                  </a:rPr>
                  <a:t>NO</a:t>
                </a:r>
                <a:endParaRPr lang="ko-KR" altLang="en-US" sz="900" b="1" dirty="0">
                  <a:latin typeface="맑은 고딕" pitchFamily="50" charset="-127"/>
                </a:endParaRPr>
              </a:p>
            </p:txBody>
          </p:sp>
          <p:sp>
            <p:nvSpPr>
              <p:cNvPr id="129" name="모서리가 둥근 직사각형 4"/>
              <p:cNvSpPr>
                <a:spLocks noChangeArrowheads="1"/>
              </p:cNvSpPr>
              <p:nvPr/>
            </p:nvSpPr>
            <p:spPr bwMode="auto">
              <a:xfrm>
                <a:off x="4880979" y="1906281"/>
                <a:ext cx="1940060" cy="300603"/>
              </a:xfrm>
              <a:prstGeom prst="roundRect">
                <a:avLst>
                  <a:gd name="adj" fmla="val 16667"/>
                </a:avLst>
              </a:prstGeom>
              <a:solidFill>
                <a:srgbClr val="FEE3BE"/>
              </a:solidFill>
              <a:ln w="25400" algn="ctr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r>
                  <a:rPr kumimoji="0" lang="ko-KR" altLang="en-US" sz="900" b="1" dirty="0"/>
                  <a:t>안전보건팀 </a:t>
                </a:r>
                <a:endParaRPr kumimoji="0" lang="en-US" altLang="ko-KR" sz="900" b="1" dirty="0"/>
              </a:p>
              <a:p>
                <a:pPr algn="ctr"/>
                <a:r>
                  <a:rPr kumimoji="0" lang="en-US" altLang="ko-KR" sz="900" b="1" dirty="0"/>
                  <a:t>(</a:t>
                </a:r>
                <a:r>
                  <a:rPr kumimoji="0" lang="ko-KR" altLang="en-US" sz="900" b="1" dirty="0"/>
                  <a:t>원내 </a:t>
                </a:r>
                <a:r>
                  <a:rPr kumimoji="0" lang="en-US" altLang="ko-KR" sz="900" b="1" dirty="0"/>
                  <a:t>87801)</a:t>
                </a:r>
              </a:p>
            </p:txBody>
          </p:sp>
          <p:sp>
            <p:nvSpPr>
              <p:cNvPr id="130" name="모서리가 둥근 직사각형 4"/>
              <p:cNvSpPr>
                <a:spLocks noChangeArrowheads="1"/>
              </p:cNvSpPr>
              <p:nvPr/>
            </p:nvSpPr>
            <p:spPr bwMode="auto">
              <a:xfrm>
                <a:off x="6832327" y="1906281"/>
                <a:ext cx="1840260" cy="299658"/>
              </a:xfrm>
              <a:prstGeom prst="roundRect">
                <a:avLst>
                  <a:gd name="adj" fmla="val 16667"/>
                </a:avLst>
              </a:prstGeom>
              <a:solidFill>
                <a:srgbClr val="FEE3BE"/>
              </a:solidFill>
              <a:ln w="25400" algn="ctr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r>
                  <a:rPr kumimoji="0" lang="ko-KR" altLang="en-US" sz="900" b="1" dirty="0"/>
                  <a:t>감염관리실</a:t>
                </a:r>
              </a:p>
              <a:p>
                <a:pPr algn="ctr"/>
                <a:r>
                  <a:rPr kumimoji="0" lang="en-US" altLang="ko-KR" sz="900" b="1" dirty="0"/>
                  <a:t>(</a:t>
                </a:r>
                <a:r>
                  <a:rPr kumimoji="0" lang="ko-KR" altLang="en-US" sz="900" b="1" dirty="0"/>
                  <a:t>원내 </a:t>
                </a:r>
                <a:r>
                  <a:rPr kumimoji="0" lang="en-US" altLang="ko-KR" sz="900" b="1" dirty="0"/>
                  <a:t>86613 </a:t>
                </a:r>
                <a:r>
                  <a:rPr kumimoji="0" lang="ko-KR" altLang="en-US" sz="900" b="1" dirty="0"/>
                  <a:t>또는 </a:t>
                </a:r>
                <a:r>
                  <a:rPr kumimoji="0" lang="ko-KR" altLang="en-US" sz="900" b="1" dirty="0" err="1"/>
                  <a:t>전산신고</a:t>
                </a:r>
                <a:r>
                  <a:rPr kumimoji="0" lang="en-US" altLang="ko-KR" sz="900" b="1" dirty="0"/>
                  <a:t>)</a:t>
                </a:r>
              </a:p>
            </p:txBody>
          </p:sp>
          <p:sp>
            <p:nvSpPr>
              <p:cNvPr id="131" name="AutoShape 38"/>
              <p:cNvSpPr>
                <a:spLocks noChangeArrowheads="1"/>
              </p:cNvSpPr>
              <p:nvPr/>
            </p:nvSpPr>
            <p:spPr bwMode="auto">
              <a:xfrm rot="5400000">
                <a:off x="8663997" y="2866119"/>
                <a:ext cx="299658" cy="389471"/>
              </a:xfrm>
              <a:custGeom>
                <a:avLst/>
                <a:gdLst>
                  <a:gd name="T0" fmla="*/ 8210375 w 21600"/>
                  <a:gd name="T1" fmla="*/ 0 h 21600"/>
                  <a:gd name="T2" fmla="*/ 8210375 w 21600"/>
                  <a:gd name="T3" fmla="*/ 4858689 h 21600"/>
                  <a:gd name="T4" fmla="*/ 1757046 w 21600"/>
                  <a:gd name="T5" fmla="*/ 8632001 h 21600"/>
                  <a:gd name="T6" fmla="*/ 11724466 w 21600"/>
                  <a:gd name="T7" fmla="*/ 2429355 h 21600"/>
                  <a:gd name="T8" fmla="*/ 17694720 60000 65536"/>
                  <a:gd name="T9" fmla="*/ 5898240 60000 65536"/>
                  <a:gd name="T10" fmla="*/ 5898240 60000 65536"/>
                  <a:gd name="T11" fmla="*/ 0 60000 65536"/>
                  <a:gd name="T12" fmla="*/ 12427 w 21600"/>
                  <a:gd name="T13" fmla="*/ 2912 h 21600"/>
                  <a:gd name="T14" fmla="*/ 18227 w 21600"/>
                  <a:gd name="T15" fmla="*/ 924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FFCC00"/>
              </a:solidFill>
              <a:ln w="9525">
                <a:solidFill>
                  <a:srgbClr val="FFCC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000"/>
              </a:p>
            </p:txBody>
          </p:sp>
          <p:sp>
            <p:nvSpPr>
              <p:cNvPr id="132" name="순서도: 판단 20"/>
              <p:cNvSpPr>
                <a:spLocks noChangeArrowheads="1"/>
              </p:cNvSpPr>
              <p:nvPr/>
            </p:nvSpPr>
            <p:spPr bwMode="auto">
              <a:xfrm>
                <a:off x="6816614" y="2735928"/>
                <a:ext cx="1741557" cy="385680"/>
              </a:xfrm>
              <a:prstGeom prst="flowChartDecision">
                <a:avLst/>
              </a:prstGeom>
              <a:gradFill rotWithShape="1">
                <a:gsLst>
                  <a:gs pos="0">
                    <a:srgbClr val="FF9900"/>
                  </a:gs>
                  <a:gs pos="50000">
                    <a:srgbClr val="FFFFFF"/>
                  </a:gs>
                  <a:gs pos="100000">
                    <a:srgbClr val="FF9900"/>
                  </a:gs>
                </a:gsLst>
                <a:lin ang="5400000" scaled="1"/>
              </a:gradFill>
              <a:ln w="25400" algn="ctr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/>
                <a:r>
                  <a:rPr kumimoji="0" lang="ko-KR" altLang="en-US" sz="900" b="1" dirty="0">
                    <a:latin typeface="맑은 고딕" pitchFamily="50" charset="-127"/>
                    <a:ea typeface="맑은 고딕" pitchFamily="50" charset="-127"/>
                  </a:rPr>
                  <a:t>감염노출여부</a:t>
                </a:r>
              </a:p>
            </p:txBody>
          </p:sp>
          <p:sp>
            <p:nvSpPr>
              <p:cNvPr id="134" name="모서리가 둥근 직사각형 133"/>
              <p:cNvSpPr/>
              <p:nvPr/>
            </p:nvSpPr>
            <p:spPr>
              <a:xfrm>
                <a:off x="5796136" y="732818"/>
                <a:ext cx="2023408" cy="257120"/>
              </a:xfrm>
              <a:prstGeom prst="roundRect">
                <a:avLst/>
              </a:prstGeom>
              <a:gradFill flip="none" rotWithShape="1">
                <a:gsLst>
                  <a:gs pos="0">
                    <a:srgbClr val="FC9FCB"/>
                  </a:gs>
                  <a:gs pos="13000">
                    <a:srgbClr val="F8B049"/>
                  </a:gs>
                  <a:gs pos="21001">
                    <a:srgbClr val="F8B049"/>
                  </a:gs>
                  <a:gs pos="63000">
                    <a:srgbClr val="FEE7F2"/>
                  </a:gs>
                  <a:gs pos="67000">
                    <a:srgbClr val="F952A0"/>
                  </a:gs>
                  <a:gs pos="69000">
                    <a:srgbClr val="C50849"/>
                  </a:gs>
                  <a:gs pos="82001">
                    <a:srgbClr val="B43E85"/>
                  </a:gs>
                  <a:gs pos="100000">
                    <a:srgbClr val="F8B049"/>
                  </a:gs>
                </a:gsLst>
                <a:lin ang="5400000" scaled="0"/>
                <a:tileRect r="-100000" b="-100000"/>
              </a:gra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1000" b="1" dirty="0">
                    <a:solidFill>
                      <a:schemeClr val="tx1"/>
                    </a:solidFill>
                  </a:rPr>
                  <a:t>직무와 관련된 부상 및 질병 발생</a:t>
                </a:r>
              </a:p>
            </p:txBody>
          </p:sp>
        </p:grpSp>
        <p:sp>
          <p:nvSpPr>
            <p:cNvPr id="135" name="TextBox 52"/>
            <p:cNvSpPr txBox="1">
              <a:spLocks noChangeArrowheads="1"/>
            </p:cNvSpPr>
            <p:nvPr/>
          </p:nvSpPr>
          <p:spPr bwMode="auto">
            <a:xfrm>
              <a:off x="4312857" y="4733347"/>
              <a:ext cx="407731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900" b="1" dirty="0">
                  <a:latin typeface="맑은 고딕" pitchFamily="50" charset="-127"/>
                </a:rPr>
                <a:t>YES</a:t>
              </a:r>
              <a:endParaRPr lang="ko-KR" altLang="en-US" sz="900" b="1" dirty="0">
                <a:latin typeface="맑은 고딕" pitchFamily="50" charset="-127"/>
              </a:endParaRPr>
            </a:p>
          </p:txBody>
        </p:sp>
        <p:sp>
          <p:nvSpPr>
            <p:cNvPr id="136" name="아래쪽 화살표 135"/>
            <p:cNvSpPr>
              <a:spLocks noChangeArrowheads="1"/>
            </p:cNvSpPr>
            <p:nvPr/>
          </p:nvSpPr>
          <p:spPr bwMode="auto">
            <a:xfrm>
              <a:off x="4182923" y="5230624"/>
              <a:ext cx="183699" cy="222124"/>
            </a:xfrm>
            <a:prstGeom prst="downArrow">
              <a:avLst>
                <a:gd name="adj1" fmla="val 32963"/>
                <a:gd name="adj2" fmla="val 60587"/>
              </a:avLst>
            </a:prstGeom>
            <a:solidFill>
              <a:srgbClr val="FFC000"/>
            </a:solidFill>
            <a:ln w="25400" algn="ctr">
              <a:solidFill>
                <a:srgbClr val="FAC09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>
                <a:latin typeface="+mn-lt"/>
                <a:ea typeface="+mn-ea"/>
              </a:endParaRPr>
            </a:p>
          </p:txBody>
        </p:sp>
        <p:sp>
          <p:nvSpPr>
            <p:cNvPr id="137" name="모서리가 둥근 직사각형 136"/>
            <p:cNvSpPr/>
            <p:nvPr/>
          </p:nvSpPr>
          <p:spPr>
            <a:xfrm>
              <a:off x="3546139" y="4940437"/>
              <a:ext cx="1430717" cy="329525"/>
            </a:xfrm>
            <a:prstGeom prst="roundRect">
              <a:avLst/>
            </a:prstGeom>
            <a:solidFill>
              <a:srgbClr val="E9FE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b="1" dirty="0">
                  <a:solidFill>
                    <a:schemeClr val="tx1"/>
                  </a:solidFill>
                </a:rPr>
                <a:t>투약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검사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/</a:t>
              </a:r>
              <a:r>
                <a:rPr lang="ko-KR" altLang="en-US" sz="1000" b="1" dirty="0" err="1">
                  <a:solidFill>
                    <a:schemeClr val="tx1"/>
                  </a:solidFill>
                </a:rPr>
                <a:t>진료시행</a:t>
              </a:r>
              <a:endParaRPr kumimoji="0"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38" name="아래쪽 화살표 137"/>
            <p:cNvSpPr>
              <a:spLocks noChangeArrowheads="1"/>
            </p:cNvSpPr>
            <p:nvPr/>
          </p:nvSpPr>
          <p:spPr bwMode="auto">
            <a:xfrm>
              <a:off x="4182922" y="5740780"/>
              <a:ext cx="183699" cy="222124"/>
            </a:xfrm>
            <a:prstGeom prst="downArrow">
              <a:avLst>
                <a:gd name="adj1" fmla="val 32963"/>
                <a:gd name="adj2" fmla="val 60587"/>
              </a:avLst>
            </a:prstGeom>
            <a:solidFill>
              <a:srgbClr val="FFC000"/>
            </a:solidFill>
            <a:ln w="25400" algn="ctr">
              <a:solidFill>
                <a:srgbClr val="FAC09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>
                <a:latin typeface="+mn-lt"/>
                <a:ea typeface="+mn-ea"/>
              </a:endParaRPr>
            </a:p>
          </p:txBody>
        </p:sp>
        <p:sp>
          <p:nvSpPr>
            <p:cNvPr id="139" name="모서리가 둥근 직사각형 138"/>
            <p:cNvSpPr/>
            <p:nvPr/>
          </p:nvSpPr>
          <p:spPr>
            <a:xfrm>
              <a:off x="3546139" y="5452748"/>
              <a:ext cx="1430717" cy="329525"/>
            </a:xfrm>
            <a:prstGeom prst="roundRect">
              <a:avLst/>
            </a:prstGeom>
            <a:solidFill>
              <a:srgbClr val="E9FE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b="1" dirty="0" err="1">
                  <a:solidFill>
                    <a:schemeClr val="tx1"/>
                  </a:solidFill>
                </a:rPr>
                <a:t>추후관리</a:t>
              </a:r>
              <a:endParaRPr kumimoji="0"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40" name="TextBox 52"/>
            <p:cNvSpPr txBox="1">
              <a:spLocks noChangeArrowheads="1"/>
            </p:cNvSpPr>
            <p:nvPr/>
          </p:nvSpPr>
          <p:spPr bwMode="auto">
            <a:xfrm>
              <a:off x="5134742" y="5965176"/>
              <a:ext cx="407731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900" b="1" dirty="0">
                  <a:latin typeface="맑은 고딕" pitchFamily="50" charset="-127"/>
                </a:rPr>
                <a:t>NO</a:t>
              </a:r>
              <a:endParaRPr lang="ko-KR" altLang="en-US" sz="900" b="1" dirty="0">
                <a:latin typeface="맑은 고딕" pitchFamily="50" charset="-127"/>
              </a:endParaRPr>
            </a:p>
          </p:txBody>
        </p:sp>
        <p:sp>
          <p:nvSpPr>
            <p:cNvPr id="141" name="TextBox 52"/>
            <p:cNvSpPr txBox="1">
              <a:spLocks noChangeArrowheads="1"/>
            </p:cNvSpPr>
            <p:nvPr/>
          </p:nvSpPr>
          <p:spPr bwMode="auto">
            <a:xfrm>
              <a:off x="4312857" y="6398676"/>
              <a:ext cx="407731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900" b="1" dirty="0">
                  <a:latin typeface="맑은 고딕" pitchFamily="50" charset="-127"/>
                </a:rPr>
                <a:t>YES</a:t>
              </a:r>
              <a:endParaRPr lang="ko-KR" altLang="en-US" sz="900" b="1" dirty="0">
                <a:latin typeface="맑은 고딕" pitchFamily="50" charset="-127"/>
              </a:endParaRPr>
            </a:p>
          </p:txBody>
        </p:sp>
        <p:sp>
          <p:nvSpPr>
            <p:cNvPr id="142" name="아래쪽 화살표 22"/>
            <p:cNvSpPr>
              <a:spLocks noChangeArrowheads="1"/>
            </p:cNvSpPr>
            <p:nvPr/>
          </p:nvSpPr>
          <p:spPr bwMode="auto">
            <a:xfrm>
              <a:off x="1927675" y="5274130"/>
              <a:ext cx="183697" cy="1329085"/>
            </a:xfrm>
            <a:prstGeom prst="downArrow">
              <a:avLst>
                <a:gd name="adj1" fmla="val 37222"/>
                <a:gd name="adj2" fmla="val 121175"/>
              </a:avLst>
            </a:prstGeom>
            <a:solidFill>
              <a:srgbClr val="FFC000"/>
            </a:solidFill>
            <a:ln w="25400" algn="ctr">
              <a:solidFill>
                <a:srgbClr val="FAC09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>
                <a:latin typeface="+mn-lt"/>
                <a:ea typeface="+mn-ea"/>
              </a:endParaRPr>
            </a:p>
          </p:txBody>
        </p:sp>
        <p:sp>
          <p:nvSpPr>
            <p:cNvPr id="143" name="모서리가 둥근 직사각형 142"/>
            <p:cNvSpPr/>
            <p:nvPr/>
          </p:nvSpPr>
          <p:spPr>
            <a:xfrm>
              <a:off x="1313487" y="4935931"/>
              <a:ext cx="1430717" cy="329525"/>
            </a:xfrm>
            <a:prstGeom prst="roundRect">
              <a:avLst/>
            </a:prstGeom>
            <a:solidFill>
              <a:srgbClr val="E9FE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b="1" dirty="0">
                  <a:solidFill>
                    <a:schemeClr val="tx1"/>
                  </a:solidFill>
                </a:rPr>
                <a:t>사고발생 경위 조사</a:t>
              </a:r>
              <a:endParaRPr kumimoji="0"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44" name="AutoShape 38"/>
            <p:cNvSpPr>
              <a:spLocks noChangeArrowheads="1"/>
            </p:cNvSpPr>
            <p:nvPr/>
          </p:nvSpPr>
          <p:spPr bwMode="auto">
            <a:xfrm rot="5400000">
              <a:off x="5455443" y="6096635"/>
              <a:ext cx="386887" cy="471365"/>
            </a:xfrm>
            <a:custGeom>
              <a:avLst/>
              <a:gdLst>
                <a:gd name="T0" fmla="*/ 8210375 w 21600"/>
                <a:gd name="T1" fmla="*/ 0 h 21600"/>
                <a:gd name="T2" fmla="*/ 8210375 w 21600"/>
                <a:gd name="T3" fmla="*/ 4858689 h 21600"/>
                <a:gd name="T4" fmla="*/ 1757046 w 21600"/>
                <a:gd name="T5" fmla="*/ 8632001 h 21600"/>
                <a:gd name="T6" fmla="*/ 11724466 w 21600"/>
                <a:gd name="T7" fmla="*/ 2429355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2912 h 21600"/>
                <a:gd name="T14" fmla="*/ 18227 w 21600"/>
                <a:gd name="T15" fmla="*/ 92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rgbClr val="FFCC00"/>
            </a:solidFill>
            <a:ln w="9525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 sz="1000"/>
            </a:p>
          </p:txBody>
        </p:sp>
        <p:sp>
          <p:nvSpPr>
            <p:cNvPr id="145" name="모서리가 둥근 직사각형 144"/>
            <p:cNvSpPr/>
            <p:nvPr/>
          </p:nvSpPr>
          <p:spPr>
            <a:xfrm>
              <a:off x="5361034" y="6559418"/>
              <a:ext cx="784406" cy="277046"/>
            </a:xfrm>
            <a:prstGeom prst="roundRect">
              <a:avLst/>
            </a:prstGeom>
            <a:solidFill>
              <a:srgbClr val="FFEBFF"/>
            </a:solidFill>
            <a:ln>
              <a:solidFill>
                <a:srgbClr val="FF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u="sng" dirty="0">
                  <a:solidFill>
                    <a:schemeClr val="tx1"/>
                  </a:solidFill>
                </a:rPr>
                <a:t>종결</a:t>
              </a:r>
            </a:p>
          </p:txBody>
        </p:sp>
        <p:sp>
          <p:nvSpPr>
            <p:cNvPr id="146" name="아래쪽 화살표 145"/>
            <p:cNvSpPr>
              <a:spLocks noChangeArrowheads="1"/>
            </p:cNvSpPr>
            <p:nvPr/>
          </p:nvSpPr>
          <p:spPr bwMode="auto">
            <a:xfrm>
              <a:off x="3084545" y="7014007"/>
              <a:ext cx="183699" cy="222124"/>
            </a:xfrm>
            <a:prstGeom prst="downArrow">
              <a:avLst>
                <a:gd name="adj1" fmla="val 32963"/>
                <a:gd name="adj2" fmla="val 60587"/>
              </a:avLst>
            </a:prstGeom>
            <a:solidFill>
              <a:srgbClr val="FFC000"/>
            </a:solidFill>
            <a:ln w="25400" algn="ctr">
              <a:solidFill>
                <a:srgbClr val="FAC09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>
                <a:latin typeface="+mn-lt"/>
                <a:ea typeface="+mn-ea"/>
              </a:endParaRPr>
            </a:p>
          </p:txBody>
        </p:sp>
        <p:sp>
          <p:nvSpPr>
            <p:cNvPr id="147" name="순서도: 판단 146"/>
            <p:cNvSpPr/>
            <p:nvPr/>
          </p:nvSpPr>
          <p:spPr>
            <a:xfrm>
              <a:off x="1945490" y="7302039"/>
              <a:ext cx="2473893" cy="494288"/>
            </a:xfrm>
            <a:prstGeom prst="flowChartDecision">
              <a:avLst/>
            </a:prstGeom>
            <a:solidFill>
              <a:srgbClr val="E1F8FF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u="sng" dirty="0">
                  <a:solidFill>
                    <a:schemeClr val="tx1"/>
                  </a:solidFill>
                </a:rPr>
                <a:t>공단 신청 및 심의</a:t>
              </a:r>
            </a:p>
          </p:txBody>
        </p:sp>
        <p:sp>
          <p:nvSpPr>
            <p:cNvPr id="149" name="아래쪽 화살표 148"/>
            <p:cNvSpPr>
              <a:spLocks noChangeArrowheads="1"/>
            </p:cNvSpPr>
            <p:nvPr/>
          </p:nvSpPr>
          <p:spPr bwMode="auto">
            <a:xfrm>
              <a:off x="4182921" y="6400505"/>
              <a:ext cx="183699" cy="222124"/>
            </a:xfrm>
            <a:prstGeom prst="downArrow">
              <a:avLst>
                <a:gd name="adj1" fmla="val 32963"/>
                <a:gd name="adj2" fmla="val 60587"/>
              </a:avLst>
            </a:prstGeom>
            <a:solidFill>
              <a:srgbClr val="FFC000"/>
            </a:solidFill>
            <a:ln w="25400" algn="ctr">
              <a:solidFill>
                <a:srgbClr val="FAC09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>
                <a:latin typeface="+mn-lt"/>
                <a:ea typeface="+mn-ea"/>
              </a:endParaRPr>
            </a:p>
          </p:txBody>
        </p:sp>
        <p:sp>
          <p:nvSpPr>
            <p:cNvPr id="150" name="순서도: 판단 20"/>
            <p:cNvSpPr>
              <a:spLocks noChangeArrowheads="1"/>
            </p:cNvSpPr>
            <p:nvPr/>
          </p:nvSpPr>
          <p:spPr bwMode="auto">
            <a:xfrm>
              <a:off x="3210935" y="5939730"/>
              <a:ext cx="2129291" cy="497950"/>
            </a:xfrm>
            <a:prstGeom prst="flowChartDecision">
              <a:avLst/>
            </a:prstGeom>
            <a:gradFill rotWithShape="1">
              <a:gsLst>
                <a:gs pos="0">
                  <a:srgbClr val="FF9900"/>
                </a:gs>
                <a:gs pos="50000">
                  <a:srgbClr val="FFFFFF"/>
                </a:gs>
                <a:gs pos="100000">
                  <a:srgbClr val="FF9900"/>
                </a:gs>
              </a:gsLst>
              <a:lin ang="5400000" scaled="1"/>
            </a:gradFill>
            <a:ln w="25400" algn="ctr">
              <a:solidFill>
                <a:srgbClr val="FF66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/>
              <a:r>
                <a:rPr kumimoji="0" lang="ko-KR" altLang="en-US" sz="900" b="1" dirty="0">
                  <a:latin typeface="맑은 고딕" pitchFamily="50" charset="-127"/>
                  <a:ea typeface="맑은 고딕" pitchFamily="50" charset="-127"/>
                </a:rPr>
                <a:t>감염여부</a:t>
              </a:r>
            </a:p>
          </p:txBody>
        </p:sp>
        <p:sp>
          <p:nvSpPr>
            <p:cNvPr id="45" name="아래쪽 화살표 44"/>
            <p:cNvSpPr>
              <a:spLocks noChangeArrowheads="1"/>
            </p:cNvSpPr>
            <p:nvPr/>
          </p:nvSpPr>
          <p:spPr bwMode="auto">
            <a:xfrm>
              <a:off x="3074708" y="7859435"/>
              <a:ext cx="183699" cy="222124"/>
            </a:xfrm>
            <a:prstGeom prst="downArrow">
              <a:avLst>
                <a:gd name="adj1" fmla="val 32963"/>
                <a:gd name="adj2" fmla="val 60587"/>
              </a:avLst>
            </a:prstGeom>
            <a:solidFill>
              <a:srgbClr val="FFC000"/>
            </a:solidFill>
            <a:ln w="25400" algn="ctr">
              <a:solidFill>
                <a:srgbClr val="FAC09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>
                <a:latin typeface="+mn-lt"/>
                <a:ea typeface="+mn-ea"/>
              </a:endParaRPr>
            </a:p>
          </p:txBody>
        </p:sp>
        <p:sp>
          <p:nvSpPr>
            <p:cNvPr id="46" name="모서리가 둥근 직사각형 45"/>
            <p:cNvSpPr/>
            <p:nvPr/>
          </p:nvSpPr>
          <p:spPr>
            <a:xfrm>
              <a:off x="2403159" y="2198277"/>
              <a:ext cx="1584176" cy="329525"/>
            </a:xfrm>
            <a:prstGeom prst="roundRect">
              <a:avLst/>
            </a:prstGeom>
            <a:solidFill>
              <a:srgbClr val="E9FE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b="1" dirty="0">
                  <a:solidFill>
                    <a:schemeClr val="tx1"/>
                  </a:solidFill>
                </a:rPr>
                <a:t>필요한 응급처치 실시</a:t>
              </a:r>
              <a:endParaRPr kumimoji="0"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47" name="아래쪽 화살표 46"/>
            <p:cNvSpPr/>
            <p:nvPr/>
          </p:nvSpPr>
          <p:spPr>
            <a:xfrm>
              <a:off x="3073207" y="1982977"/>
              <a:ext cx="241356" cy="201455"/>
            </a:xfrm>
            <a:prstGeom prst="downArrow">
              <a:avLst/>
            </a:prstGeom>
            <a:solidFill>
              <a:srgbClr val="FFC000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2" name="모서리가 둥근 직사각형 41"/>
            <p:cNvSpPr/>
            <p:nvPr/>
          </p:nvSpPr>
          <p:spPr>
            <a:xfrm>
              <a:off x="1365501" y="3629666"/>
              <a:ext cx="3656767" cy="329525"/>
            </a:xfrm>
            <a:prstGeom prst="roundRect">
              <a:avLst/>
            </a:prstGeom>
            <a:solidFill>
              <a:srgbClr val="E9FE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</a:rPr>
                <a:t>안전보건팀 구비서류</a:t>
              </a:r>
              <a:r>
                <a:rPr kumimoji="0" lang="en-US" altLang="ko-KR" sz="1000" b="1" dirty="0">
                  <a:solidFill>
                    <a:schemeClr val="tx1"/>
                  </a:solidFill>
                </a:rPr>
                <a:t>*</a:t>
              </a:r>
              <a:r>
                <a:rPr kumimoji="0" lang="ko-KR" altLang="en-US" sz="1000" b="1" dirty="0">
                  <a:solidFill>
                    <a:schemeClr val="tx1"/>
                  </a:solidFill>
                </a:rPr>
                <a:t> 제출</a:t>
              </a:r>
              <a:endParaRPr kumimoji="0" lang="en-US" altLang="ko-KR" sz="1000" b="1" dirty="0">
                <a:solidFill>
                  <a:schemeClr val="tx1"/>
                </a:solidFill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000" b="1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서류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원내재해발생 신고서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진단서 원본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)</a:t>
              </a:r>
              <a:endParaRPr kumimoji="0" lang="ko-KR" altLang="en-US" sz="10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4532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6987</TotalTime>
  <Words>431</Words>
  <Application>Microsoft Office PowerPoint</Application>
  <PresentationFormat>A4 용지(210x297mm)</PresentationFormat>
  <Paragraphs>103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2" baseType="lpstr">
      <vt:lpstr>HY신명조</vt:lpstr>
      <vt:lpstr>굴림</vt:lpstr>
      <vt:lpstr>나눔스퀘어 Bold</vt:lpstr>
      <vt:lpstr>바탕</vt:lpstr>
      <vt:lpstr>Arial</vt:lpstr>
      <vt:lpstr>Times New Roman</vt:lpstr>
      <vt:lpstr>맑은 고딕</vt:lpstr>
      <vt:lpstr>연세소제목체</vt:lpstr>
      <vt:lpstr>Office 테마</vt:lpstr>
      <vt:lpstr>PowerPoint 프레젠테이션</vt:lpstr>
      <vt:lpstr>PowerPoint 프레젠테이션</vt:lpstr>
      <vt:lpstr>PowerPoint 프레젠테이션</vt:lpstr>
    </vt:vector>
  </TitlesOfParts>
  <Company>severance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mkyoon</dc:creator>
  <cp:lastModifiedBy>진료혁신센터 공지사항</cp:lastModifiedBy>
  <cp:revision>312</cp:revision>
  <dcterms:created xsi:type="dcterms:W3CDTF">2013-04-03T09:51:17Z</dcterms:created>
  <dcterms:modified xsi:type="dcterms:W3CDTF">2025-04-04T02:02:49Z</dcterms:modified>
</cp:coreProperties>
</file>