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3" r:id="rId1"/>
    <p:sldMasterId id="2147483776" r:id="rId2"/>
  </p:sldMasterIdLst>
  <p:notesMasterIdLst>
    <p:notesMasterId r:id="rId6"/>
  </p:notesMasterIdLst>
  <p:handoutMasterIdLst>
    <p:handoutMasterId r:id="rId7"/>
  </p:handoutMasterIdLst>
  <p:sldIdLst>
    <p:sldId id="284" r:id="rId3"/>
    <p:sldId id="523" r:id="rId4"/>
    <p:sldId id="524" r:id="rId5"/>
  </p:sldIdLst>
  <p:sldSz cx="6858000" cy="9906000" type="A4"/>
  <p:notesSz cx="6797675" cy="9926638"/>
  <p:embeddedFontLst>
    <p:embeddedFont>
      <p:font typeface="-윤고딕340" panose="020B0600000101010101" charset="-127"/>
      <p:regular r:id="rId8"/>
    </p:embeddedFon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  <p:embeddedFont>
      <p:font typeface="맑은 고딕" panose="020B0503020000020004" pitchFamily="50" charset="-127"/>
      <p:regular r:id="rId15"/>
      <p:bold r:id="rId16"/>
    </p:embeddedFont>
    <p:embeddedFont>
      <p:font typeface="연세소제목체" panose="02030504000101010101" pitchFamily="18" charset="-127"/>
      <p:regular r:id="rId1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085" userDrawn="1">
          <p15:clr>
            <a:srgbClr val="A4A3A4"/>
          </p15:clr>
        </p15:guide>
        <p15:guide id="3" pos="4202" userDrawn="1">
          <p15:clr>
            <a:srgbClr val="A4A3A4"/>
          </p15:clr>
        </p15:guide>
        <p15:guide id="7" pos="4038" userDrawn="1">
          <p15:clr>
            <a:srgbClr val="A4A3A4"/>
          </p15:clr>
        </p15:guide>
        <p15:guide id="8" orient="horz" pos="1005" userDrawn="1">
          <p15:clr>
            <a:srgbClr val="A4A3A4"/>
          </p15:clr>
        </p15:guide>
        <p15:guide id="10" orient="horz" pos="1252" userDrawn="1">
          <p15:clr>
            <a:srgbClr val="A4A3A4"/>
          </p15:clr>
        </p15:guide>
        <p15:guide id="13" pos="1786" userDrawn="1">
          <p15:clr>
            <a:srgbClr val="A4A3A4"/>
          </p15:clr>
        </p15:guide>
        <p15:guide id="14" orient="horz" pos="5872" userDrawn="1">
          <p15:clr>
            <a:srgbClr val="A4A3A4"/>
          </p15:clr>
        </p15:guide>
        <p15:guide id="15" pos="4098" userDrawn="1">
          <p15:clr>
            <a:srgbClr val="A4A3A4"/>
          </p15:clr>
        </p15:guide>
        <p15:guide id="16" pos="245" userDrawn="1">
          <p15:clr>
            <a:srgbClr val="A4A3A4"/>
          </p15:clr>
        </p15:guide>
        <p15:guide id="17" pos="2482" userDrawn="1">
          <p15:clr>
            <a:srgbClr val="A4A3A4"/>
          </p15:clr>
        </p15:guide>
        <p15:guide id="18" pos="3212" userDrawn="1">
          <p15:clr>
            <a:srgbClr val="A4A3A4"/>
          </p15:clr>
        </p15:guide>
        <p15:guide id="19" pos="3946" userDrawn="1">
          <p15:clr>
            <a:srgbClr val="A4A3A4"/>
          </p15:clr>
        </p15:guide>
        <p15:guide id="20" pos="3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589F"/>
    <a:srgbClr val="005094"/>
    <a:srgbClr val="DF4F2C"/>
    <a:srgbClr val="0579CD"/>
    <a:srgbClr val="87BCE0"/>
    <a:srgbClr val="FF5E5A"/>
    <a:srgbClr val="068ABB"/>
    <a:srgbClr val="3790CC"/>
    <a:srgbClr val="096CAF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어두운 스타일 1 - 강조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5" autoAdjust="0"/>
    <p:restoredTop sz="93000" autoAdjust="0"/>
  </p:normalViewPr>
  <p:slideViewPr>
    <p:cSldViewPr>
      <p:cViewPr varScale="1">
        <p:scale>
          <a:sx n="74" d="100"/>
          <a:sy n="74" d="100"/>
        </p:scale>
        <p:origin x="3210" y="66"/>
      </p:cViewPr>
      <p:guideLst>
        <p:guide pos="1085"/>
        <p:guide pos="4202"/>
        <p:guide pos="4038"/>
        <p:guide orient="horz" pos="1005"/>
        <p:guide orient="horz" pos="1252"/>
        <p:guide pos="1786"/>
        <p:guide orient="horz" pos="5872"/>
        <p:guide pos="4098"/>
        <p:guide pos="245"/>
        <p:guide pos="2482"/>
        <p:guide pos="3212"/>
        <p:guide pos="3946"/>
        <p:guide pos="34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7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9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4"/>
            <a:ext cx="2946247" cy="496732"/>
          </a:xfrm>
          <a:prstGeom prst="rect">
            <a:avLst/>
          </a:prstGeom>
        </p:spPr>
        <p:txBody>
          <a:bodyPr vert="horz" lIns="92098" tIns="46048" rIns="92098" bIns="46048" rtlCol="0"/>
          <a:lstStyle>
            <a:lvl1pPr algn="l">
              <a:defRPr sz="1200"/>
            </a:lvl1pPr>
          </a:lstStyle>
          <a:p>
            <a:endParaRPr lang="ko-KR" altLang="en-US" dirty="0"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827" y="4"/>
            <a:ext cx="2946246" cy="496732"/>
          </a:xfrm>
          <a:prstGeom prst="rect">
            <a:avLst/>
          </a:prstGeom>
        </p:spPr>
        <p:txBody>
          <a:bodyPr vert="horz" lIns="92098" tIns="46048" rIns="92098" bIns="46048" rtlCol="0"/>
          <a:lstStyle>
            <a:lvl1pPr algn="r">
              <a:defRPr sz="1200"/>
            </a:lvl1pPr>
          </a:lstStyle>
          <a:p>
            <a:endParaRPr lang="ko-KR" altLang="en-US" dirty="0"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4" y="9428311"/>
            <a:ext cx="2946247" cy="496731"/>
          </a:xfrm>
          <a:prstGeom prst="rect">
            <a:avLst/>
          </a:prstGeom>
        </p:spPr>
        <p:txBody>
          <a:bodyPr vert="horz" lIns="92098" tIns="46048" rIns="92098" bIns="46048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827" y="9428311"/>
            <a:ext cx="2946246" cy="496731"/>
          </a:xfrm>
          <a:prstGeom prst="rect">
            <a:avLst/>
          </a:prstGeom>
        </p:spPr>
        <p:txBody>
          <a:bodyPr vert="horz" lIns="92098" tIns="46048" rIns="92098" bIns="46048" rtlCol="0" anchor="b"/>
          <a:lstStyle>
            <a:lvl1pPr algn="r">
              <a:defRPr sz="1200"/>
            </a:lvl1pPr>
          </a:lstStyle>
          <a:p>
            <a:fld id="{0CAA5BCD-E9BF-4CF3-B50A-7F666051268C}" type="slidenum">
              <a:rPr lang="ko-KR" altLang="en-US" smtClean="0">
                <a:latin typeface="-윤고딕340" panose="02030504000101010101" pitchFamily="18" charset="-127"/>
                <a:ea typeface="-윤고딕340" panose="02030504000101010101" pitchFamily="18" charset="-127"/>
              </a:rPr>
              <a:pPr/>
              <a:t>‹#›</a:t>
            </a:fld>
            <a:endParaRPr lang="ko-KR" altLang="en-US" dirty="0"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280267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6"/>
            <a:ext cx="2945660" cy="498055"/>
          </a:xfrm>
          <a:prstGeom prst="rect">
            <a:avLst/>
          </a:prstGeom>
        </p:spPr>
        <p:txBody>
          <a:bodyPr vert="horz" lIns="91305" tIns="45652" rIns="91305" bIns="45652" rtlCol="0"/>
          <a:lstStyle>
            <a:lvl1pPr algn="l">
              <a:defRPr sz="1200">
                <a:latin typeface="-윤고딕340" panose="02030504000101010101" pitchFamily="18" charset="-127"/>
                <a:ea typeface="-윤고딕340" panose="0203050400010101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5" y="6"/>
            <a:ext cx="2945660" cy="498055"/>
          </a:xfrm>
          <a:prstGeom prst="rect">
            <a:avLst/>
          </a:prstGeom>
        </p:spPr>
        <p:txBody>
          <a:bodyPr vert="horz" lIns="91305" tIns="45652" rIns="91305" bIns="45652" rtlCol="0"/>
          <a:lstStyle>
            <a:lvl1pPr algn="r">
              <a:defRPr sz="1200">
                <a:latin typeface="-윤고딕340" panose="02030504000101010101" pitchFamily="18" charset="-127"/>
                <a:ea typeface="-윤고딕340" panose="0203050400010101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38375" y="1241425"/>
            <a:ext cx="23209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05" tIns="45652" rIns="91305" bIns="45652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3"/>
          </a:xfrm>
          <a:prstGeom prst="rect">
            <a:avLst/>
          </a:prstGeom>
        </p:spPr>
        <p:txBody>
          <a:bodyPr vert="horz" lIns="91305" tIns="45652" rIns="91305" bIns="45652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28585"/>
            <a:ext cx="2945660" cy="498054"/>
          </a:xfrm>
          <a:prstGeom prst="rect">
            <a:avLst/>
          </a:prstGeom>
        </p:spPr>
        <p:txBody>
          <a:bodyPr vert="horz" lIns="91305" tIns="45652" rIns="91305" bIns="45652" rtlCol="0" anchor="b"/>
          <a:lstStyle>
            <a:lvl1pPr algn="l">
              <a:defRPr sz="1200">
                <a:latin typeface="-윤고딕340" panose="02030504000101010101" pitchFamily="18" charset="-127"/>
                <a:ea typeface="-윤고딕340" panose="0203050400010101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5" y="9428585"/>
            <a:ext cx="2945660" cy="498054"/>
          </a:xfrm>
          <a:prstGeom prst="rect">
            <a:avLst/>
          </a:prstGeom>
        </p:spPr>
        <p:txBody>
          <a:bodyPr vert="horz" lIns="91305" tIns="45652" rIns="91305" bIns="45652" rtlCol="0" anchor="b"/>
          <a:lstStyle>
            <a:lvl1pPr algn="r">
              <a:defRPr sz="1200">
                <a:latin typeface="-윤고딕340" panose="02030504000101010101" pitchFamily="18" charset="-127"/>
                <a:ea typeface="-윤고딕340" panose="02030504000101010101" pitchFamily="18" charset="-127"/>
              </a:defRPr>
            </a:lvl1pPr>
          </a:lstStyle>
          <a:p>
            <a:fld id="{3796CACF-C05F-4313-B43A-18328FA8578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248905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1" hangingPunct="1">
      <a:defRPr sz="1200" kern="1200">
        <a:solidFill>
          <a:schemeClr val="tx1"/>
        </a:solidFill>
        <a:latin typeface="-윤고딕340" panose="02030504000101010101" pitchFamily="18" charset="-127"/>
        <a:ea typeface="-윤고딕340" panose="02030504000101010101" pitchFamily="18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-윤고딕340" panose="02030504000101010101" pitchFamily="18" charset="-127"/>
        <a:ea typeface="-윤고딕340" panose="02030504000101010101" pitchFamily="18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-윤고딕340" panose="02030504000101010101" pitchFamily="18" charset="-127"/>
        <a:ea typeface="-윤고딕340" panose="02030504000101010101" pitchFamily="18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-윤고딕340" panose="02030504000101010101" pitchFamily="18" charset="-127"/>
        <a:ea typeface="-윤고딕340" panose="02030504000101010101" pitchFamily="18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-윤고딕340" panose="02030504000101010101" pitchFamily="18" charset="-127"/>
        <a:ea typeface="-윤고딕340" panose="02030504000101010101" pitchFamily="18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238375" y="1241425"/>
            <a:ext cx="2320925" cy="33512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96CACF-C05F-4313-B43A-18328FA85786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8251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342900" y="9181395"/>
            <a:ext cx="1600200" cy="527403"/>
          </a:xfrm>
          <a:prstGeom prst="rect">
            <a:avLst/>
          </a:prstGeom>
        </p:spPr>
        <p:txBody>
          <a:bodyPr/>
          <a:lstStyle/>
          <a:p>
            <a:fld id="{5BA1C771-046C-4A48-9428-357615E5055A}" type="datetimeFigureOut">
              <a:rPr lang="ko-KR" altLang="en-US" smtClean="0"/>
              <a:pPr/>
              <a:t>2025-04-02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343150" y="9181395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914900" y="9181395"/>
            <a:ext cx="1600200" cy="527403"/>
          </a:xfrm>
          <a:prstGeom prst="rect">
            <a:avLst/>
          </a:prstGeom>
        </p:spPr>
        <p:txBody>
          <a:bodyPr/>
          <a:lstStyle/>
          <a:p>
            <a:fld id="{5630BA98-4CFD-45B9-881B-78AF022A223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6944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B61DA0-D7E5-49A1-AA53-45795018040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2018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20474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31405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20926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12171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14334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5806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0981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36620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01373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9010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68330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342900" y="9181395"/>
            <a:ext cx="1600200" cy="527403"/>
          </a:xfrm>
          <a:prstGeom prst="rect">
            <a:avLst/>
          </a:prstGeom>
        </p:spPr>
        <p:txBody>
          <a:bodyPr/>
          <a:lstStyle/>
          <a:p>
            <a:fld id="{5BA1C771-046C-4A48-9428-357615E5055A}" type="datetimeFigureOut">
              <a:rPr lang="ko-KR" altLang="en-US" smtClean="0"/>
              <a:pPr/>
              <a:t>2025-04-02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343150" y="9181395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914900" y="9181395"/>
            <a:ext cx="1600200" cy="527403"/>
          </a:xfrm>
          <a:prstGeom prst="rect">
            <a:avLst/>
          </a:prstGeom>
        </p:spPr>
        <p:txBody>
          <a:bodyPr/>
          <a:lstStyle/>
          <a:p>
            <a:fld id="{5630BA98-4CFD-45B9-881B-78AF022A223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7913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135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75" r:id="rId2"/>
    <p:sldLayoutId id="2147483789" r:id="rId3"/>
  </p:sldLayoutIdLst>
  <p:hf sldNum="0"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lang="ko-KR" altLang="en-US" sz="2025" b="1" kern="1200" spc="-113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010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</p:sldLayoutIdLst>
  <p:hf sldNum="0"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2E9F009-8406-4AF0-95F6-AB62836D1E1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656" y="732224"/>
            <a:ext cx="1315894" cy="33234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13487CC8-6699-4413-A4A1-442ED363BF14}"/>
              </a:ext>
            </a:extLst>
          </p:cNvPr>
          <p:cNvSpPr txBox="1"/>
          <p:nvPr/>
        </p:nvSpPr>
        <p:spPr>
          <a:xfrm>
            <a:off x="5927468" y="705760"/>
            <a:ext cx="597877" cy="249702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385"/>
              </a:spcBef>
              <a:spcAft>
                <a:spcPts val="1385"/>
              </a:spcAft>
            </a:pPr>
            <a:r>
              <a:rPr lang="ko-KR" altLang="en-US" sz="1015" kern="50" dirty="0">
                <a:solidFill>
                  <a:srgbClr val="FF0000"/>
                </a:solidFill>
                <a:latin typeface="바탕" panose="02030600000101010101" pitchFamily="18" charset="-127"/>
                <a:ea typeface="연세소제목체" panose="02030504000101010101" pitchFamily="18" charset="-127"/>
                <a:cs typeface="Times New Roman" panose="02020603050405020304" pitchFamily="18" charset="0"/>
              </a:rPr>
              <a:t>대외비</a:t>
            </a:r>
            <a:endParaRPr lang="ko-KR" altLang="en-US" sz="923" kern="50" dirty="0">
              <a:solidFill>
                <a:srgbClr val="000000"/>
              </a:solidFill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6" name="표 7">
            <a:extLst>
              <a:ext uri="{FF2B5EF4-FFF2-40B4-BE49-F238E27FC236}">
                <a16:creationId xmlns:a16="http://schemas.microsoft.com/office/drawing/2014/main" id="{AE26ACEE-D404-425C-9E2A-95EAD32879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034929"/>
              </p:ext>
            </p:extLst>
          </p:nvPr>
        </p:nvGraphicFramePr>
        <p:xfrm>
          <a:off x="393585" y="1934203"/>
          <a:ext cx="6059748" cy="6547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958">
                  <a:extLst>
                    <a:ext uri="{9D8B030D-6E8A-4147-A177-3AD203B41FA5}">
                      <a16:colId xmlns:a16="http://schemas.microsoft.com/office/drawing/2014/main" val="3307287349"/>
                    </a:ext>
                  </a:extLst>
                </a:gridCol>
                <a:gridCol w="1009958">
                  <a:extLst>
                    <a:ext uri="{9D8B030D-6E8A-4147-A177-3AD203B41FA5}">
                      <a16:colId xmlns:a16="http://schemas.microsoft.com/office/drawing/2014/main" val="2503108154"/>
                    </a:ext>
                  </a:extLst>
                </a:gridCol>
                <a:gridCol w="1009958">
                  <a:extLst>
                    <a:ext uri="{9D8B030D-6E8A-4147-A177-3AD203B41FA5}">
                      <a16:colId xmlns:a16="http://schemas.microsoft.com/office/drawing/2014/main" val="1982474349"/>
                    </a:ext>
                  </a:extLst>
                </a:gridCol>
                <a:gridCol w="1009958">
                  <a:extLst>
                    <a:ext uri="{9D8B030D-6E8A-4147-A177-3AD203B41FA5}">
                      <a16:colId xmlns:a16="http://schemas.microsoft.com/office/drawing/2014/main" val="159794727"/>
                    </a:ext>
                  </a:extLst>
                </a:gridCol>
                <a:gridCol w="1009958">
                  <a:extLst>
                    <a:ext uri="{9D8B030D-6E8A-4147-A177-3AD203B41FA5}">
                      <a16:colId xmlns:a16="http://schemas.microsoft.com/office/drawing/2014/main" val="842079274"/>
                    </a:ext>
                  </a:extLst>
                </a:gridCol>
                <a:gridCol w="1009958">
                  <a:extLst>
                    <a:ext uri="{9D8B030D-6E8A-4147-A177-3AD203B41FA5}">
                      <a16:colId xmlns:a16="http://schemas.microsoft.com/office/drawing/2014/main" val="267532808"/>
                    </a:ext>
                  </a:extLst>
                </a:gridCol>
              </a:tblGrid>
              <a:tr h="419125">
                <a:tc gridSpan="6"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세브란스병원 내규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10.8.1.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직무상 폭력 예방 및 관리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584877"/>
                  </a:ext>
                </a:extLst>
              </a:tr>
              <a:tr h="5354122">
                <a:tc gridSpan="6"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10.8.1. </a:t>
                      </a:r>
                      <a:r>
                        <a:rPr lang="ko-KR" altLang="en-US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부록</a:t>
                      </a:r>
                      <a:r>
                        <a:rPr lang="en-US" altLang="ko-KR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2. </a:t>
                      </a:r>
                    </a:p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2200" dirty="0" err="1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코드그레이</a:t>
                      </a:r>
                      <a:r>
                        <a:rPr lang="ko-KR" altLang="en-US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 대응매뉴얼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995443"/>
                  </a:ext>
                </a:extLst>
              </a:tr>
              <a:tr h="3869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담당부서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시설안전관리위원회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327800"/>
                  </a:ext>
                </a:extLst>
              </a:tr>
              <a:tr h="3869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제정일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최종개정일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2016.01.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최종검토일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2025.03.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832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0883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92696" y="3480902"/>
            <a:ext cx="5399856" cy="4281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ko-KR" altLang="en-US" sz="1350" b="1" dirty="0">
                <a:ea typeface="맑은 고딕"/>
              </a:rPr>
              <a:t>▣  </a:t>
            </a:r>
            <a:r>
              <a:rPr lang="ko-KR" altLang="en-US" sz="1350" b="1" dirty="0"/>
              <a:t>카테고리 </a:t>
            </a:r>
            <a:r>
              <a:rPr lang="en-US" altLang="ko-KR" sz="1350" b="1" dirty="0"/>
              <a:t>A = Code Grey 1</a:t>
            </a:r>
          </a:p>
          <a:p>
            <a:pPr>
              <a:spcBef>
                <a:spcPct val="50000"/>
              </a:spcBef>
              <a:defRPr/>
            </a:pPr>
            <a:r>
              <a:rPr lang="ko-KR" altLang="en-US" sz="1350" dirty="0"/>
              <a:t>     </a:t>
            </a:r>
            <a:r>
              <a:rPr lang="en-US" altLang="ko-KR" sz="1350" dirty="0"/>
              <a:t>*  </a:t>
            </a:r>
            <a:r>
              <a:rPr lang="ko-KR" altLang="en-US" sz="1350" dirty="0"/>
              <a:t>경미한 상황 </a:t>
            </a:r>
            <a:r>
              <a:rPr lang="en-US" altLang="ko-KR" sz="1350" dirty="0"/>
              <a:t>: </a:t>
            </a:r>
            <a:r>
              <a:rPr lang="ko-KR" altLang="en-US" sz="1350" dirty="0"/>
              <a:t>구두 </a:t>
            </a:r>
            <a:r>
              <a:rPr lang="en-US" altLang="ko-KR" sz="1350" dirty="0"/>
              <a:t>VOC, </a:t>
            </a:r>
            <a:r>
              <a:rPr lang="ko-KR" altLang="en-US" sz="1350" dirty="0"/>
              <a:t>고성 민원 </a:t>
            </a:r>
            <a:endParaRPr lang="en-US" altLang="ko-KR" sz="1350" dirty="0"/>
          </a:p>
          <a:p>
            <a:pPr>
              <a:spcBef>
                <a:spcPct val="50000"/>
              </a:spcBef>
              <a:defRPr/>
            </a:pPr>
            <a:r>
              <a:rPr lang="ko-KR" altLang="en-US" sz="1350" dirty="0"/>
              <a:t>     </a:t>
            </a:r>
            <a:r>
              <a:rPr lang="en-US" altLang="ko-KR" sz="1350" dirty="0"/>
              <a:t>*  </a:t>
            </a:r>
            <a:r>
              <a:rPr lang="ko-KR" altLang="en-US" sz="1350" dirty="0" err="1"/>
              <a:t>보안팀</a:t>
            </a:r>
            <a:r>
              <a:rPr lang="ko-KR" altLang="en-US" sz="1350" dirty="0"/>
              <a:t> 현장 조치  </a:t>
            </a:r>
            <a:r>
              <a:rPr lang="en-US" altLang="ko-KR" sz="1350" dirty="0"/>
              <a:t>[</a:t>
            </a:r>
            <a:r>
              <a:rPr lang="ko-KR" altLang="en-US" sz="1350" dirty="0"/>
              <a:t>상황팀 책임</a:t>
            </a:r>
            <a:r>
              <a:rPr lang="en-US" altLang="ko-KR" sz="1350" dirty="0"/>
              <a:t>]</a:t>
            </a:r>
          </a:p>
          <a:p>
            <a:pPr>
              <a:spcBef>
                <a:spcPct val="50000"/>
              </a:spcBef>
              <a:defRPr/>
            </a:pPr>
            <a:endParaRPr lang="en-US" altLang="ko-KR" sz="1200" dirty="0"/>
          </a:p>
          <a:p>
            <a:pPr>
              <a:spcBef>
                <a:spcPct val="50000"/>
              </a:spcBef>
              <a:defRPr/>
            </a:pPr>
            <a:r>
              <a:rPr lang="ko-KR" altLang="en-US" sz="1350" b="1" dirty="0">
                <a:ea typeface="맑은 고딕"/>
              </a:rPr>
              <a:t>▣  </a:t>
            </a:r>
            <a:r>
              <a:rPr lang="ko-KR" altLang="en-US" sz="1350" b="1" dirty="0"/>
              <a:t>카테고리 </a:t>
            </a:r>
            <a:r>
              <a:rPr lang="en-US" altLang="ko-KR" sz="1350" b="1" dirty="0"/>
              <a:t>B = Code Grey 2</a:t>
            </a:r>
          </a:p>
          <a:p>
            <a:pPr>
              <a:spcBef>
                <a:spcPct val="50000"/>
              </a:spcBef>
              <a:defRPr/>
            </a:pPr>
            <a:r>
              <a:rPr lang="ko-KR" altLang="en-US" sz="1350" dirty="0"/>
              <a:t>     </a:t>
            </a:r>
            <a:r>
              <a:rPr lang="en-US" altLang="ko-KR" sz="1350" dirty="0"/>
              <a:t>*  </a:t>
            </a:r>
            <a:r>
              <a:rPr lang="ko-KR" altLang="en-US" sz="1350" dirty="0"/>
              <a:t>중대한 상황 </a:t>
            </a:r>
            <a:r>
              <a:rPr lang="en-US" altLang="ko-KR" sz="1350" dirty="0"/>
              <a:t>: </a:t>
            </a:r>
            <a:r>
              <a:rPr lang="ko-KR" altLang="en-US" sz="1350" dirty="0"/>
              <a:t>고성 항의</a:t>
            </a:r>
            <a:r>
              <a:rPr lang="en-US" altLang="ko-KR" sz="1350" dirty="0"/>
              <a:t>, </a:t>
            </a:r>
            <a:r>
              <a:rPr lang="ko-KR" altLang="en-US" sz="1350" dirty="0"/>
              <a:t>성희롱</a:t>
            </a:r>
            <a:r>
              <a:rPr lang="en-US" altLang="ko-KR" sz="1350" dirty="0"/>
              <a:t>, </a:t>
            </a:r>
            <a:r>
              <a:rPr lang="ko-KR" altLang="en-US" sz="1350" dirty="0"/>
              <a:t>거동수상자 및 노숙자  등</a:t>
            </a:r>
            <a:endParaRPr lang="en-US" altLang="ko-KR" sz="1350" dirty="0"/>
          </a:p>
          <a:p>
            <a:pPr>
              <a:spcBef>
                <a:spcPct val="50000"/>
              </a:spcBef>
              <a:defRPr/>
            </a:pPr>
            <a:r>
              <a:rPr lang="ko-KR" altLang="en-US" sz="1350" dirty="0"/>
              <a:t>     </a:t>
            </a:r>
            <a:r>
              <a:rPr lang="en-US" altLang="ko-KR" sz="1350" dirty="0"/>
              <a:t>*  </a:t>
            </a:r>
            <a:r>
              <a:rPr lang="ko-KR" altLang="en-US" sz="1350" dirty="0" err="1"/>
              <a:t>보안팀</a:t>
            </a:r>
            <a:r>
              <a:rPr lang="ko-KR" altLang="en-US" sz="1350" dirty="0"/>
              <a:t> 및 상황팀 현장 조치  </a:t>
            </a:r>
            <a:endParaRPr lang="en-US" altLang="ko-KR" sz="1350" dirty="0"/>
          </a:p>
          <a:p>
            <a:pPr>
              <a:spcBef>
                <a:spcPct val="50000"/>
              </a:spcBef>
              <a:defRPr/>
            </a:pPr>
            <a:r>
              <a:rPr lang="en-US" altLang="ko-KR" sz="1350" dirty="0"/>
              <a:t>         [</a:t>
            </a:r>
            <a:r>
              <a:rPr lang="ko-KR" altLang="en-US" sz="1350" dirty="0"/>
              <a:t>상황팀 판단 下 코드그레이 대책위원회 소집여부 결정</a:t>
            </a:r>
            <a:r>
              <a:rPr lang="en-US" altLang="ko-KR" sz="1350" dirty="0"/>
              <a:t>]</a:t>
            </a:r>
          </a:p>
          <a:p>
            <a:pPr>
              <a:spcBef>
                <a:spcPct val="50000"/>
              </a:spcBef>
              <a:defRPr/>
            </a:pPr>
            <a:r>
              <a:rPr lang="en-US" altLang="ko-KR" sz="1350" dirty="0"/>
              <a:t>          </a:t>
            </a:r>
            <a:r>
              <a:rPr lang="en-US" altLang="ko-KR" sz="1350" dirty="0">
                <a:latin typeface="바탕"/>
                <a:ea typeface="바탕"/>
              </a:rPr>
              <a:t>☞ </a:t>
            </a:r>
            <a:r>
              <a:rPr lang="ko-KR" altLang="en-US" sz="1350" dirty="0"/>
              <a:t>사무국장 보고</a:t>
            </a:r>
            <a:endParaRPr lang="en-US" altLang="ko-KR" sz="1350" dirty="0"/>
          </a:p>
          <a:p>
            <a:pPr>
              <a:spcBef>
                <a:spcPct val="50000"/>
              </a:spcBef>
              <a:defRPr/>
            </a:pPr>
            <a:endParaRPr lang="en-US" altLang="ko-KR" sz="1200" b="1" dirty="0"/>
          </a:p>
          <a:p>
            <a:pPr>
              <a:spcBef>
                <a:spcPct val="50000"/>
              </a:spcBef>
              <a:defRPr/>
            </a:pPr>
            <a:r>
              <a:rPr lang="ko-KR" altLang="en-US" sz="1350" b="1" dirty="0">
                <a:ea typeface="맑은 고딕"/>
              </a:rPr>
              <a:t>▣  </a:t>
            </a:r>
            <a:r>
              <a:rPr lang="ko-KR" altLang="en-US" sz="1350" b="1" dirty="0"/>
              <a:t>카테고리 </a:t>
            </a:r>
            <a:r>
              <a:rPr lang="en-US" altLang="ko-KR" sz="1350" b="1" dirty="0"/>
              <a:t>C = Code Grey 3</a:t>
            </a:r>
          </a:p>
          <a:p>
            <a:pPr>
              <a:spcBef>
                <a:spcPct val="50000"/>
              </a:spcBef>
              <a:defRPr/>
            </a:pPr>
            <a:r>
              <a:rPr lang="ko-KR" altLang="en-US" sz="1350" dirty="0"/>
              <a:t>     </a:t>
            </a:r>
            <a:r>
              <a:rPr lang="en-US" altLang="ko-KR" sz="1350" dirty="0"/>
              <a:t>*  </a:t>
            </a:r>
            <a:r>
              <a:rPr lang="ko-KR" altLang="en-US" sz="1350" dirty="0"/>
              <a:t>위급한 상황 </a:t>
            </a:r>
            <a:r>
              <a:rPr lang="en-US" altLang="ko-KR" sz="1350" dirty="0"/>
              <a:t>: </a:t>
            </a:r>
            <a:r>
              <a:rPr lang="ko-KR" altLang="en-US" sz="1350" dirty="0"/>
              <a:t>신체적 위협</a:t>
            </a:r>
            <a:r>
              <a:rPr lang="en-US" altLang="ko-KR" sz="1350" dirty="0"/>
              <a:t>, </a:t>
            </a:r>
            <a:r>
              <a:rPr lang="ko-KR" altLang="en-US" sz="1350" dirty="0"/>
              <a:t>폭력</a:t>
            </a:r>
            <a:r>
              <a:rPr lang="en-US" altLang="ko-KR" sz="1350" dirty="0"/>
              <a:t>, </a:t>
            </a:r>
            <a:r>
              <a:rPr lang="ko-KR" altLang="en-US" sz="1350" dirty="0"/>
              <a:t>난동</a:t>
            </a:r>
            <a:r>
              <a:rPr lang="en-US" altLang="ko-KR" sz="1350" dirty="0"/>
              <a:t>, </a:t>
            </a:r>
            <a:r>
              <a:rPr lang="ko-KR" altLang="en-US" sz="1350" dirty="0" err="1"/>
              <a:t>진료진에</a:t>
            </a:r>
            <a:r>
              <a:rPr lang="ko-KR" altLang="en-US" sz="1350" dirty="0"/>
              <a:t> 거동수상 등</a:t>
            </a:r>
            <a:r>
              <a:rPr lang="en-US" altLang="ko-KR" sz="1350" dirty="0"/>
              <a:t> </a:t>
            </a:r>
          </a:p>
          <a:p>
            <a:pPr>
              <a:spcBef>
                <a:spcPct val="50000"/>
              </a:spcBef>
              <a:defRPr/>
            </a:pPr>
            <a:r>
              <a:rPr lang="ko-KR" altLang="en-US" sz="1350" dirty="0"/>
              <a:t>     </a:t>
            </a:r>
            <a:r>
              <a:rPr lang="en-US" altLang="ko-KR" sz="1350" dirty="0"/>
              <a:t>*  </a:t>
            </a:r>
            <a:r>
              <a:rPr lang="ko-KR" altLang="en-US" sz="1350" dirty="0"/>
              <a:t>코드그레이 대책위원회 현장조치</a:t>
            </a:r>
            <a:endParaRPr lang="en-US" altLang="ko-KR" sz="1350" dirty="0"/>
          </a:p>
          <a:p>
            <a:pPr>
              <a:spcBef>
                <a:spcPct val="50000"/>
              </a:spcBef>
              <a:defRPr/>
            </a:pPr>
            <a:r>
              <a:rPr lang="en-US" altLang="ko-KR" sz="1350" dirty="0"/>
              <a:t>          </a:t>
            </a:r>
            <a:r>
              <a:rPr lang="en-US" altLang="ko-KR" sz="1350" dirty="0">
                <a:latin typeface="바탕"/>
                <a:ea typeface="바탕"/>
              </a:rPr>
              <a:t>☞ </a:t>
            </a:r>
            <a:r>
              <a:rPr lang="ko-KR" altLang="en-US" sz="1350" dirty="0"/>
              <a:t>진료부원장 보고</a:t>
            </a:r>
            <a:endParaRPr lang="ko-KR" altLang="en-US" sz="1350" b="1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14654" y="1708865"/>
            <a:ext cx="6426714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2700" b="1" spc="75" dirty="0" err="1">
                <a:solidFill>
                  <a:srgbClr val="333333"/>
                </a:solidFill>
                <a:latin typeface="+mn-ea"/>
              </a:rPr>
              <a:t>코드그레이</a:t>
            </a:r>
            <a:r>
              <a:rPr lang="ko-KR" altLang="en-US" sz="2700" b="1" spc="75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2700" b="1" spc="75" dirty="0" err="1">
                <a:solidFill>
                  <a:srgbClr val="333333"/>
                </a:solidFill>
                <a:latin typeface="+mn-ea"/>
              </a:rPr>
              <a:t>대응매뉴얼</a:t>
            </a:r>
            <a:endParaRPr lang="en-US" altLang="ko-KR" sz="2700" b="1" spc="75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4654" y="2648744"/>
            <a:ext cx="39784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/>
              <a:t>코드그레이</a:t>
            </a:r>
            <a:r>
              <a:rPr lang="ko-KR" altLang="en-US" sz="2000" b="1" dirty="0"/>
              <a:t> 카테고리 분류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48B3D8E-05CC-4EA9-B2B1-7ADC09AEE9C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656" y="298944"/>
            <a:ext cx="1315894" cy="33234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Box 2">
            <a:extLst>
              <a:ext uri="{FF2B5EF4-FFF2-40B4-BE49-F238E27FC236}">
                <a16:creationId xmlns:a16="http://schemas.microsoft.com/office/drawing/2014/main" id="{9F9906B7-7CC6-4565-8CF6-F8B2ADAA7D73}"/>
              </a:ext>
            </a:extLst>
          </p:cNvPr>
          <p:cNvSpPr txBox="1"/>
          <p:nvPr/>
        </p:nvSpPr>
        <p:spPr>
          <a:xfrm>
            <a:off x="5927468" y="272480"/>
            <a:ext cx="597877" cy="249702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385"/>
              </a:spcBef>
              <a:spcAft>
                <a:spcPts val="1385"/>
              </a:spcAft>
            </a:pPr>
            <a:r>
              <a:rPr lang="ko-KR" altLang="en-US" sz="1015" kern="50" dirty="0">
                <a:solidFill>
                  <a:srgbClr val="FF0000"/>
                </a:solidFill>
                <a:latin typeface="바탕" panose="02030600000101010101" pitchFamily="18" charset="-127"/>
                <a:ea typeface="연세소제목체" panose="02030504000101010101" pitchFamily="18" charset="-127"/>
                <a:cs typeface="Times New Roman" panose="02020603050405020304" pitchFamily="18" charset="0"/>
              </a:rPr>
              <a:t>대외비</a:t>
            </a:r>
            <a:endParaRPr lang="ko-KR" altLang="en-US" sz="923" kern="50" dirty="0">
              <a:solidFill>
                <a:srgbClr val="000000"/>
              </a:solidFill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45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직선 화살표 연결선 42"/>
          <p:cNvCxnSpPr>
            <a:stCxn id="2" idx="4"/>
            <a:endCxn id="7172" idx="0"/>
          </p:cNvCxnSpPr>
          <p:nvPr/>
        </p:nvCxnSpPr>
        <p:spPr bwMode="auto">
          <a:xfrm>
            <a:off x="3384359" y="3811774"/>
            <a:ext cx="0" cy="1365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2" name="Rectangle 5"/>
          <p:cNvSpPr>
            <a:spLocks noChangeArrowheads="1"/>
          </p:cNvSpPr>
          <p:nvPr/>
        </p:nvSpPr>
        <p:spPr bwMode="auto">
          <a:xfrm>
            <a:off x="1655572" y="3948314"/>
            <a:ext cx="3457575" cy="2597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ko-KR" altLang="en-US" sz="1125" b="1" dirty="0"/>
              <a:t>☎ </a:t>
            </a:r>
            <a:r>
              <a:rPr lang="en-US" altLang="ko-KR" sz="1125" b="1" dirty="0">
                <a:latin typeface="맑은 고딕" pitchFamily="50" charset="-127"/>
                <a:ea typeface="맑은 고딕" pitchFamily="50" charset="-127"/>
              </a:rPr>
              <a:t>0 (</a:t>
            </a:r>
            <a:r>
              <a:rPr lang="ko-KR" altLang="en-US" sz="1125" b="1" dirty="0">
                <a:latin typeface="맑은 고딕" pitchFamily="50" charset="-127"/>
                <a:ea typeface="맑은 고딕" pitchFamily="50" charset="-127"/>
              </a:rPr>
              <a:t>중계대</a:t>
            </a:r>
            <a:r>
              <a:rPr lang="en-US" altLang="ko-KR" sz="1125" b="1" dirty="0">
                <a:latin typeface="맑은 고딕" pitchFamily="50" charset="-127"/>
                <a:ea typeface="맑은 고딕" pitchFamily="50" charset="-127"/>
              </a:rPr>
              <a:t>) </a:t>
            </a:r>
            <a:r>
              <a:rPr lang="ko-KR" altLang="en-US" sz="1125" b="1" dirty="0">
                <a:latin typeface="맑은 고딕" pitchFamily="50" charset="-127"/>
                <a:ea typeface="맑은 고딕" pitchFamily="50" charset="-127"/>
              </a:rPr>
              <a:t>또는 </a:t>
            </a:r>
            <a:r>
              <a:rPr lang="ko-KR" altLang="en-US" sz="1125" b="1" dirty="0"/>
              <a:t>☎ </a:t>
            </a:r>
            <a:r>
              <a:rPr lang="en-US" altLang="ko-KR" sz="1125" b="1" dirty="0"/>
              <a:t>4</a:t>
            </a:r>
            <a:r>
              <a:rPr lang="en-US" altLang="ko-KR" sz="1125" b="1" dirty="0">
                <a:latin typeface="맑은 고딕" pitchFamily="50" charset="-127"/>
                <a:ea typeface="맑은 고딕" pitchFamily="50" charset="-127"/>
              </a:rPr>
              <a:t>4915 (</a:t>
            </a:r>
            <a:r>
              <a:rPr lang="ko-KR" altLang="en-US" sz="1125" b="1" dirty="0">
                <a:latin typeface="맑은 고딕" pitchFamily="50" charset="-127"/>
                <a:ea typeface="맑은 고딕" pitchFamily="50" charset="-127"/>
              </a:rPr>
              <a:t>보안팀</a:t>
            </a:r>
            <a:r>
              <a:rPr lang="en-US" altLang="ko-KR" sz="1125" b="1" dirty="0"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cxnSp>
        <p:nvCxnSpPr>
          <p:cNvPr id="23" name="직선 화살표 연결선 22"/>
          <p:cNvCxnSpPr>
            <a:stCxn id="7172" idx="2"/>
            <a:endCxn id="7176" idx="0"/>
          </p:cNvCxnSpPr>
          <p:nvPr/>
        </p:nvCxnSpPr>
        <p:spPr bwMode="auto">
          <a:xfrm flipH="1">
            <a:off x="3384359" y="4208103"/>
            <a:ext cx="1" cy="140587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8"/>
          <p:cNvSpPr>
            <a:spLocks noChangeArrowheads="1"/>
          </p:cNvSpPr>
          <p:nvPr/>
        </p:nvSpPr>
        <p:spPr bwMode="auto">
          <a:xfrm>
            <a:off x="298258" y="5428810"/>
            <a:ext cx="3086099" cy="1890209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sz="825" b="1" dirty="0">
                <a:latin typeface="+mn-ea"/>
              </a:rPr>
              <a:t>① 위험인물로부터 피해교직원 분리</a:t>
            </a:r>
            <a:endParaRPr lang="en-US" altLang="ko-KR" sz="825" b="1" dirty="0"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825" b="1" dirty="0">
                <a:latin typeface="+mn-ea"/>
              </a:rPr>
              <a:t>② 응급진료센터로 피해교직원 인도</a:t>
            </a:r>
            <a:endParaRPr lang="en-US" altLang="ko-KR" sz="825" b="1" dirty="0"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825" b="1" dirty="0">
                <a:latin typeface="+mn-ea"/>
              </a:rPr>
              <a:t>③ 경찰신고</a:t>
            </a:r>
            <a:endParaRPr lang="en-US" altLang="ko-KR" sz="825" b="1" dirty="0"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825" b="1" dirty="0">
                <a:latin typeface="+mn-ea"/>
              </a:rPr>
              <a:t>④ 보안팀 추가지원 </a:t>
            </a:r>
            <a:endParaRPr lang="en-US" altLang="ko-KR" sz="825" b="1" dirty="0"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825" b="1" dirty="0">
                <a:latin typeface="+mn-ea"/>
              </a:rPr>
              <a:t>   - </a:t>
            </a:r>
            <a:r>
              <a:rPr lang="ko-KR" altLang="en-US" sz="825" b="1" dirty="0">
                <a:latin typeface="+mn-ea"/>
              </a:rPr>
              <a:t>출동 경찰 안내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채증 등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825" b="1" dirty="0">
                <a:latin typeface="+mn-ea"/>
              </a:rPr>
              <a:t>⑤ 상황보고 </a:t>
            </a:r>
            <a:endParaRPr lang="en-US" altLang="ko-KR" sz="825" b="1" dirty="0"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825" b="1" dirty="0">
                <a:latin typeface="+mn-ea"/>
              </a:rPr>
              <a:t>   (</a:t>
            </a:r>
            <a:r>
              <a:rPr lang="ko-KR" altLang="en-US" sz="825" b="1" dirty="0">
                <a:latin typeface="+mn-ea"/>
              </a:rPr>
              <a:t>상황팀 → 국장         진료부원장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825" b="1" dirty="0">
                <a:latin typeface="+mn-ea"/>
              </a:rPr>
              <a:t>⑥ 코드그레이 대책위원회 전환여부 결정</a:t>
            </a:r>
            <a:endParaRPr lang="en-US" altLang="ko-KR" sz="825" b="1" dirty="0"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ko-KR" sz="825" b="1" dirty="0">
                <a:latin typeface="+mn-ea"/>
              </a:rPr>
              <a:t>⑦</a:t>
            </a:r>
            <a:r>
              <a:rPr lang="en-US" altLang="ko-KR" sz="825" b="1" dirty="0">
                <a:latin typeface="+mn-ea"/>
              </a:rPr>
              <a:t> </a:t>
            </a:r>
            <a:r>
              <a:rPr lang="ko-KR" altLang="en-US" sz="825" b="1" dirty="0">
                <a:latin typeface="+mn-ea"/>
              </a:rPr>
              <a:t>후속 조치</a:t>
            </a:r>
          </a:p>
        </p:txBody>
      </p:sp>
      <p:sp>
        <p:nvSpPr>
          <p:cNvPr id="2" name="타원 1"/>
          <p:cNvSpPr/>
          <p:nvPr/>
        </p:nvSpPr>
        <p:spPr>
          <a:xfrm>
            <a:off x="1871472" y="3541967"/>
            <a:ext cx="3025775" cy="26980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b="1" dirty="0">
                <a:solidFill>
                  <a:schemeClr val="tx1"/>
                </a:solidFill>
              </a:rPr>
              <a:t>Code Grey </a:t>
            </a:r>
            <a:r>
              <a:rPr lang="ko-KR" altLang="en-US" sz="1200" b="1" dirty="0">
                <a:solidFill>
                  <a:schemeClr val="tx1"/>
                </a:solidFill>
              </a:rPr>
              <a:t>상황발생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  <p:sp>
        <p:nvSpPr>
          <p:cNvPr id="7176" name="Rectangle 5"/>
          <p:cNvSpPr>
            <a:spLocks noChangeArrowheads="1"/>
          </p:cNvSpPr>
          <p:nvPr/>
        </p:nvSpPr>
        <p:spPr bwMode="auto">
          <a:xfrm>
            <a:off x="2304859" y="4348689"/>
            <a:ext cx="2159000" cy="19745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ko-KR" altLang="en-US" sz="1125" b="1" dirty="0">
                <a:latin typeface="맑은 고딕" pitchFamily="50" charset="-127"/>
                <a:ea typeface="맑은 고딕" pitchFamily="50" charset="-127"/>
              </a:rPr>
              <a:t>보안팀 현장 출동</a:t>
            </a:r>
            <a:endParaRPr lang="en-US" altLang="ko-KR" sz="1125" b="1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9" name="직선 화살표 연결선 38"/>
          <p:cNvCxnSpPr>
            <a:stCxn id="7176" idx="2"/>
            <a:endCxn id="61" idx="0"/>
          </p:cNvCxnSpPr>
          <p:nvPr/>
        </p:nvCxnSpPr>
        <p:spPr bwMode="auto">
          <a:xfrm>
            <a:off x="3384359" y="4546147"/>
            <a:ext cx="1" cy="16944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>
            <a:endCxn id="7184" idx="1"/>
          </p:cNvCxnSpPr>
          <p:nvPr/>
        </p:nvCxnSpPr>
        <p:spPr bwMode="auto">
          <a:xfrm>
            <a:off x="3394677" y="4608347"/>
            <a:ext cx="1455247" cy="1937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다이아몬드 60"/>
          <p:cNvSpPr/>
          <p:nvPr/>
        </p:nvSpPr>
        <p:spPr>
          <a:xfrm>
            <a:off x="1944497" y="4715587"/>
            <a:ext cx="2879725" cy="445592"/>
          </a:xfrm>
          <a:prstGeom prst="diamon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125" b="1" dirty="0">
                <a:solidFill>
                  <a:schemeClr val="tx1"/>
                </a:solidFill>
              </a:rPr>
              <a:t>상황팀 지휘</a:t>
            </a:r>
            <a:endParaRPr lang="en-US" altLang="ko-KR" sz="1125" b="1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altLang="ko-KR" sz="1125" b="1" dirty="0">
                <a:solidFill>
                  <a:schemeClr val="tx1"/>
                </a:solidFill>
              </a:rPr>
              <a:t>(</a:t>
            </a:r>
            <a:r>
              <a:rPr lang="ko-KR" altLang="en-US" sz="1125" b="1" dirty="0">
                <a:solidFill>
                  <a:schemeClr val="tx1"/>
                </a:solidFill>
              </a:rPr>
              <a:t>카테고리분류</a:t>
            </a:r>
            <a:r>
              <a:rPr lang="en-US" altLang="ko-KR" sz="1125" b="1" dirty="0">
                <a:solidFill>
                  <a:schemeClr val="tx1"/>
                </a:solidFill>
              </a:rPr>
              <a:t>)</a:t>
            </a:r>
            <a:endParaRPr lang="ko-KR" altLang="en-US" sz="1125" b="1" dirty="0">
              <a:solidFill>
                <a:schemeClr val="tx1"/>
              </a:solidFill>
            </a:endParaRPr>
          </a:p>
        </p:txBody>
      </p:sp>
      <p:sp>
        <p:nvSpPr>
          <p:cNvPr id="92" name="Rectangle 8"/>
          <p:cNvSpPr>
            <a:spLocks noChangeArrowheads="1"/>
          </p:cNvSpPr>
          <p:nvPr/>
        </p:nvSpPr>
        <p:spPr bwMode="auto">
          <a:xfrm>
            <a:off x="3464527" y="5428810"/>
            <a:ext cx="3140869" cy="1890209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sz="825" b="1" dirty="0">
                <a:latin typeface="+mn-ea"/>
              </a:rPr>
              <a:t>① 가해자로부터 피해교직원 분리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825" b="1" dirty="0">
                <a:latin typeface="+mn-ea"/>
              </a:rPr>
              <a:t>② 응급진료센터로 피해교직원 인도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825" b="1" dirty="0">
                <a:latin typeface="+mn-ea"/>
              </a:rPr>
              <a:t>③ 코드그레이 대책위원회 통보 및 경찰신고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825" b="1" dirty="0">
                <a:latin typeface="+mn-ea"/>
              </a:rPr>
              <a:t>④ 코드그레이 대책위원회 현장출동 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현장지휘</a:t>
            </a:r>
            <a:r>
              <a:rPr lang="en-US" altLang="ko-KR" sz="825" b="1" dirty="0">
                <a:latin typeface="+mn-ea"/>
              </a:rPr>
              <a:t>)</a:t>
            </a:r>
            <a:endParaRPr lang="ko-KR" altLang="en-US" sz="825" b="1" dirty="0"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825" b="1" dirty="0">
                <a:latin typeface="+mn-ea"/>
              </a:rPr>
              <a:t> -</a:t>
            </a:r>
            <a:r>
              <a:rPr lang="ko-KR" altLang="en-US" sz="825" b="1" dirty="0">
                <a:latin typeface="+mn-ea"/>
              </a:rPr>
              <a:t> 채증작업 </a:t>
            </a:r>
            <a:r>
              <a:rPr lang="en-US" altLang="ko-KR" sz="825" b="1" dirty="0">
                <a:latin typeface="+mn-ea"/>
              </a:rPr>
              <a:t>: CCTV, </a:t>
            </a:r>
            <a:r>
              <a:rPr lang="ko-KR" altLang="en-US" sz="825" b="1" dirty="0">
                <a:latin typeface="+mn-ea"/>
              </a:rPr>
              <a:t>녹취</a:t>
            </a:r>
            <a:r>
              <a:rPr lang="en-US" altLang="ko-KR" sz="825" b="1" dirty="0">
                <a:latin typeface="+mn-ea"/>
              </a:rPr>
              <a:t>, </a:t>
            </a:r>
            <a:r>
              <a:rPr lang="ko-KR" altLang="en-US" sz="825" b="1" dirty="0">
                <a:latin typeface="+mn-ea"/>
              </a:rPr>
              <a:t>증인확보 등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825" b="1" dirty="0">
                <a:latin typeface="+mn-ea"/>
              </a:rPr>
              <a:t>⑤ 현장 경찰업무 지원 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825" b="1" dirty="0">
                <a:latin typeface="+mn-ea"/>
              </a:rPr>
              <a:t>⑥ 피해 교직원 관리 </a:t>
            </a:r>
            <a:r>
              <a:rPr lang="en-US" altLang="ko-KR" sz="825" b="1" dirty="0">
                <a:latin typeface="+mn-ea"/>
              </a:rPr>
              <a:t>: </a:t>
            </a:r>
            <a:r>
              <a:rPr lang="ko-KR" altLang="en-US" sz="825" b="1" dirty="0">
                <a:latin typeface="+mn-ea"/>
              </a:rPr>
              <a:t>별도진행</a:t>
            </a:r>
          </a:p>
          <a:p>
            <a:pPr>
              <a:lnSpc>
                <a:spcPct val="150000"/>
              </a:lnSpc>
              <a:defRPr/>
            </a:pPr>
            <a:r>
              <a:rPr lang="ko-KR" altLang="ko-KR" sz="825" b="1" dirty="0">
                <a:latin typeface="+mn-ea"/>
              </a:rPr>
              <a:t>⑦ </a:t>
            </a:r>
            <a:r>
              <a:rPr lang="ko-KR" altLang="en-US" sz="825" b="1" dirty="0">
                <a:latin typeface="+mn-ea"/>
              </a:rPr>
              <a:t>상황보고 </a:t>
            </a:r>
            <a:endParaRPr lang="en-US" altLang="ko-KR" sz="825" b="1" dirty="0"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코드그레이 대책위원회 → 국장 → 진료부원장        병원장</a:t>
            </a:r>
            <a:r>
              <a:rPr lang="en-US" altLang="ko-KR" sz="825" b="1" dirty="0">
                <a:latin typeface="+mn-ea"/>
              </a:rPr>
              <a:t>)</a:t>
            </a:r>
            <a:endParaRPr lang="ko-KR" altLang="en-US" sz="825" b="1" dirty="0"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825" b="1" dirty="0">
                <a:latin typeface="맑은 고딕"/>
                <a:ea typeface="맑은 고딕"/>
              </a:rPr>
              <a:t>⑧ </a:t>
            </a:r>
            <a:r>
              <a:rPr lang="ko-KR" altLang="en-US" sz="825" b="1" dirty="0">
                <a:latin typeface="+mn-ea"/>
              </a:rPr>
              <a:t>후속조치</a:t>
            </a:r>
          </a:p>
        </p:txBody>
      </p:sp>
      <p:cxnSp>
        <p:nvCxnSpPr>
          <p:cNvPr id="102" name="꺾인 연결선 101"/>
          <p:cNvCxnSpPr>
            <a:stCxn id="99" idx="2"/>
            <a:endCxn id="108" idx="2"/>
          </p:cNvCxnSpPr>
          <p:nvPr/>
        </p:nvCxnSpPr>
        <p:spPr>
          <a:xfrm rot="16200000" flipH="1">
            <a:off x="1753040" y="7407286"/>
            <a:ext cx="336873" cy="16033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타원 107"/>
          <p:cNvSpPr/>
          <p:nvPr/>
        </p:nvSpPr>
        <p:spPr>
          <a:xfrm>
            <a:off x="2001646" y="7473280"/>
            <a:ext cx="2879726" cy="365224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b="1" dirty="0">
                <a:solidFill>
                  <a:schemeClr val="tx1"/>
                </a:solidFill>
              </a:rPr>
              <a:t>Code Grey </a:t>
            </a:r>
            <a:r>
              <a:rPr lang="ko-KR" altLang="en-US" sz="1200" b="1" dirty="0">
                <a:solidFill>
                  <a:schemeClr val="tx1"/>
                </a:solidFill>
              </a:rPr>
              <a:t>상황종료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  <p:cxnSp>
        <p:nvCxnSpPr>
          <p:cNvPr id="109" name="꺾인 연결선 108"/>
          <p:cNvCxnSpPr>
            <a:stCxn id="92" idx="2"/>
            <a:endCxn id="108" idx="6"/>
          </p:cNvCxnSpPr>
          <p:nvPr/>
        </p:nvCxnSpPr>
        <p:spPr>
          <a:xfrm rot="5400000">
            <a:off x="4789730" y="7410661"/>
            <a:ext cx="336873" cy="15359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84" name="Rectangle 5"/>
          <p:cNvSpPr>
            <a:spLocks noChangeArrowheads="1"/>
          </p:cNvSpPr>
          <p:nvPr/>
        </p:nvSpPr>
        <p:spPr bwMode="auto">
          <a:xfrm>
            <a:off x="4849924" y="4445558"/>
            <a:ext cx="1755472" cy="364331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ko-KR" altLang="en-US" sz="1125" b="1">
                <a:latin typeface="맑은 고딕" pitchFamily="50" charset="-127"/>
                <a:ea typeface="맑은 고딕" pitchFamily="50" charset="-127"/>
              </a:rPr>
              <a:t>원내방송</a:t>
            </a:r>
            <a:endParaRPr lang="en-US" altLang="ko-KR" sz="1125" b="1">
              <a:latin typeface="맑은 고딕" pitchFamily="50" charset="-127"/>
              <a:ea typeface="맑은 고딕" pitchFamily="50" charset="-127"/>
            </a:endParaRPr>
          </a:p>
          <a:p>
            <a:pPr algn="ctr"/>
            <a:endParaRPr lang="en-US" altLang="ko-KR" sz="375" b="1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825" b="1">
                <a:latin typeface="맑은 고딕" pitchFamily="50" charset="-127"/>
                <a:ea typeface="맑은 고딕" pitchFamily="50" charset="-127"/>
              </a:rPr>
              <a:t>(“Code Grey 00</a:t>
            </a:r>
            <a:r>
              <a:rPr lang="ko-KR" altLang="en-US" sz="825" b="1">
                <a:latin typeface="맑은 고딕" pitchFamily="50" charset="-127"/>
                <a:ea typeface="맑은 고딕" pitchFamily="50" charset="-127"/>
              </a:rPr>
              <a:t>장소</a:t>
            </a:r>
            <a:r>
              <a:rPr lang="en-US" altLang="ko-KR" sz="825" b="1">
                <a:latin typeface="맑은 고딕" pitchFamily="50" charset="-127"/>
                <a:ea typeface="맑은 고딕" pitchFamily="50" charset="-127"/>
              </a:rPr>
              <a:t>”</a:t>
            </a:r>
            <a:r>
              <a:rPr lang="ko-KR" altLang="en-US" sz="825" b="1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25" b="1"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825" b="1">
                <a:latin typeface="맑은 고딕" pitchFamily="50" charset="-127"/>
                <a:ea typeface="맑은 고딕" pitchFamily="50" charset="-127"/>
              </a:rPr>
              <a:t>회</a:t>
            </a:r>
            <a:r>
              <a:rPr lang="en-US" altLang="ko-KR" sz="825" b="1"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cxnSp>
        <p:nvCxnSpPr>
          <p:cNvPr id="145" name="직선 화살표 연결선 144"/>
          <p:cNvCxnSpPr/>
          <p:nvPr/>
        </p:nvCxnSpPr>
        <p:spPr bwMode="auto">
          <a:xfrm>
            <a:off x="1287773" y="6768671"/>
            <a:ext cx="20796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화살표 연결선 181"/>
          <p:cNvCxnSpPr>
            <a:endCxn id="99" idx="0"/>
          </p:cNvCxnSpPr>
          <p:nvPr/>
        </p:nvCxnSpPr>
        <p:spPr>
          <a:xfrm flipH="1">
            <a:off x="1841308" y="5068571"/>
            <a:ext cx="953594" cy="36023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화살표 연결선 153"/>
          <p:cNvCxnSpPr>
            <a:endCxn id="92" idx="0"/>
          </p:cNvCxnSpPr>
          <p:nvPr/>
        </p:nvCxnSpPr>
        <p:spPr>
          <a:xfrm>
            <a:off x="4054017" y="5054283"/>
            <a:ext cx="980945" cy="3745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88" name="Rectangle 5"/>
          <p:cNvSpPr>
            <a:spLocks noChangeArrowheads="1"/>
          </p:cNvSpPr>
          <p:nvPr/>
        </p:nvSpPr>
        <p:spPr bwMode="auto">
          <a:xfrm>
            <a:off x="4316223" y="5125461"/>
            <a:ext cx="576262" cy="2098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25" b="1">
                <a:latin typeface="맑은 고딕" pitchFamily="50" charset="-127"/>
                <a:ea typeface="맑은 고딕" pitchFamily="50" charset="-127"/>
              </a:rPr>
              <a:t>폭행</a:t>
            </a:r>
            <a:endParaRPr lang="en-US" altLang="ko-KR" sz="1125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89" name="Rectangle 5"/>
          <p:cNvSpPr>
            <a:spLocks noChangeArrowheads="1"/>
          </p:cNvSpPr>
          <p:nvPr/>
        </p:nvSpPr>
        <p:spPr bwMode="auto">
          <a:xfrm>
            <a:off x="2031796" y="5129292"/>
            <a:ext cx="575100" cy="209848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25" b="1" dirty="0">
                <a:latin typeface="맑은 고딕" pitchFamily="50" charset="-127"/>
                <a:ea typeface="맑은 고딕" pitchFamily="50" charset="-127"/>
              </a:rPr>
              <a:t>폭언</a:t>
            </a:r>
            <a:endParaRPr lang="en-US" altLang="ko-KR" sz="1125" b="1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4" name="직선 화살표 연결선 23"/>
          <p:cNvCxnSpPr/>
          <p:nvPr/>
        </p:nvCxnSpPr>
        <p:spPr bwMode="auto">
          <a:xfrm>
            <a:off x="5777070" y="7042701"/>
            <a:ext cx="20796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314654" y="1708865"/>
            <a:ext cx="6426714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2700" b="1" spc="75" dirty="0" err="1">
                <a:solidFill>
                  <a:srgbClr val="333333"/>
                </a:solidFill>
                <a:latin typeface="+mn-ea"/>
              </a:rPr>
              <a:t>코드그레이</a:t>
            </a:r>
            <a:r>
              <a:rPr lang="ko-KR" altLang="en-US" sz="2700" b="1" spc="75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2700" b="1" spc="75" dirty="0" err="1">
                <a:solidFill>
                  <a:srgbClr val="333333"/>
                </a:solidFill>
                <a:latin typeface="+mn-ea"/>
              </a:rPr>
              <a:t>대응매뉴얼</a:t>
            </a:r>
            <a:endParaRPr lang="en-US" altLang="ko-KR" sz="2700" b="1" spc="75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14654" y="2648744"/>
            <a:ext cx="39784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/>
              <a:t>코드그레이</a:t>
            </a:r>
            <a:r>
              <a:rPr lang="ko-KR" altLang="en-US" sz="2000" b="1" dirty="0"/>
              <a:t> 대응 프로세스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777CE0FE-174A-4D67-8DA0-733F3F0A4EF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656" y="298944"/>
            <a:ext cx="1315894" cy="33234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Text Box 2">
            <a:extLst>
              <a:ext uri="{FF2B5EF4-FFF2-40B4-BE49-F238E27FC236}">
                <a16:creationId xmlns:a16="http://schemas.microsoft.com/office/drawing/2014/main" id="{8E532347-F745-4A87-9808-B80CB2E5B3B2}"/>
              </a:ext>
            </a:extLst>
          </p:cNvPr>
          <p:cNvSpPr txBox="1"/>
          <p:nvPr/>
        </p:nvSpPr>
        <p:spPr>
          <a:xfrm>
            <a:off x="5927468" y="272480"/>
            <a:ext cx="597877" cy="249702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385"/>
              </a:spcBef>
              <a:spcAft>
                <a:spcPts val="1385"/>
              </a:spcAft>
            </a:pPr>
            <a:r>
              <a:rPr lang="ko-KR" altLang="en-US" sz="1015" kern="50" dirty="0">
                <a:solidFill>
                  <a:srgbClr val="FF0000"/>
                </a:solidFill>
                <a:latin typeface="바탕" panose="02030600000101010101" pitchFamily="18" charset="-127"/>
                <a:ea typeface="연세소제목체" panose="02030504000101010101" pitchFamily="18" charset="-127"/>
                <a:cs typeface="Times New Roman" panose="02020603050405020304" pitchFamily="18" charset="0"/>
              </a:rPr>
              <a:t>대외비</a:t>
            </a:r>
            <a:endParaRPr lang="ko-KR" altLang="en-US" sz="923" kern="50" dirty="0">
              <a:solidFill>
                <a:srgbClr val="000000"/>
              </a:solidFill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225582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15306</TotalTime>
  <Words>268</Words>
  <Application>Microsoft Office PowerPoint</Application>
  <PresentationFormat>A4 용지(210x297mm)</PresentationFormat>
  <Paragraphs>62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</vt:i4>
      </vt:variant>
    </vt:vector>
  </HeadingPairs>
  <TitlesOfParts>
    <vt:vector size="13" baseType="lpstr">
      <vt:lpstr>연세소제목체</vt:lpstr>
      <vt:lpstr>Calibri Light</vt:lpstr>
      <vt:lpstr>Calibri</vt:lpstr>
      <vt:lpstr>-윤고딕340</vt:lpstr>
      <vt:lpstr>바탕</vt:lpstr>
      <vt:lpstr>맑은 고딕</vt:lpstr>
      <vt:lpstr>Arial</vt:lpstr>
      <vt:lpstr>Times New Roman</vt:lpstr>
      <vt:lpstr>2_Office 테마</vt:lpstr>
      <vt:lpstr>3_Office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김상태(이싱검진센터 추진단)</dc:creator>
  <cp:lastModifiedBy>진료혁신센터 공지사항</cp:lastModifiedBy>
  <cp:revision>1340</cp:revision>
  <cp:lastPrinted>2015-12-29T08:16:17Z</cp:lastPrinted>
  <dcterms:created xsi:type="dcterms:W3CDTF">2013-04-01T15:09:17Z</dcterms:created>
  <dcterms:modified xsi:type="dcterms:W3CDTF">2025-04-02T00:22:50Z</dcterms:modified>
</cp:coreProperties>
</file>