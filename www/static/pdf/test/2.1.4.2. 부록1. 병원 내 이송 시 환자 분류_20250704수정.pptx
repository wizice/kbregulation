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307" r:id="rId2"/>
    <p:sldId id="298" r:id="rId3"/>
  </p:sldIdLst>
  <p:sldSz cx="9144000" cy="6858000" type="screen4x3"/>
  <p:notesSz cx="6797675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홍 진주" initials="홍진" lastIdx="2" clrIdx="0">
    <p:extLst>
      <p:ext uri="{19B8F6BF-5375-455C-9EA6-DF929625EA0E}">
        <p15:presenceInfo xmlns:p15="http://schemas.microsoft.com/office/powerpoint/2012/main" userId="31ae54c49b654e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E33"/>
    <a:srgbClr val="A6A6A6"/>
    <a:srgbClr val="FFD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86030" autoAdjust="0"/>
  </p:normalViewPr>
  <p:slideViewPr>
    <p:cSldViewPr snapToGrid="0">
      <p:cViewPr varScale="1">
        <p:scale>
          <a:sx n="98" d="100"/>
          <a:sy n="98" d="100"/>
        </p:scale>
        <p:origin x="196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3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r">
              <a:defRPr sz="1200"/>
            </a:lvl1pPr>
          </a:lstStyle>
          <a:p>
            <a:fld id="{FF040100-8EA0-4FAF-9F9B-C442915F75BE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31342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31342"/>
            <a:ext cx="2946400" cy="49847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r">
              <a:defRPr sz="1200"/>
            </a:lvl1pPr>
          </a:lstStyle>
          <a:p>
            <a:fld id="{1FBBB896-4B55-4EE0-B3C9-9548CE201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245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4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/>
          <a:lstStyle>
            <a:lvl1pPr algn="r">
              <a:defRPr sz="1200"/>
            </a:lvl1pPr>
          </a:lstStyle>
          <a:p>
            <a:fld id="{448203A8-89AB-43BD-9D16-677AF5D850DC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4" tIns="45700" rIns="91404" bIns="4570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5"/>
            <a:ext cx="5438140" cy="3909864"/>
          </a:xfrm>
          <a:prstGeom prst="rect">
            <a:avLst/>
          </a:prstGeom>
        </p:spPr>
        <p:txBody>
          <a:bodyPr vert="horz" lIns="91404" tIns="45700" rIns="91404" bIns="4570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31603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1603"/>
            <a:ext cx="2945659" cy="498215"/>
          </a:xfrm>
          <a:prstGeom prst="rect">
            <a:avLst/>
          </a:prstGeom>
        </p:spPr>
        <p:txBody>
          <a:bodyPr vert="horz" lIns="91404" tIns="45700" rIns="91404" bIns="45700" rtlCol="0" anchor="b"/>
          <a:lstStyle>
            <a:lvl1pPr algn="r">
              <a:defRPr sz="1200"/>
            </a:lvl1pPr>
          </a:lstStyle>
          <a:p>
            <a:fld id="{AE2E8A2C-6664-4BEF-B944-0B18AC0EFC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64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032">
              <a:defRPr/>
            </a:pP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044214-D9C4-4C66-8F80-AE78246730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12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36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44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83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14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2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62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86600" y="6538913"/>
            <a:ext cx="2057400" cy="365125"/>
          </a:xfrm>
        </p:spPr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84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66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03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35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9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877D7-2EA2-4440-B5CD-CB5AA5F18836}" type="datetimeFigureOut">
              <a:rPr lang="ko-KR" altLang="en-US" smtClean="0"/>
              <a:t>2025-07-04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89571-E664-45FD-82C0-E1E9C39FEB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1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EEBFCF-1CAA-4384-9DAA-41B27C67507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1" y="437898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9A37D989-2F51-4AEF-B297-DD41E9D59EBE}"/>
              </a:ext>
            </a:extLst>
          </p:cNvPr>
          <p:cNvSpPr txBox="1"/>
          <p:nvPr/>
        </p:nvSpPr>
        <p:spPr>
          <a:xfrm>
            <a:off x="8361072" y="411436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7C612BD5-94D3-4D27-8931-14E03BD57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805230"/>
              </p:ext>
            </p:extLst>
          </p:nvPr>
        </p:nvGraphicFramePr>
        <p:xfrm>
          <a:off x="317988" y="1235525"/>
          <a:ext cx="8508024" cy="460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004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418004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33234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2.1.4.2.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환자 원내 이송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3655791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2.1.4.2.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병원 내 이송 시 환자 분류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심폐소생위원회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068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2014.04.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lt"/>
                        <a:ea typeface="HY신명조" panose="02030600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2024.06.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lt"/>
                        <a:ea typeface="HY신명조" panose="02030600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+mn-lt"/>
                          <a:ea typeface="HY신명조" panose="02030600000101010101" pitchFamily="18" charset="-127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+mn-lt"/>
                        <a:ea typeface="HY신명조" panose="02030600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8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273233" y="219943"/>
            <a:ext cx="8597534" cy="907558"/>
            <a:chOff x="179832" y="95914"/>
            <a:chExt cx="8647675" cy="907558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32" y="223619"/>
              <a:ext cx="8647673" cy="77985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400DAD5-6FA8-4A16-9DFC-94BF0B6FCD65}"/>
                </a:ext>
              </a:extLst>
            </p:cNvPr>
            <p:cNvSpPr/>
            <p:nvPr/>
          </p:nvSpPr>
          <p:spPr>
            <a:xfrm>
              <a:off x="179833" y="95914"/>
              <a:ext cx="8647674" cy="12770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8C40C1-B106-4356-AC0B-EC5015927869}"/>
                </a:ext>
              </a:extLst>
            </p:cNvPr>
            <p:cNvSpPr txBox="1"/>
            <p:nvPr/>
          </p:nvSpPr>
          <p:spPr>
            <a:xfrm>
              <a:off x="266462" y="314468"/>
              <a:ext cx="85610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spc="-100" dirty="0">
                  <a:solidFill>
                    <a:schemeClr val="bg1"/>
                  </a:solidFill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병원 내 이송 시 환자 분류</a:t>
              </a:r>
            </a:p>
          </p:txBody>
        </p:sp>
      </p:grp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294545"/>
              </p:ext>
            </p:extLst>
          </p:nvPr>
        </p:nvGraphicFramePr>
        <p:xfrm>
          <a:off x="378236" y="1344362"/>
          <a:ext cx="8492531" cy="5336463"/>
        </p:xfrm>
        <a:graphic>
          <a:graphicData uri="http://schemas.openxmlformats.org/drawingml/2006/table">
            <a:tbl>
              <a:tblPr>
                <a:solidFill>
                  <a:srgbClr val="FFFF00"/>
                </a:solidFill>
              </a:tblPr>
              <a:tblGrid>
                <a:gridCol w="676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034">
                  <a:extLst>
                    <a:ext uri="{9D8B030D-6E8A-4147-A177-3AD203B41FA5}">
                      <a16:colId xmlns:a16="http://schemas.microsoft.com/office/drawing/2014/main" val="1480054611"/>
                    </a:ext>
                  </a:extLst>
                </a:gridCol>
                <a:gridCol w="4215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63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1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 분류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정의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세부사항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동행</a:t>
                      </a:r>
                      <a:endParaRPr lang="ko-KR" altLang="en-US" sz="1050" b="1" i="0" u="none" strike="dblStrike" baseline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이송방법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중중도</a:t>
                      </a:r>
                      <a:endParaRPr lang="en-US" altLang="ko-KR" sz="105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확인 방법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280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이송중증도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상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환자의 상태가 불안정하여 반드시 모니터 적용이 필요한 환자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9875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◇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Intubation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환자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◇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Ventilator</a:t>
                      </a:r>
                      <a:r>
                        <a:rPr lang="en-US" altLang="ko-KR" sz="900" b="1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Care </a:t>
                      </a:r>
                      <a:r>
                        <a:rPr lang="ko-KR" altLang="en-US" sz="900" b="1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중인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환자</a:t>
                      </a: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Home Ventilator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</a:t>
                      </a: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주치의</a:t>
                      </a: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담당의</a:t>
                      </a: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판단에 따름</a:t>
                      </a:r>
                      <a:endParaRPr lang="ko-KR" altLang="ko-KR" sz="900" b="1" kern="120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lvl="1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◇ </a:t>
                      </a:r>
                      <a:r>
                        <a:rPr lang="ko-KR" altLang="ko-KR" sz="900" b="1" kern="120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두경부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수술 후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환자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 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Neck swelling, Abscess, Bleeding 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Airway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</a:t>
                      </a:r>
                      <a:endParaRPr lang="en-US" altLang="ko-KR" sz="900" b="1" kern="120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lvl="1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문제를</a:t>
                      </a:r>
                      <a:r>
                        <a:rPr lang="en-US" altLang="ko-KR" sz="900" b="1" kern="1200" spc="-5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</a:t>
                      </a:r>
                      <a:r>
                        <a:rPr lang="ko-KR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지고 있는 환자</a:t>
                      </a:r>
                      <a:r>
                        <a:rPr lang="en-US" altLang="ko-KR" sz="900" b="1" kern="120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69875" marR="0" lvl="1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◇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의사 판단 하에 악화 가능성이 있는 환자 </a:t>
                      </a:r>
                      <a:endParaRPr lang="ko-KR" altLang="ko-KR" sz="900" b="1" kern="120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◇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활력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징후가 불안정한 환자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en-US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참고 범위</a:t>
                      </a: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69875" marR="0" lvl="0" indent="-176213" algn="just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269875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69875" indent="-176213" algn="just" latinLnBrk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US" altLang="ko-KR" sz="1000" b="1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의사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카트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팔찌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이송의뢰지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36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이송중증도 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중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환자의 상태가 안정적이거나 의사의 판단에 따라 모니터 적용이 필요한 환자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-173038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◇ </a:t>
                      </a: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Home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Ventilator care</a:t>
                      </a:r>
                      <a:r>
                        <a:rPr lang="en-US" altLang="ko-KR" sz="9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중인 환자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marL="266700" indent="-173038" algn="l" fontAlgn="ctr">
                        <a:lnSpc>
                          <a:spcPct val="150000"/>
                        </a:lnSpc>
                      </a:pP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◇ 지속적 약물투여 환자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Inotropics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 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Antiarrythmics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</a:t>
                      </a:r>
                      <a:r>
                        <a:rPr lang="en-US" sz="900" b="1" i="0" u="none" strike="noStrike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Vasodilators, </a:t>
                      </a:r>
                    </a:p>
                    <a:p>
                      <a:pPr marL="266700" indent="-173038" algn="l" fontAlgn="ctr">
                        <a:lnSpc>
                          <a:spcPct val="150000"/>
                        </a:lnSpc>
                      </a:pP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    </a:t>
                      </a:r>
                      <a:r>
                        <a:rPr lang="en-US" sz="900" b="1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Thrombolytics</a:t>
                      </a:r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Sedatives, Uterine relaxants 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등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266700" indent="-173038" algn="l" fontAlgn="ctr">
                        <a:lnSpc>
                          <a:spcPct val="150000"/>
                        </a:lnSpc>
                      </a:pPr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◇ </a:t>
                      </a:r>
                      <a:r>
                        <a:rPr lang="en-US" altLang="ko-KR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Portable Ventilator </a:t>
                      </a:r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적용 환자</a:t>
                      </a:r>
                      <a:endParaRPr lang="en-US" altLang="ko-KR" sz="9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필요시 의사 또는 간호사</a:t>
                      </a:r>
                      <a:endParaRPr lang="en-US" altLang="ko-KR" sz="900" b="1" i="0" u="none" strike="noStrike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endParaRPr lang="en-US" altLang="ko-KR" sz="900" b="1" i="0" u="none" strike="noStrike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모니터 적용 시는</a:t>
                      </a:r>
                      <a:endParaRPr lang="en-US" altLang="ko-KR" sz="900" b="1" i="0" u="none" strike="noStrike" kern="1200" spc="-1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의사 또는 </a:t>
                      </a:r>
                      <a:endParaRPr lang="en-US" altLang="ko-KR" sz="900" b="1" i="0" u="none" strike="noStrike" kern="1200" spc="-1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9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간호사가 동행한다</a:t>
                      </a:r>
                      <a:r>
                        <a:rPr lang="en-US" altLang="ko-KR" sz="10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b="1" i="0" u="none" strike="noStrike" kern="1200" spc="-1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b="1" i="0" u="none" strike="noStrike" kern="1200" spc="-1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카트 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휠체어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　</a:t>
                      </a: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이송의뢰지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49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이송중증도 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하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환자의 상태가 안정적으로 모니터 적용이 필요하지 않은 환자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불필요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도보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카트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휠체어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이송의뢰지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728112"/>
              </p:ext>
            </p:extLst>
          </p:nvPr>
        </p:nvGraphicFramePr>
        <p:xfrm>
          <a:off x="2392966" y="3277871"/>
          <a:ext cx="4013735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747">
                  <a:extLst>
                    <a:ext uri="{9D8B030D-6E8A-4147-A177-3AD203B41FA5}">
                      <a16:colId xmlns:a16="http://schemas.microsoft.com/office/drawing/2014/main" val="9985737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2706285174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1093548369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935385722"/>
                    </a:ext>
                  </a:extLst>
                </a:gridCol>
                <a:gridCol w="802747">
                  <a:extLst>
                    <a:ext uri="{9D8B030D-6E8A-4147-A177-3AD203B41FA5}">
                      <a16:colId xmlns:a16="http://schemas.microsoft.com/office/drawing/2014/main" val="3096104469"/>
                    </a:ext>
                  </a:extLst>
                </a:gridCol>
              </a:tblGrid>
              <a:tr h="3080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Age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SBP 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mmHg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HR</a:t>
                      </a:r>
                    </a:p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RR</a:t>
                      </a:r>
                    </a:p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회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SpO2</a:t>
                      </a:r>
                    </a:p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%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675010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개월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&lt;50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&lt;100,&gt;180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&lt;25,&gt;60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411922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&lt;60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&lt;90,&gt;180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&lt;20,&gt;50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251172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&lt;70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&lt;80,&gt;160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&lt;15,&gt;40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106845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&lt;80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&lt;70,&gt;140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&lt;15,&gt;40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34406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세 미만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&lt;60,&gt;130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&lt;12,&gt;30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144726"/>
                  </a:ext>
                </a:extLst>
              </a:tr>
              <a:tr h="1925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성인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&lt;90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≤40,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≥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140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≤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8, ≥30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latin typeface="+mj-ea"/>
                        <a:ea typeface="+mj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163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86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3295</TotalTime>
  <Words>291</Words>
  <Application>Microsoft Office PowerPoint</Application>
  <PresentationFormat>화면 슬라이드 쇼(4:3)</PresentationFormat>
  <Paragraphs>102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나눔고딕 ExtraBold</vt:lpstr>
      <vt:lpstr>맑은 고딕</vt:lpstr>
      <vt:lpstr>바탕</vt:lpstr>
      <vt:lpstr>연세소제목체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>YONSEI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홍진주(적정진료관리팀)</dc:creator>
  <cp:lastModifiedBy>안세림(환자안전팀)</cp:lastModifiedBy>
  <cp:revision>477</cp:revision>
  <cp:lastPrinted>2021-09-13T01:40:55Z</cp:lastPrinted>
  <dcterms:created xsi:type="dcterms:W3CDTF">2020-12-16T11:42:29Z</dcterms:created>
  <dcterms:modified xsi:type="dcterms:W3CDTF">2025-07-04T06:18:26Z</dcterms:modified>
</cp:coreProperties>
</file>