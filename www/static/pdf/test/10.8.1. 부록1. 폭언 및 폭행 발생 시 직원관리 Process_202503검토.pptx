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3" r:id="rId1"/>
  </p:sldMasterIdLst>
  <p:notesMasterIdLst>
    <p:notesMasterId r:id="rId4"/>
  </p:notesMasterIdLst>
  <p:handoutMasterIdLst>
    <p:handoutMasterId r:id="rId5"/>
  </p:handoutMasterIdLst>
  <p:sldIdLst>
    <p:sldId id="284" r:id="rId2"/>
    <p:sldId id="529" r:id="rId3"/>
  </p:sldIdLst>
  <p:sldSz cx="6858000" cy="9906000" type="A4"/>
  <p:notesSz cx="6797675" cy="9926638"/>
  <p:embeddedFontLst>
    <p:embeddedFont>
      <p:font typeface="-윤고딕340" panose="020B0600000101010101" charset="-127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맑은 고딕" panose="020B0503020000020004" pitchFamily="50" charset="-127"/>
      <p:regular r:id="rId11"/>
      <p:bold r:id="rId12"/>
    </p:embeddedFont>
    <p:embeddedFont>
      <p:font typeface="연세소제목체" panose="02030504000101010101" pitchFamily="18" charset="-127"/>
      <p:regular r:id="rId1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446" userDrawn="1">
          <p15:clr>
            <a:srgbClr val="A4A3A4"/>
          </p15:clr>
        </p15:guide>
        <p15:guide id="3" pos="5602" userDrawn="1">
          <p15:clr>
            <a:srgbClr val="A4A3A4"/>
          </p15:clr>
        </p15:guide>
        <p15:guide id="7" pos="5384" userDrawn="1">
          <p15:clr>
            <a:srgbClr val="A4A3A4"/>
          </p15:clr>
        </p15:guide>
        <p15:guide id="8" orient="horz" pos="696" userDrawn="1">
          <p15:clr>
            <a:srgbClr val="A4A3A4"/>
          </p15:clr>
        </p15:guide>
        <p15:guide id="10" orient="horz" pos="867" userDrawn="1">
          <p15:clr>
            <a:srgbClr val="A4A3A4"/>
          </p15:clr>
        </p15:guide>
        <p15:guide id="13" pos="2381" userDrawn="1">
          <p15:clr>
            <a:srgbClr val="A4A3A4"/>
          </p15:clr>
        </p15:guide>
        <p15:guide id="14" orient="horz" pos="4065" userDrawn="1">
          <p15:clr>
            <a:srgbClr val="A4A3A4"/>
          </p15:clr>
        </p15:guide>
        <p15:guide id="15" pos="5464" userDrawn="1">
          <p15:clr>
            <a:srgbClr val="A4A3A4"/>
          </p15:clr>
        </p15:guide>
        <p15:guide id="16" pos="326" userDrawn="1">
          <p15:clr>
            <a:srgbClr val="A4A3A4"/>
          </p15:clr>
        </p15:guide>
        <p15:guide id="17" pos="3309" userDrawn="1">
          <p15:clr>
            <a:srgbClr val="A4A3A4"/>
          </p15:clr>
        </p15:guide>
        <p15:guide id="18" pos="4282" userDrawn="1">
          <p15:clr>
            <a:srgbClr val="A4A3A4"/>
          </p15:clr>
        </p15:guide>
        <p15:guide id="19" pos="5261" userDrawn="1">
          <p15:clr>
            <a:srgbClr val="A4A3A4"/>
          </p15:clr>
        </p15:guide>
        <p15:guide id="20" pos="461" userDrawn="1">
          <p15:clr>
            <a:srgbClr val="A4A3A4"/>
          </p15:clr>
        </p15:guide>
        <p15:guide id="21" orient="horz" pos="1005">
          <p15:clr>
            <a:srgbClr val="A4A3A4"/>
          </p15:clr>
        </p15:guide>
        <p15:guide id="22" orient="horz" pos="1252">
          <p15:clr>
            <a:srgbClr val="A4A3A4"/>
          </p15:clr>
        </p15:guide>
        <p15:guide id="23" orient="horz" pos="5872">
          <p15:clr>
            <a:srgbClr val="A4A3A4"/>
          </p15:clr>
        </p15:guide>
        <p15:guide id="24" pos="1085">
          <p15:clr>
            <a:srgbClr val="A4A3A4"/>
          </p15:clr>
        </p15:guide>
        <p15:guide id="25" pos="4202">
          <p15:clr>
            <a:srgbClr val="A4A3A4"/>
          </p15:clr>
        </p15:guide>
        <p15:guide id="26" pos="4038">
          <p15:clr>
            <a:srgbClr val="A4A3A4"/>
          </p15:clr>
        </p15:guide>
        <p15:guide id="27" pos="1786">
          <p15:clr>
            <a:srgbClr val="A4A3A4"/>
          </p15:clr>
        </p15:guide>
        <p15:guide id="28" pos="4098">
          <p15:clr>
            <a:srgbClr val="A4A3A4"/>
          </p15:clr>
        </p15:guide>
        <p15:guide id="29" pos="245">
          <p15:clr>
            <a:srgbClr val="A4A3A4"/>
          </p15:clr>
        </p15:guide>
        <p15:guide id="30" pos="2482">
          <p15:clr>
            <a:srgbClr val="A4A3A4"/>
          </p15:clr>
        </p15:guide>
        <p15:guide id="31" pos="3212">
          <p15:clr>
            <a:srgbClr val="A4A3A4"/>
          </p15:clr>
        </p15:guide>
        <p15:guide id="32" pos="3946">
          <p15:clr>
            <a:srgbClr val="A4A3A4"/>
          </p15:clr>
        </p15:guide>
        <p15:guide id="33" pos="34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89F"/>
    <a:srgbClr val="005094"/>
    <a:srgbClr val="DF4F2C"/>
    <a:srgbClr val="0579CD"/>
    <a:srgbClr val="87BCE0"/>
    <a:srgbClr val="FF5E5A"/>
    <a:srgbClr val="068ABB"/>
    <a:srgbClr val="3790CC"/>
    <a:srgbClr val="096CA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어두운 스타일 1 - 강조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5" autoAdjust="0"/>
    <p:restoredTop sz="92832" autoAdjust="0"/>
  </p:normalViewPr>
  <p:slideViewPr>
    <p:cSldViewPr>
      <p:cViewPr varScale="1">
        <p:scale>
          <a:sx n="74" d="100"/>
          <a:sy n="74" d="100"/>
        </p:scale>
        <p:origin x="3210" y="60"/>
      </p:cViewPr>
      <p:guideLst>
        <p:guide pos="1446"/>
        <p:guide pos="5602"/>
        <p:guide pos="5384"/>
        <p:guide orient="horz" pos="696"/>
        <p:guide orient="horz" pos="867"/>
        <p:guide pos="2381"/>
        <p:guide orient="horz" pos="4065"/>
        <p:guide pos="5464"/>
        <p:guide pos="326"/>
        <p:guide pos="3309"/>
        <p:guide pos="4282"/>
        <p:guide pos="5261"/>
        <p:guide pos="461"/>
        <p:guide orient="horz" pos="1005"/>
        <p:guide orient="horz" pos="1252"/>
        <p:guide orient="horz" pos="5872"/>
        <p:guide pos="1085"/>
        <p:guide pos="4202"/>
        <p:guide pos="4038"/>
        <p:guide pos="1786"/>
        <p:guide pos="4098"/>
        <p:guide pos="245"/>
        <p:guide pos="2482"/>
        <p:guide pos="3212"/>
        <p:guide pos="3946"/>
        <p:guide pos="34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7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4"/>
            <a:ext cx="2946247" cy="496732"/>
          </a:xfrm>
          <a:prstGeom prst="rect">
            <a:avLst/>
          </a:prstGeom>
        </p:spPr>
        <p:txBody>
          <a:bodyPr vert="horz" lIns="92098" tIns="46048" rIns="92098" bIns="46048" rtlCol="0"/>
          <a:lstStyle>
            <a:lvl1pPr algn="l">
              <a:defRPr sz="1200"/>
            </a:lvl1pPr>
          </a:lstStyle>
          <a:p>
            <a:endParaRPr lang="ko-KR" altLang="en-US" dirty="0"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827" y="4"/>
            <a:ext cx="2946246" cy="496732"/>
          </a:xfrm>
          <a:prstGeom prst="rect">
            <a:avLst/>
          </a:prstGeom>
        </p:spPr>
        <p:txBody>
          <a:bodyPr vert="horz" lIns="92098" tIns="46048" rIns="92098" bIns="46048" rtlCol="0"/>
          <a:lstStyle>
            <a:lvl1pPr algn="r">
              <a:defRPr sz="1200"/>
            </a:lvl1pPr>
          </a:lstStyle>
          <a:p>
            <a:endParaRPr lang="ko-KR" altLang="en-US" dirty="0"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4" y="9428311"/>
            <a:ext cx="2946247" cy="496731"/>
          </a:xfrm>
          <a:prstGeom prst="rect">
            <a:avLst/>
          </a:prstGeom>
        </p:spPr>
        <p:txBody>
          <a:bodyPr vert="horz" lIns="92098" tIns="46048" rIns="92098" bIns="46048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827" y="9428311"/>
            <a:ext cx="2946246" cy="496731"/>
          </a:xfrm>
          <a:prstGeom prst="rect">
            <a:avLst/>
          </a:prstGeom>
        </p:spPr>
        <p:txBody>
          <a:bodyPr vert="horz" lIns="92098" tIns="46048" rIns="92098" bIns="46048" rtlCol="0" anchor="b"/>
          <a:lstStyle>
            <a:lvl1pPr algn="r">
              <a:defRPr sz="1200"/>
            </a:lvl1pPr>
          </a:lstStyle>
          <a:p>
            <a:fld id="{0CAA5BCD-E9BF-4CF3-B50A-7F666051268C}" type="slidenum">
              <a:rPr lang="ko-KR" altLang="en-US" smtClean="0">
                <a:latin typeface="-윤고딕340" panose="02030504000101010101" pitchFamily="18" charset="-127"/>
                <a:ea typeface="-윤고딕340" panose="02030504000101010101" pitchFamily="18" charset="-127"/>
              </a:rPr>
              <a:pPr/>
              <a:t>‹#›</a:t>
            </a:fld>
            <a:endParaRPr lang="ko-KR" altLang="en-US" dirty="0">
              <a:latin typeface="-윤고딕340" panose="02030504000101010101" pitchFamily="18" charset="-127"/>
              <a:ea typeface="-윤고딕340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280267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6"/>
            <a:ext cx="2945660" cy="498055"/>
          </a:xfrm>
          <a:prstGeom prst="rect">
            <a:avLst/>
          </a:prstGeom>
        </p:spPr>
        <p:txBody>
          <a:bodyPr vert="horz" lIns="91305" tIns="45652" rIns="91305" bIns="45652" rtlCol="0"/>
          <a:lstStyle>
            <a:lvl1pPr algn="l">
              <a:defRPr sz="1200">
                <a:latin typeface="-윤고딕340" panose="02030504000101010101" pitchFamily="18" charset="-127"/>
                <a:ea typeface="-윤고딕340" panose="0203050400010101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6"/>
            <a:ext cx="2945660" cy="498055"/>
          </a:xfrm>
          <a:prstGeom prst="rect">
            <a:avLst/>
          </a:prstGeom>
        </p:spPr>
        <p:txBody>
          <a:bodyPr vert="horz" lIns="91305" tIns="45652" rIns="91305" bIns="45652" rtlCol="0"/>
          <a:lstStyle>
            <a:lvl1pPr algn="r">
              <a:defRPr sz="1200">
                <a:latin typeface="-윤고딕340" panose="02030504000101010101" pitchFamily="18" charset="-127"/>
                <a:ea typeface="-윤고딕340" panose="0203050400010101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38375" y="1241425"/>
            <a:ext cx="23209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05" tIns="45652" rIns="91305" bIns="45652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</p:spPr>
        <p:txBody>
          <a:bodyPr vert="horz" lIns="91305" tIns="45652" rIns="91305" bIns="45652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28585"/>
            <a:ext cx="2945660" cy="498054"/>
          </a:xfrm>
          <a:prstGeom prst="rect">
            <a:avLst/>
          </a:prstGeom>
        </p:spPr>
        <p:txBody>
          <a:bodyPr vert="horz" lIns="91305" tIns="45652" rIns="91305" bIns="45652" rtlCol="0" anchor="b"/>
          <a:lstStyle>
            <a:lvl1pPr algn="l">
              <a:defRPr sz="1200">
                <a:latin typeface="-윤고딕340" panose="02030504000101010101" pitchFamily="18" charset="-127"/>
                <a:ea typeface="-윤고딕340" panose="0203050400010101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8585"/>
            <a:ext cx="2945660" cy="498054"/>
          </a:xfrm>
          <a:prstGeom prst="rect">
            <a:avLst/>
          </a:prstGeom>
        </p:spPr>
        <p:txBody>
          <a:bodyPr vert="horz" lIns="91305" tIns="45652" rIns="91305" bIns="45652" rtlCol="0" anchor="b"/>
          <a:lstStyle>
            <a:lvl1pPr algn="r">
              <a:defRPr sz="1200">
                <a:latin typeface="-윤고딕340" panose="02030504000101010101" pitchFamily="18" charset="-127"/>
                <a:ea typeface="-윤고딕340" panose="02030504000101010101" pitchFamily="18" charset="-127"/>
              </a:defRPr>
            </a:lvl1pPr>
          </a:lstStyle>
          <a:p>
            <a:fld id="{3796CACF-C05F-4313-B43A-18328FA857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248905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1" hangingPunct="1">
      <a:defRPr sz="1200" kern="1200">
        <a:solidFill>
          <a:schemeClr val="tx1"/>
        </a:solidFill>
        <a:latin typeface="-윤고딕340" panose="02030504000101010101" pitchFamily="18" charset="-127"/>
        <a:ea typeface="-윤고딕340" panose="0203050400010101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-윤고딕340" panose="02030504000101010101" pitchFamily="18" charset="-127"/>
        <a:ea typeface="-윤고딕340" panose="0203050400010101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-윤고딕340" panose="02030504000101010101" pitchFamily="18" charset="-127"/>
        <a:ea typeface="-윤고딕340" panose="0203050400010101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-윤고딕340" panose="02030504000101010101" pitchFamily="18" charset="-127"/>
        <a:ea typeface="-윤고딕340" panose="0203050400010101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-윤고딕340" panose="02030504000101010101" pitchFamily="18" charset="-127"/>
        <a:ea typeface="-윤고딕340" panose="0203050400010101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/>
          <a:lstStyle/>
          <a:p>
            <a:fld id="{5BA1C771-046C-4A48-9428-357615E5055A}" type="datetimeFigureOut">
              <a:rPr lang="ko-KR" altLang="en-US" smtClean="0"/>
              <a:pPr/>
              <a:t>2025-04-02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/>
          <a:lstStyle/>
          <a:p>
            <a:fld id="{5630BA98-4CFD-45B9-881B-78AF022A223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66944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B61DA0-D7E5-49A1-AA53-4579501804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403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135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75" r:id="rId2"/>
    <p:sldLayoutId id="2147483776" r:id="rId3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2700" b="1" kern="1200" spc="-15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2E9F009-8406-4AF0-95F6-AB62836D1E1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56" y="732224"/>
            <a:ext cx="1315894" cy="3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13487CC8-6699-4413-A4A1-442ED363BF14}"/>
              </a:ext>
            </a:extLst>
          </p:cNvPr>
          <p:cNvSpPr txBox="1"/>
          <p:nvPr/>
        </p:nvSpPr>
        <p:spPr>
          <a:xfrm>
            <a:off x="5927468" y="705760"/>
            <a:ext cx="597877" cy="2497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385"/>
              </a:spcBef>
              <a:spcAft>
                <a:spcPts val="1385"/>
              </a:spcAft>
            </a:pPr>
            <a:r>
              <a:rPr lang="ko-KR" altLang="en-US" sz="1015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923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AE26ACEE-D404-425C-9E2A-95EAD3287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156711"/>
              </p:ext>
            </p:extLst>
          </p:nvPr>
        </p:nvGraphicFramePr>
        <p:xfrm>
          <a:off x="393585" y="1934203"/>
          <a:ext cx="6059748" cy="6547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958">
                  <a:extLst>
                    <a:ext uri="{9D8B030D-6E8A-4147-A177-3AD203B41FA5}">
                      <a16:colId xmlns:a16="http://schemas.microsoft.com/office/drawing/2014/main" val="3307287349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2503108154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1982474349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159794727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842079274"/>
                    </a:ext>
                  </a:extLst>
                </a:gridCol>
                <a:gridCol w="1009958">
                  <a:extLst>
                    <a:ext uri="{9D8B030D-6E8A-4147-A177-3AD203B41FA5}">
                      <a16:colId xmlns:a16="http://schemas.microsoft.com/office/drawing/2014/main" val="267532808"/>
                    </a:ext>
                  </a:extLst>
                </a:gridCol>
              </a:tblGrid>
              <a:tr h="419125">
                <a:tc gridSpan="6">
                  <a:txBody>
                    <a:bodyPr/>
                    <a:lstStyle/>
                    <a:p>
                      <a:pPr latinLnBrk="1"/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세브란스병원 내규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10.8.1.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직무상 폭력 예방 및 관리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584877"/>
                  </a:ext>
                </a:extLst>
              </a:tr>
              <a:tr h="5354122"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10.8.1. </a:t>
                      </a: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부록</a:t>
                      </a: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1. </a:t>
                      </a:r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폭언 및 폭행 발생 시 직원관리 </a:t>
                      </a:r>
                      <a:r>
                        <a:rPr lang="en-US" altLang="ko-KR" sz="2200" dirty="0">
                          <a:solidFill>
                            <a:schemeClr val="tx1"/>
                          </a:solidFill>
                          <a:latin typeface="연세소제목체" panose="02030504000101010101" pitchFamily="18" charset="-127"/>
                          <a:ea typeface="연세소제목체" panose="02030504000101010101" pitchFamily="18" charset="-127"/>
                        </a:rPr>
                        <a:t>Process</a:t>
                      </a:r>
                      <a:endParaRPr lang="ko-KR" altLang="en-US" sz="2200" dirty="0">
                        <a:solidFill>
                          <a:schemeClr val="tx1"/>
                        </a:solidFill>
                        <a:latin typeface="연세소제목체" panose="02030504000101010101" pitchFamily="18" charset="-127"/>
                        <a:ea typeface="연세소제목체" panose="02030504000101010101" pitchFamily="18" charset="-127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995443"/>
                  </a:ext>
                </a:extLst>
              </a:tr>
              <a:tr h="386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담당부서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l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시설안전관리위원회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  <a:latin typeface="HY신명조" panose="02030600000101010101" pitchFamily="18" charset="-127"/>
                        <a:ea typeface="HY신명조" panose="02030600000101010101" pitchFamily="18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327800"/>
                  </a:ext>
                </a:extLst>
              </a:tr>
              <a:tr h="3869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최종개정일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2023.01.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최종검토일</a:t>
                      </a: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HY신명조" panose="02030600000101010101" pitchFamily="18" charset="-127"/>
                          <a:cs typeface="Times New Roman" panose="02020603050405020304" pitchFamily="18" charset="0"/>
                        </a:rPr>
                        <a:t>2025.03.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HY신명조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832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88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514034" y="6212114"/>
            <a:ext cx="2924175" cy="989097"/>
          </a:xfrm>
          <a:prstGeom prst="rect">
            <a:avLst/>
          </a:prstGeom>
          <a:solidFill>
            <a:schemeClr val="bg1">
              <a:lumMod val="65000"/>
            </a:schemeClr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>
                <a:solidFill>
                  <a:srgbClr val="0000FF"/>
                </a:solidFill>
                <a:latin typeface="+mn-lt"/>
                <a:ea typeface="+mn-ea"/>
              </a:rPr>
              <a:t>입원</a:t>
            </a:r>
            <a:r>
              <a:rPr kumimoji="0" lang="en-US" altLang="ko-KR" sz="1200" b="1" kern="0" dirty="0">
                <a:solidFill>
                  <a:srgbClr val="0000FF"/>
                </a:solidFill>
                <a:latin typeface="+mn-lt"/>
                <a:ea typeface="+mn-ea"/>
              </a:rPr>
              <a:t>(</a:t>
            </a:r>
            <a:r>
              <a:rPr kumimoji="0" lang="ko-KR" altLang="en-US" sz="1200" b="1" kern="0" dirty="0">
                <a:solidFill>
                  <a:srgbClr val="0000FF"/>
                </a:solidFill>
                <a:latin typeface="+mn-lt"/>
                <a:ea typeface="+mn-ea"/>
              </a:rPr>
              <a:t>필요 시</a:t>
            </a:r>
            <a:r>
              <a:rPr kumimoji="0" lang="en-US" altLang="ko-KR" sz="1200" b="1" kern="0" dirty="0">
                <a:solidFill>
                  <a:srgbClr val="0000FF"/>
                </a:solidFill>
                <a:latin typeface="+mn-lt"/>
                <a:ea typeface="+mn-ea"/>
              </a:rPr>
              <a:t>)</a:t>
            </a:r>
          </a:p>
          <a:p>
            <a:pPr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b="1" kern="0" dirty="0">
                <a:solidFill>
                  <a:srgbClr val="0000FF"/>
                </a:solidFill>
                <a:latin typeface="맑은 고딕"/>
                <a:ea typeface="맑은 고딕"/>
              </a:rPr>
              <a:t> ① </a:t>
            </a:r>
            <a:r>
              <a:rPr kumimoji="0" lang="ko-KR" altLang="en-US" sz="1100" b="1" kern="0" dirty="0">
                <a:solidFill>
                  <a:srgbClr val="0000FF"/>
                </a:solidFill>
                <a:latin typeface="맑은 고딕"/>
                <a:ea typeface="맑은 고딕"/>
              </a:rPr>
              <a:t>입원장 발부</a:t>
            </a:r>
            <a:endParaRPr kumimoji="0" lang="en-US" altLang="ko-KR" sz="1100" b="1" kern="0" dirty="0">
              <a:solidFill>
                <a:srgbClr val="0000FF"/>
              </a:solidFill>
              <a:latin typeface="맑은 고딕"/>
              <a:ea typeface="맑은 고딕"/>
            </a:endParaRPr>
          </a:p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b="1" kern="0" dirty="0">
                <a:solidFill>
                  <a:srgbClr val="0000FF"/>
                </a:solidFill>
                <a:latin typeface="맑은 고딕"/>
                <a:ea typeface="맑은 고딕"/>
              </a:rPr>
              <a:t>  (</a:t>
            </a:r>
            <a:r>
              <a:rPr kumimoji="0" lang="ko-KR" altLang="en-US" sz="700" b="1" kern="0" dirty="0">
                <a:solidFill>
                  <a:srgbClr val="0000FF"/>
                </a:solidFill>
              </a:rPr>
              <a:t>주치의</a:t>
            </a:r>
            <a:r>
              <a:rPr kumimoji="0" lang="en-US" altLang="ko-KR" sz="700" b="1" kern="0" dirty="0">
                <a:solidFill>
                  <a:srgbClr val="0000FF"/>
                </a:solidFill>
              </a:rPr>
              <a:t>(</a:t>
            </a:r>
            <a:r>
              <a:rPr kumimoji="0" lang="ko-KR" altLang="en-US" sz="700" b="1" kern="0" dirty="0" err="1">
                <a:solidFill>
                  <a:srgbClr val="0000FF"/>
                </a:solidFill>
              </a:rPr>
              <a:t>책임의사</a:t>
            </a:r>
            <a:r>
              <a:rPr kumimoji="0" lang="en-US" altLang="ko-KR" sz="700" b="1" kern="0" dirty="0">
                <a:solidFill>
                  <a:srgbClr val="0000FF"/>
                </a:solidFill>
              </a:rPr>
              <a:t>): </a:t>
            </a:r>
            <a:r>
              <a:rPr kumimoji="0" lang="ko-KR" altLang="en-US" sz="700" b="1" kern="0" dirty="0">
                <a:solidFill>
                  <a:srgbClr val="0000FF"/>
                </a:solidFill>
              </a:rPr>
              <a:t>진료부원장</a:t>
            </a:r>
            <a:r>
              <a:rPr kumimoji="0" lang="en-US" altLang="ko-KR" sz="700" b="1" kern="0" dirty="0">
                <a:solidFill>
                  <a:srgbClr val="0000FF"/>
                </a:solidFill>
              </a:rPr>
              <a:t>/</a:t>
            </a:r>
            <a:r>
              <a:rPr kumimoji="0" lang="ko-KR" altLang="en-US" sz="700" b="1" kern="0" dirty="0">
                <a:solidFill>
                  <a:srgbClr val="0000FF"/>
                </a:solidFill>
              </a:rPr>
              <a:t>응급진료센터소장</a:t>
            </a:r>
            <a:r>
              <a:rPr kumimoji="0" lang="en-US" altLang="ko-KR" sz="700" b="1" kern="0" dirty="0">
                <a:solidFill>
                  <a:srgbClr val="0000FF"/>
                </a:solidFill>
              </a:rPr>
              <a:t>/</a:t>
            </a:r>
            <a:r>
              <a:rPr kumimoji="0" lang="ko-KR" altLang="en-US" sz="700" b="1" kern="0" dirty="0">
                <a:solidFill>
                  <a:srgbClr val="0000FF"/>
                </a:solidFill>
              </a:rPr>
              <a:t>보건관리의사</a:t>
            </a:r>
            <a:r>
              <a:rPr kumimoji="0" lang="en-US" altLang="ko-KR" sz="700" b="1" kern="0" dirty="0">
                <a:solidFill>
                  <a:srgbClr val="0000FF"/>
                </a:solidFill>
              </a:rPr>
              <a:t>)</a:t>
            </a:r>
          </a:p>
          <a:p>
            <a:pPr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b="1" kern="0" dirty="0">
                <a:solidFill>
                  <a:srgbClr val="0000FF"/>
                </a:solidFill>
              </a:rPr>
              <a:t> </a:t>
            </a:r>
            <a:r>
              <a:rPr kumimoji="0" lang="en-US" altLang="ko-KR" sz="1100" b="1" kern="0" dirty="0">
                <a:solidFill>
                  <a:srgbClr val="0000FF"/>
                </a:solidFill>
                <a:latin typeface="맑은 고딕"/>
                <a:ea typeface="맑은 고딕"/>
              </a:rPr>
              <a:t>② </a:t>
            </a:r>
            <a:r>
              <a:rPr kumimoji="0" lang="ko-KR" altLang="en-US" sz="1100" b="1" kern="0" dirty="0">
                <a:solidFill>
                  <a:srgbClr val="0000FF"/>
                </a:solidFill>
              </a:rPr>
              <a:t>원내재해발생신고</a:t>
            </a:r>
            <a:r>
              <a:rPr kumimoji="0" lang="en-US" altLang="ko-KR" sz="1100" b="1" kern="0" dirty="0">
                <a:solidFill>
                  <a:srgbClr val="0000FF"/>
                </a:solidFill>
              </a:rPr>
              <a:t>  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64704" y="1086054"/>
            <a:ext cx="55783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b="1" spc="100" dirty="0">
                <a:solidFill>
                  <a:srgbClr val="333333"/>
                </a:solidFill>
                <a:latin typeface="+mn-ea"/>
              </a:rPr>
              <a:t>폭언</a:t>
            </a:r>
            <a:r>
              <a:rPr lang="en-US" altLang="ko-KR" b="1" spc="100" dirty="0">
                <a:solidFill>
                  <a:srgbClr val="333333"/>
                </a:solidFill>
                <a:latin typeface="+mn-ea"/>
              </a:rPr>
              <a:t>, </a:t>
            </a:r>
            <a:r>
              <a:rPr lang="ko-KR" altLang="en-US" b="1" spc="100" dirty="0">
                <a:solidFill>
                  <a:srgbClr val="333333"/>
                </a:solidFill>
                <a:latin typeface="+mn-ea"/>
              </a:rPr>
              <a:t>폭행 발생 시 직원관리 </a:t>
            </a:r>
            <a:r>
              <a:rPr lang="en-US" altLang="ko-KR" b="1" spc="100" dirty="0">
                <a:solidFill>
                  <a:srgbClr val="333333"/>
                </a:solidFill>
                <a:latin typeface="+mn-ea"/>
              </a:rPr>
              <a:t>Process</a:t>
            </a:r>
            <a:endParaRPr lang="ko-KR" altLang="en-US" sz="1200" dirty="0">
              <a:solidFill>
                <a:srgbClr val="333333"/>
              </a:solidFill>
              <a:latin typeface="+mj-ea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" y="145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5305329" y="2272593"/>
            <a:ext cx="890155" cy="676676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5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중계대</a:t>
            </a:r>
            <a:r>
              <a:rPr kumimoji="0" lang="en-US" altLang="ko-KR" sz="105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(</a:t>
            </a:r>
            <a:r>
              <a:rPr kumimoji="0" lang="ko-KR" altLang="en-US" sz="105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방송</a:t>
            </a:r>
            <a:r>
              <a:rPr kumimoji="0" lang="en-US" altLang="ko-KR" sz="105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)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399665" y="3284271"/>
            <a:ext cx="2064863" cy="707014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/>
            <a:endParaRPr kumimoji="0" lang="en-US" altLang="ko-KR" sz="800" dirty="0">
              <a:latin typeface="맑은 고딕" pitchFamily="50" charset="-127"/>
              <a:ea typeface="맑은 고딕" pitchFamily="50" charset="-127"/>
            </a:endParaRPr>
          </a:p>
          <a:p>
            <a:pPr algn="ctr" eaLnBrk="1" hangingPunct="1"/>
            <a:r>
              <a:rPr kumimoji="0" lang="ko-KR" altLang="en-US" sz="1200" b="1" dirty="0">
                <a:latin typeface="맑은 고딕" pitchFamily="50" charset="-127"/>
                <a:ea typeface="맑은 고딕" pitchFamily="50" charset="-127"/>
              </a:rPr>
              <a:t>보안팀 연락</a:t>
            </a:r>
            <a:r>
              <a:rPr lang="en-US" altLang="ko-KR" sz="1200" b="1" dirty="0"/>
              <a:t>(</a:t>
            </a:r>
            <a:r>
              <a:rPr lang="ko-KR" altLang="en-US" sz="1200"/>
              <a:t>☎ </a:t>
            </a:r>
            <a:r>
              <a:rPr kumimoji="0" lang="en-US" altLang="ko-KR" sz="1200" b="1">
                <a:latin typeface="맑은 고딕" pitchFamily="50" charset="-127"/>
                <a:ea typeface="맑은 고딕" pitchFamily="50" charset="-127"/>
              </a:rPr>
              <a:t>112)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algn="ctr" eaLnBrk="1" hangingPunct="1"/>
            <a:r>
              <a:rPr kumimoji="0" lang="ko-KR" altLang="en-US" sz="1100" b="1" dirty="0">
                <a:latin typeface="맑은 고딕" pitchFamily="50" charset="-127"/>
                <a:ea typeface="맑은 고딕" pitchFamily="50" charset="-127"/>
              </a:rPr>
              <a:t>보안요원 현장 출동</a:t>
            </a:r>
            <a:r>
              <a:rPr kumimoji="0" lang="en-US" altLang="ko-KR" sz="11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en-US" altLang="ko-KR" sz="1100" b="1" u="sng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kumimoji="0" lang="ko-KR" altLang="en-US" sz="1100" b="1" u="sng" dirty="0">
                <a:latin typeface="맑은 고딕" pitchFamily="50" charset="-127"/>
                <a:ea typeface="맑은 고딕" pitchFamily="50" charset="-127"/>
              </a:rPr>
              <a:t>차 경고</a:t>
            </a:r>
            <a:endParaRPr kumimoji="0" lang="en-US" altLang="ko-KR" sz="1100" b="1" u="sng" dirty="0">
              <a:latin typeface="맑은 고딕" pitchFamily="50" charset="-127"/>
              <a:ea typeface="맑은 고딕" pitchFamily="50" charset="-127"/>
            </a:endParaRPr>
          </a:p>
          <a:p>
            <a:pPr algn="ctr" eaLnBrk="1" hangingPunct="1"/>
            <a:r>
              <a:rPr kumimoji="0" lang="en-US" altLang="ko-KR" sz="10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1000" b="1" dirty="0">
                <a:latin typeface="맑은 고딕" pitchFamily="50" charset="-127"/>
                <a:ea typeface="맑은 고딕" pitchFamily="50" charset="-127"/>
              </a:rPr>
              <a:t>필요 시</a:t>
            </a:r>
            <a:r>
              <a:rPr kumimoji="0" lang="en-US" altLang="ko-KR" sz="10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1000" b="1" dirty="0">
                <a:latin typeface="맑은 고딕" pitchFamily="50" charset="-127"/>
                <a:ea typeface="맑은 고딕" pitchFamily="50" charset="-127"/>
              </a:rPr>
              <a:t>경찰에 연락 및 동행</a:t>
            </a:r>
            <a:r>
              <a:rPr kumimoji="0" lang="en-US" altLang="ko-KR" sz="1000" b="1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algn="ctr" eaLnBrk="1" hangingPunct="1"/>
            <a:endParaRPr kumimoji="0"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" name="직선 화살표 연결선 7"/>
          <p:cNvCxnSpPr>
            <a:stCxn id="15" idx="2"/>
            <a:endCxn id="17" idx="0"/>
          </p:cNvCxnSpPr>
          <p:nvPr/>
        </p:nvCxnSpPr>
        <p:spPr bwMode="auto">
          <a:xfrm flipH="1">
            <a:off x="1976122" y="5613664"/>
            <a:ext cx="1449862" cy="59845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>
            <a:stCxn id="15" idx="2"/>
            <a:endCxn id="18" idx="0"/>
          </p:cNvCxnSpPr>
          <p:nvPr/>
        </p:nvCxnSpPr>
        <p:spPr bwMode="auto">
          <a:xfrm>
            <a:off x="3425984" y="5613664"/>
            <a:ext cx="1559442" cy="59844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895667" y="1576763"/>
            <a:ext cx="3096345" cy="67868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/>
              <a:t>폭언 및 폭행 발생</a:t>
            </a:r>
            <a:r>
              <a:rPr kumimoji="0" lang="en-US" altLang="ko-KR" sz="1200" b="1" kern="0" dirty="0"/>
              <a:t>(</a:t>
            </a:r>
            <a:r>
              <a:rPr kumimoji="0" lang="ko-KR" altLang="en-US" sz="1200" b="1" kern="0" dirty="0"/>
              <a:t>직장 내 포함</a:t>
            </a:r>
            <a:r>
              <a:rPr kumimoji="0" lang="en-US" altLang="ko-KR" sz="1200" b="1" kern="0" dirty="0"/>
              <a:t>)</a:t>
            </a:r>
            <a:r>
              <a:rPr kumimoji="0" lang="ko-KR" altLang="en-US" sz="1200" b="1" kern="0" dirty="0"/>
              <a:t> </a:t>
            </a:r>
            <a:endParaRPr kumimoji="0" lang="en-US" altLang="ko-KR" sz="1200" b="1" kern="0" dirty="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2411890" y="4243738"/>
            <a:ext cx="2052638" cy="572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피해직원 보호격리</a:t>
            </a:r>
            <a:endParaRPr kumimoji="0" lang="en-US" altLang="ko-KR" sz="1200" b="1" kern="0" dirty="0">
              <a:solidFill>
                <a:sysClr val="windowText" lastClr="000000"/>
              </a:solidFill>
              <a:latin typeface="+mn-lt"/>
              <a:ea typeface="+mn-ea"/>
            </a:endParaRPr>
          </a:p>
        </p:txBody>
      </p:sp>
      <p:cxnSp>
        <p:nvCxnSpPr>
          <p:cNvPr id="12" name="직선 화살표 연결선 11"/>
          <p:cNvCxnSpPr>
            <a:stCxn id="7" idx="2"/>
          </p:cNvCxnSpPr>
          <p:nvPr/>
        </p:nvCxnSpPr>
        <p:spPr bwMode="auto">
          <a:xfrm>
            <a:off x="3432097" y="3991285"/>
            <a:ext cx="0" cy="24163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26"/>
          <p:cNvCxnSpPr>
            <a:stCxn id="6" idx="2"/>
            <a:endCxn id="7" idx="3"/>
          </p:cNvCxnSpPr>
          <p:nvPr/>
        </p:nvCxnSpPr>
        <p:spPr bwMode="auto">
          <a:xfrm rot="5400000">
            <a:off x="4763214" y="2650584"/>
            <a:ext cx="688509" cy="1285879"/>
          </a:xfrm>
          <a:prstGeom prst="bentConnector2">
            <a:avLst/>
          </a:prstGeom>
          <a:ln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 bwMode="auto">
          <a:xfrm flipV="1">
            <a:off x="3437968" y="2643464"/>
            <a:ext cx="1876491" cy="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2399665" y="5093664"/>
            <a:ext cx="2052638" cy="520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응급진료센터 내원</a:t>
            </a:r>
            <a:endParaRPr kumimoji="0" lang="en-US" altLang="ko-KR" sz="1200" b="1" kern="0" dirty="0">
              <a:solidFill>
                <a:sysClr val="windowText" lastClr="000000"/>
              </a:solidFill>
              <a:latin typeface="+mn-lt"/>
              <a:ea typeface="+mn-ea"/>
            </a:endParaRPr>
          </a:p>
        </p:txBody>
      </p:sp>
      <p:cxnSp>
        <p:nvCxnSpPr>
          <p:cNvPr id="16" name="직선 화살표 연결선 15"/>
          <p:cNvCxnSpPr/>
          <p:nvPr/>
        </p:nvCxnSpPr>
        <p:spPr bwMode="auto">
          <a:xfrm>
            <a:off x="3425984" y="4840863"/>
            <a:ext cx="0" cy="23163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3703402" y="6212113"/>
            <a:ext cx="2564048" cy="98909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입원 필요 없는 경우</a:t>
            </a:r>
            <a:endParaRPr kumimoji="0" lang="en-US" altLang="ko-KR" sz="1200" b="1" kern="0" dirty="0">
              <a:solidFill>
                <a:sysClr val="windowText" lastClr="000000"/>
              </a:solidFill>
              <a:latin typeface="+mn-lt"/>
              <a:ea typeface="+mn-ea"/>
            </a:endParaRPr>
          </a:p>
          <a:p>
            <a:pPr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b="1" kern="0">
                <a:latin typeface="+mn-ea"/>
              </a:rPr>
              <a:t>     ① </a:t>
            </a:r>
            <a:r>
              <a:rPr kumimoji="0" lang="ko-KR" altLang="en-US" sz="1100" b="1" kern="0" dirty="0">
                <a:latin typeface="+mn-ea"/>
              </a:rPr>
              <a:t>진료 후 귀가</a:t>
            </a:r>
            <a:endParaRPr kumimoji="0" lang="en-US" altLang="ko-KR" sz="1100" b="1" kern="0" dirty="0">
              <a:latin typeface="+mn-ea"/>
            </a:endParaRPr>
          </a:p>
          <a:p>
            <a:pPr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b="1" kern="0">
                <a:latin typeface="+mn-ea"/>
              </a:rPr>
              <a:t>     ② </a:t>
            </a:r>
            <a:r>
              <a:rPr kumimoji="0" lang="ko-KR" altLang="en-US" sz="1100" b="1" kern="0" dirty="0">
                <a:latin typeface="+mn-ea"/>
              </a:rPr>
              <a:t>원내재해발생신고</a:t>
            </a:r>
            <a:endParaRPr kumimoji="0" lang="en-US" altLang="ko-KR" sz="1100" b="1" kern="0" dirty="0">
              <a:solidFill>
                <a:srgbClr val="0000FF"/>
              </a:solidFill>
            </a:endParaRP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1663806" y="7953829"/>
            <a:ext cx="3768165" cy="107989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추후관리</a:t>
            </a:r>
            <a:endParaRPr kumimoji="0" lang="en-US" altLang="ko-KR" sz="1200" b="1" kern="0" dirty="0">
              <a:solidFill>
                <a:sysClr val="windowText" lastClr="000000"/>
              </a:solidFill>
              <a:latin typeface="+mn-lt"/>
              <a:ea typeface="+mn-ea"/>
            </a:endParaRPr>
          </a:p>
          <a:p>
            <a:pPr marL="285750" indent="-285750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11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원무팀</a:t>
            </a:r>
            <a:r>
              <a:rPr kumimoji="0" lang="en-US" altLang="ko-KR" sz="11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(</a:t>
            </a:r>
            <a:r>
              <a:rPr kumimoji="0" lang="ko-KR" altLang="en-US" sz="11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진료비</a:t>
            </a:r>
            <a:r>
              <a:rPr kumimoji="0" lang="en-US" altLang="ko-KR" sz="11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), </a:t>
            </a:r>
            <a:r>
              <a:rPr kumimoji="0" lang="ko-KR" altLang="en-US" sz="1100" b="1" kern="0" dirty="0">
                <a:solidFill>
                  <a:srgbClr val="FF0000"/>
                </a:solidFill>
                <a:latin typeface="+mn-lt"/>
                <a:ea typeface="+mn-ea"/>
              </a:rPr>
              <a:t>안전보건팀</a:t>
            </a:r>
            <a:r>
              <a:rPr kumimoji="0" lang="en-US" altLang="ko-KR" sz="11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(</a:t>
            </a:r>
            <a:r>
              <a:rPr kumimoji="0" lang="ko-KR" altLang="en-US" sz="11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업무상 재해</a:t>
            </a:r>
            <a:r>
              <a:rPr kumimoji="0" lang="en-US" altLang="ko-KR" sz="11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)</a:t>
            </a:r>
          </a:p>
          <a:p>
            <a:pPr marL="285750" indent="-285750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11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사안에 따라 관련부서 협조</a:t>
            </a:r>
            <a:endParaRPr kumimoji="0" lang="en-US" altLang="ko-KR" sz="1100" b="1" kern="0" dirty="0">
              <a:solidFill>
                <a:sysClr val="windowText" lastClr="000000"/>
              </a:solidFill>
              <a:latin typeface="+mn-lt"/>
              <a:ea typeface="+mn-ea"/>
            </a:endParaRPr>
          </a:p>
          <a:p>
            <a:pPr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1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        (</a:t>
            </a:r>
            <a:r>
              <a:rPr kumimoji="0" lang="ko-KR" altLang="en-US" sz="11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법무팀</a:t>
            </a:r>
            <a:r>
              <a:rPr kumimoji="0" lang="en-US" altLang="ko-KR" sz="11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, </a:t>
            </a:r>
            <a:r>
              <a:rPr kumimoji="0" lang="ko-KR" altLang="en-US" sz="1100" b="1" kern="0" dirty="0">
                <a:solidFill>
                  <a:srgbClr val="FF0000"/>
                </a:solidFill>
                <a:latin typeface="+mn-lt"/>
                <a:ea typeface="+mn-ea"/>
              </a:rPr>
              <a:t>환자안전팀</a:t>
            </a:r>
            <a:r>
              <a:rPr kumimoji="0" lang="en-US" altLang="ko-KR" sz="11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, </a:t>
            </a:r>
            <a:r>
              <a:rPr kumimoji="0" lang="ko-KR" altLang="en-US" sz="11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원무팀</a:t>
            </a:r>
            <a:r>
              <a:rPr kumimoji="0" lang="en-US" altLang="ko-KR" sz="11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, </a:t>
            </a:r>
            <a:r>
              <a:rPr kumimoji="0" lang="ko-KR" altLang="en-US" sz="11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사무팀</a:t>
            </a:r>
            <a:r>
              <a:rPr kumimoji="0" lang="en-US" altLang="ko-KR" sz="1100" b="1" kern="0" dirty="0">
                <a:solidFill>
                  <a:sysClr val="windowText" lastClr="000000"/>
                </a:solidFill>
                <a:latin typeface="+mn-lt"/>
                <a:ea typeface="+mn-ea"/>
              </a:rPr>
              <a:t>)</a:t>
            </a:r>
          </a:p>
        </p:txBody>
      </p:sp>
      <p:cxnSp>
        <p:nvCxnSpPr>
          <p:cNvPr id="20" name="직선 화살표 연결선 19"/>
          <p:cNvCxnSpPr>
            <a:stCxn id="18" idx="2"/>
            <a:endCxn id="19" idx="0"/>
          </p:cNvCxnSpPr>
          <p:nvPr/>
        </p:nvCxnSpPr>
        <p:spPr bwMode="auto">
          <a:xfrm flipH="1">
            <a:off x="3547889" y="7201210"/>
            <a:ext cx="1437537" cy="75261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17" idx="2"/>
            <a:endCxn id="19" idx="0"/>
          </p:cNvCxnSpPr>
          <p:nvPr/>
        </p:nvCxnSpPr>
        <p:spPr bwMode="auto">
          <a:xfrm>
            <a:off x="1976122" y="7201211"/>
            <a:ext cx="1571767" cy="75261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>
            <a:stCxn id="10" idx="2"/>
            <a:endCxn id="7" idx="0"/>
          </p:cNvCxnSpPr>
          <p:nvPr/>
        </p:nvCxnSpPr>
        <p:spPr bwMode="auto">
          <a:xfrm flipH="1">
            <a:off x="3432097" y="2255448"/>
            <a:ext cx="11743" cy="102882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그림 24">
            <a:extLst>
              <a:ext uri="{FF2B5EF4-FFF2-40B4-BE49-F238E27FC236}">
                <a16:creationId xmlns:a16="http://schemas.microsoft.com/office/drawing/2014/main" id="{5A0B91CE-B5D1-4F2E-B304-923334C34A5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56" y="226936"/>
            <a:ext cx="1315894" cy="33234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Text Box 2">
            <a:extLst>
              <a:ext uri="{FF2B5EF4-FFF2-40B4-BE49-F238E27FC236}">
                <a16:creationId xmlns:a16="http://schemas.microsoft.com/office/drawing/2014/main" id="{B1CAF6EF-7242-4D45-BB22-83E0E5987225}"/>
              </a:ext>
            </a:extLst>
          </p:cNvPr>
          <p:cNvSpPr txBox="1"/>
          <p:nvPr/>
        </p:nvSpPr>
        <p:spPr>
          <a:xfrm>
            <a:off x="5927468" y="200472"/>
            <a:ext cx="597877" cy="249702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385"/>
              </a:spcBef>
              <a:spcAft>
                <a:spcPts val="1385"/>
              </a:spcAft>
            </a:pPr>
            <a:r>
              <a:rPr lang="ko-KR" altLang="en-US" sz="1015" kern="50" dirty="0">
                <a:solidFill>
                  <a:srgbClr val="FF0000"/>
                </a:solidFill>
                <a:latin typeface="바탕" panose="02030600000101010101" pitchFamily="18" charset="-127"/>
                <a:ea typeface="연세소제목체" panose="02030504000101010101" pitchFamily="18" charset="-127"/>
                <a:cs typeface="Times New Roman" panose="02020603050405020304" pitchFamily="18" charset="0"/>
              </a:rPr>
              <a:t>대외비</a:t>
            </a:r>
            <a:endParaRPr lang="ko-KR" altLang="en-US" sz="923" kern="50" dirty="0">
              <a:solidFill>
                <a:srgbClr val="000000"/>
              </a:solidFill>
              <a:latin typeface="바탕" panose="02030600000101010101" pitchFamily="18" charset="-127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15263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15487</TotalTime>
  <Words>138</Words>
  <Application>Microsoft Office PowerPoint</Application>
  <PresentationFormat>A4 용지(210x297mm)</PresentationFormat>
  <Paragraphs>32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1" baseType="lpstr">
      <vt:lpstr>연세소제목체</vt:lpstr>
      <vt:lpstr>굴림</vt:lpstr>
      <vt:lpstr>Calibri</vt:lpstr>
      <vt:lpstr>바탕</vt:lpstr>
      <vt:lpstr>맑은 고딕</vt:lpstr>
      <vt:lpstr>Arial</vt:lpstr>
      <vt:lpstr>-윤고딕340</vt:lpstr>
      <vt:lpstr>Times New Roman</vt:lpstr>
      <vt:lpstr>2_Office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김상태(이싱검진센터 추진단)</dc:creator>
  <cp:lastModifiedBy>진료혁신센터 공지사항</cp:lastModifiedBy>
  <cp:revision>1347</cp:revision>
  <cp:lastPrinted>2015-12-29T08:16:17Z</cp:lastPrinted>
  <dcterms:created xsi:type="dcterms:W3CDTF">2013-04-01T15:09:17Z</dcterms:created>
  <dcterms:modified xsi:type="dcterms:W3CDTF">2025-04-02T00:21:34Z</dcterms:modified>
</cp:coreProperties>
</file>