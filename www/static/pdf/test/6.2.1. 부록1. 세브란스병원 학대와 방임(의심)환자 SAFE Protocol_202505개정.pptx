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C8FCD-0202-4F05-9D32-2675DD8461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A9A2B0-53E1-479B-ADEC-E6D7B6A9F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0F3CB8-190F-4D8E-9B80-0F836E29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A98F1-938D-44E6-94FD-0739A856E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CDB46C-0D2C-407A-92F3-367CF993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07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AAC1C-6018-463D-9ABA-703A1753B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C6DE56-F19F-49C6-93BC-CF2D42BDD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A7E749-6EDC-4A07-9BF4-88E339B4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DBEB37-1868-41F0-82D9-261880D9F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1618B7-DFEA-4D0D-858A-13DB8F68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C689E-0677-4DB1-89CB-649F5DC6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91C7D2-B63E-4991-9F2F-3A59AA6BB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ACE3C9-F3C4-4E5E-B813-15F5D0176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4E724A-BB5D-46DF-A5B4-2E9885C92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BF0FFE-B585-4F49-A880-50BA72F5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60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922E7-002F-4A96-A23D-5089E78C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EFD0BA-0C84-4F63-BE36-89CB3200B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9D5933-1A37-47DB-B63E-FA9DA4297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88AF03-47A2-4221-80DE-D2A68708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9F000C-75DB-441D-9370-83BF37CA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30508A-B59B-4F2E-9F54-BB48C3F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701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424B3-A797-43E4-A92C-AD1065AB0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AC742C-EF80-43DA-BA28-BC0A593A7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1A5E1E-B7D3-425D-BAFB-2B0154C0C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6B890A-4C28-4A68-B0B9-3A2C0BBA5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4E8BF5-BF46-490A-9FBE-03B53DA95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5DD3977-94C5-4F08-8CBE-5353A03A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4650DD-1B72-4792-9AAC-F89809B47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30EC95-0913-4031-BAC6-6183F11D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74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6012DC-D30C-4259-B2D1-31B62B907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A084BB-ECAB-4B11-95FE-EF8A4815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D7F4ED-5FB9-489B-8855-F2611BC4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51F970-55E0-490F-BA17-6DA67067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272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F8888B-3FDA-4CA7-A371-833851CC1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5FE82B-20B5-4512-8F47-E5F49727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CF5259-D1CA-413E-A8D5-264C7E73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31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B6ADAD-E22A-4D34-982E-7DCAD708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69F83-E7F6-470C-9BDD-8DDC01408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2A5E0A-B9AD-4B97-BB36-B8AB2FEF5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AC99D2-E218-4848-8B9E-7D2F6175E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F457B8-D5F8-4EF4-BF32-74276097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B22A2-C827-47C1-9914-A703BA596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35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36024-CDD1-4303-B0C1-A6FBB52E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8F3391-F1B0-4E81-9E4F-07AABFB9C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2350B5-00BA-4060-8DB3-C084D111C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D52795-D449-4D5A-BA3A-527F5B75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0BBCD-E256-4838-9EEE-D823B8F9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EBBCA6-68B8-4D8D-BE80-D68A5CC1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422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FFA2C-27E4-49AE-AFE7-4FE2DE8C3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008BB6F-D11C-470E-BD45-791B6C047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8CFD5F-DBD4-4F8E-890B-DDD1BF82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AA3AF-DF57-439A-A6CD-95915C36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12BCD-9E8A-437B-B3C9-25E0F629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16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876301-ED02-499F-AF13-955A17126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B6C1DA-BB40-416D-8585-15FE4B123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F64A65-D7E7-47A7-942D-F6459B41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E32F36-C347-4AA2-B79F-8ABB2134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E64731-6332-4436-827A-E003B0BDE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91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8C2192-5907-42B7-BCDC-EB6527ACF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3C9BF6-04FA-4139-A034-33A160785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7E9514-474E-4BAA-BF67-C888EF055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8CE93-C909-4D80-BC59-CED77506C7B2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BEC11C-4A0E-49EB-8AF6-E2E7072F1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FB83F-469E-433F-B0FF-01B50C666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4AC5B-4804-4552-929D-C473B53C6B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40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1C65D23-D2B8-43F9-82F9-2D15656E1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609937"/>
              </p:ext>
            </p:extLst>
          </p:nvPr>
        </p:nvGraphicFramePr>
        <p:xfrm>
          <a:off x="7692008" y="4991988"/>
          <a:ext cx="4285677" cy="1192055"/>
        </p:xfrm>
        <a:graphic>
          <a:graphicData uri="http://schemas.openxmlformats.org/drawingml/2006/table">
            <a:tbl>
              <a:tblPr/>
              <a:tblGrid>
                <a:gridCol w="42856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61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ko-KR" sz="140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제정일</a:t>
                      </a:r>
                      <a:r>
                        <a:rPr lang="en-US" sz="1400" kern="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2010.2.</a:t>
                      </a:r>
                      <a:endParaRPr lang="ko-KR" sz="140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615">
                <a:tc>
                  <a:txBody>
                    <a:bodyPr/>
                    <a:lstStyle/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sz="14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개정일</a:t>
                      </a:r>
                      <a:r>
                        <a:rPr lang="en-US" sz="14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2010.12/2012.5/2012.8/2012.12/</a:t>
                      </a:r>
                    </a:p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2014.10/ 2015.4/2016.2/2017.3/</a:t>
                      </a:r>
                    </a:p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2021.1/2023.1/2025.5</a:t>
                      </a:r>
                      <a:endParaRPr lang="en-US" sz="1400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 latinLnBrk="0">
                        <a:spcAft>
                          <a:spcPts val="0"/>
                        </a:spcAft>
                      </a:pPr>
                      <a:r>
                        <a:rPr lang="ko-KR" altLang="en-US" sz="14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기안부서</a:t>
                      </a:r>
                      <a:r>
                        <a:rPr lang="en-US" altLang="ko-KR" sz="14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: SAFE(Stop</a:t>
                      </a:r>
                      <a:r>
                        <a:rPr lang="en-US" altLang="ko-KR" sz="1400" kern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Abuse For Everyone)</a:t>
                      </a:r>
                      <a:r>
                        <a:rPr lang="ko-KR" altLang="en-US" sz="1400" kern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팀</a:t>
                      </a:r>
                      <a:endParaRPr lang="ko-KR" sz="1400" kern="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92F3B3-CA50-4610-8DD3-7E5A3B7E7E78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41C2D407-94C7-4745-B2F7-4F567BD96A73}"/>
              </a:ext>
            </a:extLst>
          </p:cNvPr>
          <p:cNvSpPr txBox="1">
            <a:spLocks/>
          </p:cNvSpPr>
          <p:nvPr/>
        </p:nvSpPr>
        <p:spPr>
          <a:xfrm>
            <a:off x="1899148" y="1269984"/>
            <a:ext cx="8715404" cy="2857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세브란스병원</a:t>
            </a:r>
            <a:br>
              <a:rPr lang="en-US" altLang="ko-KR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ko-KR" altLang="en-US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학대와 방임 </a:t>
            </a:r>
            <a:r>
              <a:rPr lang="en-US" altLang="ko-KR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</a:t>
            </a:r>
            <a:r>
              <a:rPr lang="ko-KR" altLang="en-US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의심</a:t>
            </a:r>
            <a:r>
              <a:rPr lang="en-US" altLang="ko-KR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</a:t>
            </a:r>
            <a:r>
              <a:rPr lang="ko-KR" altLang="en-US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환자 </a:t>
            </a:r>
            <a:br>
              <a:rPr lang="en-US" altLang="ko-KR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SAFE</a:t>
            </a:r>
            <a:r>
              <a:rPr lang="en-US" altLang="ko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(Stop! Abuse For Everyone)</a:t>
            </a:r>
            <a:r>
              <a:rPr lang="en-US" altLang="ko-KR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Protocol</a:t>
            </a:r>
            <a:r>
              <a:rPr lang="ko-KR" altLang="en-US" sz="4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464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F02F2-C432-4883-9EBE-174402F7C92F}"/>
              </a:ext>
            </a:extLst>
          </p:cNvPr>
          <p:cNvSpPr txBox="1">
            <a:spLocks/>
          </p:cNvSpPr>
          <p:nvPr/>
        </p:nvSpPr>
        <p:spPr>
          <a:xfrm>
            <a:off x="717102" y="732667"/>
            <a:ext cx="7772400" cy="7143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600" dirty="0">
                <a:latin typeface="+mj-ea"/>
              </a:rPr>
              <a:t>1. SAFE </a:t>
            </a:r>
            <a:r>
              <a:rPr lang="ko-KR" altLang="en-US" sz="2600" dirty="0">
                <a:latin typeface="+mj-ea"/>
              </a:rPr>
              <a:t>팀 배경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C5841-12EB-4F17-9977-9694FA6C6093}"/>
              </a:ext>
            </a:extLst>
          </p:cNvPr>
          <p:cNvSpPr txBox="1"/>
          <p:nvPr/>
        </p:nvSpPr>
        <p:spPr>
          <a:xfrm>
            <a:off x="784836" y="1514780"/>
            <a:ext cx="9400563" cy="4061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</a:pPr>
            <a:r>
              <a:rPr lang="en-US" altLang="ko-KR" dirty="0">
                <a:latin typeface="+mj-ea"/>
                <a:ea typeface="+mj-ea"/>
              </a:rPr>
              <a:t>     1) </a:t>
            </a:r>
            <a:r>
              <a:rPr lang="ko-KR" altLang="en-US" dirty="0">
                <a:latin typeface="+mj-ea"/>
                <a:ea typeface="+mj-ea"/>
              </a:rPr>
              <a:t>다음의 법규에 따라 의료진은 학대와 방임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의심</a:t>
            </a:r>
            <a:r>
              <a:rPr lang="en-US" altLang="ko-KR" dirty="0">
                <a:latin typeface="+mj-ea"/>
                <a:ea typeface="+mj-ea"/>
              </a:rPr>
              <a:t>)</a:t>
            </a:r>
            <a:r>
              <a:rPr lang="ko-KR" altLang="en-US" dirty="0">
                <a:latin typeface="+mj-ea"/>
                <a:ea typeface="+mj-ea"/>
              </a:rPr>
              <a:t>환자의 신고를 충실히 할 의무가 있음</a:t>
            </a:r>
            <a:endParaRPr lang="en-US" altLang="ko-KR" dirty="0">
              <a:latin typeface="+mj-ea"/>
              <a:ea typeface="+mj-ea"/>
            </a:endParaRPr>
          </a:p>
          <a:p>
            <a:pPr marL="523875" indent="100013">
              <a:lnSpc>
                <a:spcPct val="12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 아동학대범죄의 처벌 등에 관한 특례법 제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아동학대범죄 신고의무와 절차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  <a:p>
            <a:pPr marL="523875" indent="100013">
              <a:lnSpc>
                <a:spcPct val="120000"/>
              </a:lnSpc>
              <a:buFont typeface="Wingdings" pitchFamily="2" charset="2"/>
              <a:buChar char="§"/>
            </a:pPr>
            <a:r>
              <a:rPr lang="ko-KR" altLang="en-US" dirty="0">
                <a:latin typeface="+mn-ea"/>
              </a:rPr>
              <a:t> 노인복지법 제</a:t>
            </a:r>
            <a:r>
              <a:rPr lang="en-US" altLang="ko-KR" dirty="0">
                <a:latin typeface="+mn-ea"/>
              </a:rPr>
              <a:t>39</a:t>
            </a:r>
            <a:r>
              <a:rPr lang="ko-KR" altLang="en-US" dirty="0">
                <a:latin typeface="+mn-ea"/>
              </a:rPr>
              <a:t>조의</a:t>
            </a:r>
            <a:r>
              <a:rPr lang="en-US" altLang="ko-KR" dirty="0">
                <a:latin typeface="+mn-ea"/>
              </a:rPr>
              <a:t>6(</a:t>
            </a:r>
            <a:r>
              <a:rPr lang="ko-KR" altLang="en-US" dirty="0">
                <a:latin typeface="+mn-ea"/>
              </a:rPr>
              <a:t>노인학대 신고의무와 절차 등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  <a:p>
            <a:pPr marL="523875" indent="100013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성폭력방지 및 피해자보호 등에 관한 법률 제</a:t>
            </a:r>
            <a:r>
              <a:rPr lang="en-US" altLang="ko-KR" dirty="0">
                <a:latin typeface="+mn-ea"/>
              </a:rPr>
              <a:t>9</a:t>
            </a:r>
            <a:r>
              <a:rPr lang="ko-KR" altLang="en-US" dirty="0">
                <a:latin typeface="+mn-ea"/>
              </a:rPr>
              <a:t>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신고의무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등</a:t>
            </a:r>
            <a:endParaRPr lang="en-US" altLang="ko-KR" dirty="0">
              <a:latin typeface="+mn-ea"/>
            </a:endParaRPr>
          </a:p>
          <a:p>
            <a:pPr marL="523875" indent="100013">
              <a:lnSpc>
                <a:spcPct val="120000"/>
              </a:lnSpc>
              <a:buFont typeface="Wingdings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20000"/>
              </a:lnSpc>
            </a:pPr>
            <a:r>
              <a:rPr lang="en-US" altLang="ko-KR" dirty="0">
                <a:latin typeface="+mj-ea"/>
                <a:ea typeface="+mj-ea"/>
              </a:rPr>
              <a:t>     2) JCI </a:t>
            </a:r>
            <a:r>
              <a:rPr lang="ko-KR" altLang="en-US" dirty="0">
                <a:latin typeface="+mj-ea"/>
                <a:ea typeface="+mj-ea"/>
              </a:rPr>
              <a:t>기준</a:t>
            </a:r>
            <a:endParaRPr lang="en-US" altLang="ko-KR" dirty="0">
              <a:latin typeface="+mj-ea"/>
              <a:ea typeface="+mj-ea"/>
            </a:endParaRPr>
          </a:p>
          <a:p>
            <a:pPr marL="452438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+mn-ea"/>
              </a:rPr>
              <a:t> AOP. 1.6 </a:t>
            </a:r>
            <a:r>
              <a:rPr lang="ko-KR" altLang="en-US" dirty="0">
                <a:latin typeface="+mn-ea"/>
              </a:rPr>
              <a:t>학대와 방임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의심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환자의 맞춤화된 초기평가 시행</a:t>
            </a:r>
            <a:endParaRPr lang="en-US" altLang="ko-KR" dirty="0">
              <a:latin typeface="+mn-ea"/>
            </a:endParaRPr>
          </a:p>
          <a:p>
            <a:pPr marL="450850" indent="109538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+mn-ea"/>
              </a:rPr>
              <a:t> COP. 3 </a:t>
            </a:r>
            <a:r>
              <a:rPr lang="ko-KR" altLang="en-US" dirty="0">
                <a:latin typeface="+mn-ea"/>
              </a:rPr>
              <a:t>학대의 위험이 있는 환자 진료가 내규와 절차를 따름</a:t>
            </a:r>
            <a:endParaRPr lang="en-US" altLang="ko-KR" dirty="0">
              <a:latin typeface="+mn-ea"/>
            </a:endParaRPr>
          </a:p>
          <a:p>
            <a:pPr marL="452438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+mn-ea"/>
              </a:rPr>
              <a:t> PFR .1.5 </a:t>
            </a:r>
            <a:r>
              <a:rPr lang="ko-KR" altLang="en-US" dirty="0">
                <a:latin typeface="+mn-ea"/>
              </a:rPr>
              <a:t>폭력으로 부터 환자를 보호하는 절차가 있음</a:t>
            </a:r>
            <a:endParaRPr lang="en-US" altLang="ko-KR" dirty="0">
              <a:latin typeface="+mn-ea"/>
            </a:endParaRPr>
          </a:p>
          <a:p>
            <a:pPr marL="342900" indent="195263">
              <a:lnSpc>
                <a:spcPct val="120000"/>
              </a:lnSpc>
              <a:tabLst>
                <a:tab pos="268288" algn="l"/>
              </a:tabLst>
            </a:pP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20000"/>
              </a:lnSpc>
            </a:pPr>
            <a:r>
              <a:rPr lang="en-US" altLang="ko-KR" dirty="0">
                <a:latin typeface="+mj-ea"/>
                <a:ea typeface="+mj-ea"/>
              </a:rPr>
              <a:t>     3) </a:t>
            </a:r>
            <a:r>
              <a:rPr lang="ko-KR" altLang="en-US" dirty="0">
                <a:latin typeface="+mj-ea"/>
                <a:ea typeface="+mj-ea"/>
              </a:rPr>
              <a:t>의료기관인증평가 </a:t>
            </a:r>
            <a:endParaRPr lang="en-US" altLang="ko-KR" dirty="0">
              <a:latin typeface="+mj-ea"/>
              <a:ea typeface="+mj-ea"/>
            </a:endParaRPr>
          </a:p>
          <a:p>
            <a:pPr marL="450850" indent="109538">
              <a:lnSpc>
                <a:spcPct val="120000"/>
              </a:lnSpc>
              <a:buFont typeface="Wingdings" pitchFamily="2" charset="2"/>
              <a:buChar char="§"/>
            </a:pPr>
            <a:r>
              <a:rPr lang="en-US" altLang="ko-KR" dirty="0">
                <a:latin typeface="+mn-ea"/>
              </a:rPr>
              <a:t> 6.2.1. </a:t>
            </a:r>
            <a:r>
              <a:rPr lang="ko-KR" altLang="en-US" dirty="0">
                <a:latin typeface="+mn-ea"/>
              </a:rPr>
              <a:t>관련법에 따른 학대 및 폭력피해자를 위한 보고 및 지원체계를 숙지하고 있어야 함</a:t>
            </a:r>
            <a:endParaRPr lang="en-US" altLang="ko-KR" dirty="0"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7395F4-E38B-461E-AC4B-C3218716E26C}"/>
              </a:ext>
            </a:extLst>
          </p:cNvPr>
          <p:cNvSpPr/>
          <p:nvPr/>
        </p:nvSpPr>
        <p:spPr>
          <a:xfrm>
            <a:off x="1238748" y="6112333"/>
            <a:ext cx="614366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ko-KR" sz="1200" dirty="0">
                <a:latin typeface="+mj-ea"/>
                <a:ea typeface="+mj-ea"/>
              </a:rPr>
              <a:t>* SAFE: Stop Abuse For Everyone, </a:t>
            </a:r>
            <a:r>
              <a:rPr lang="ko-KR" altLang="en-US" sz="1200" dirty="0">
                <a:latin typeface="+mj-ea"/>
                <a:ea typeface="+mj-ea"/>
              </a:rPr>
              <a:t>학대와 방임 </a:t>
            </a:r>
            <a:r>
              <a:rPr lang="ko-KR" altLang="en-US" sz="1200" dirty="0" err="1">
                <a:latin typeface="+mj-ea"/>
                <a:ea typeface="+mj-ea"/>
              </a:rPr>
              <a:t>전담팀명</a:t>
            </a:r>
            <a:endParaRPr lang="en-US" altLang="ko-KR" sz="120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AA1B0E5-891B-4BB9-88B7-94F4BF1B3267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014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6D9AD5-123E-489F-8733-58A8C3548D55}"/>
              </a:ext>
            </a:extLst>
          </p:cNvPr>
          <p:cNvSpPr txBox="1"/>
          <p:nvPr/>
        </p:nvSpPr>
        <p:spPr>
          <a:xfrm>
            <a:off x="887480" y="745787"/>
            <a:ext cx="7813532" cy="946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</a:pPr>
            <a:r>
              <a:rPr lang="en-US" altLang="ko-KR" sz="2600" dirty="0">
                <a:latin typeface="+mj-ea"/>
                <a:ea typeface="+mj-ea"/>
              </a:rPr>
              <a:t>2. SAFE</a:t>
            </a:r>
            <a:r>
              <a:rPr lang="ko-KR" altLang="en-US" sz="2600" dirty="0">
                <a:latin typeface="+mj-ea"/>
                <a:ea typeface="+mj-ea"/>
              </a:rPr>
              <a:t>란</a:t>
            </a:r>
            <a:r>
              <a:rPr lang="en-US" altLang="ko-KR" sz="2600" dirty="0">
                <a:latin typeface="+mj-ea"/>
                <a:ea typeface="+mj-ea"/>
              </a:rPr>
              <a:t>?</a:t>
            </a:r>
          </a:p>
          <a:p>
            <a:pPr marL="514350" indent="-514350">
              <a:lnSpc>
                <a:spcPct val="130000"/>
              </a:lnSpc>
            </a:pPr>
            <a:r>
              <a:rPr lang="en-US" altLang="ko-KR" dirty="0">
                <a:latin typeface="+mn-ea"/>
              </a:rPr>
              <a:t>      - </a:t>
            </a:r>
            <a:r>
              <a:rPr lang="ko-KR" altLang="en-US" dirty="0">
                <a:latin typeface="+mn-ea"/>
              </a:rPr>
              <a:t>학대와 방임 </a:t>
            </a:r>
            <a:r>
              <a:rPr lang="ko-KR" altLang="en-US" dirty="0" err="1">
                <a:latin typeface="+mn-ea"/>
              </a:rPr>
              <a:t>전담팀명으로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Stop Abuse For Everyone</a:t>
            </a:r>
            <a:r>
              <a:rPr lang="ko-KR" altLang="en-US" dirty="0">
                <a:latin typeface="+mn-ea"/>
              </a:rPr>
              <a:t>의 약자임</a:t>
            </a:r>
            <a:endParaRPr lang="en-US" altLang="ko-KR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4F9A7-31BC-4272-92F6-4547FA4B25DC}"/>
              </a:ext>
            </a:extLst>
          </p:cNvPr>
          <p:cNvSpPr txBox="1"/>
          <p:nvPr/>
        </p:nvSpPr>
        <p:spPr>
          <a:xfrm>
            <a:off x="887480" y="2014105"/>
            <a:ext cx="8764519" cy="3973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</a:pPr>
            <a:r>
              <a:rPr lang="en-US" altLang="ko-KR" sz="2600" dirty="0">
                <a:latin typeface="+mj-ea"/>
                <a:ea typeface="+mj-ea"/>
              </a:rPr>
              <a:t>3. </a:t>
            </a:r>
            <a:r>
              <a:rPr lang="ko-KR" altLang="en-US" sz="2600" dirty="0">
                <a:latin typeface="+mj-ea"/>
                <a:ea typeface="+mj-ea"/>
              </a:rPr>
              <a:t>정의</a:t>
            </a:r>
            <a:endParaRPr lang="en-US" altLang="ko-KR" sz="2600" dirty="0">
              <a:latin typeface="+mj-ea"/>
              <a:ea typeface="+mj-ea"/>
            </a:endParaRPr>
          </a:p>
          <a:p>
            <a:pPr marL="514350" indent="-514350">
              <a:lnSpc>
                <a:spcPct val="130000"/>
              </a:lnSpc>
            </a:pPr>
            <a:r>
              <a:rPr lang="en-US" altLang="ko-KR" sz="2000" dirty="0">
                <a:latin typeface="+mj-ea"/>
                <a:ea typeface="+mj-ea"/>
              </a:rPr>
              <a:t>     1) </a:t>
            </a:r>
            <a:r>
              <a:rPr lang="ko-KR" altLang="en-US" sz="2000" dirty="0">
                <a:latin typeface="+mj-ea"/>
                <a:ea typeface="+mj-ea"/>
              </a:rPr>
              <a:t>학대</a:t>
            </a:r>
            <a:r>
              <a:rPr lang="en-US" altLang="ko-KR" sz="2000" dirty="0">
                <a:latin typeface="+mj-ea"/>
                <a:ea typeface="+mj-ea"/>
              </a:rPr>
              <a:t>(Abuse)</a:t>
            </a:r>
          </a:p>
          <a:p>
            <a:pPr latinLnBrk="0">
              <a:lnSpc>
                <a:spcPct val="130000"/>
              </a:lnSpc>
            </a:pPr>
            <a:r>
              <a:rPr lang="en-US" altLang="ko-KR" dirty="0">
                <a:latin typeface="+mn-ea"/>
              </a:rPr>
              <a:t>         </a:t>
            </a:r>
            <a:r>
              <a:rPr lang="ko-KR" altLang="ko-KR" dirty="0">
                <a:latin typeface="+mn-ea"/>
              </a:rPr>
              <a:t>개인의 신체적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정신적 </a:t>
            </a:r>
            <a:r>
              <a:rPr lang="ko-KR" altLang="ko-KR" dirty="0" err="1">
                <a:latin typeface="+mn-ea"/>
              </a:rPr>
              <a:t>위해를</a:t>
            </a:r>
            <a:r>
              <a:rPr lang="ko-KR" altLang="ko-KR" dirty="0">
                <a:latin typeface="+mn-ea"/>
              </a:rPr>
              <a:t> 가하는 행위로 성적 학대 및 폭력에 국한되지 </a:t>
            </a:r>
            <a:endParaRPr lang="en-US" altLang="ko-KR" dirty="0"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dirty="0">
                <a:latin typeface="+mn-ea"/>
              </a:rPr>
              <a:t>         </a:t>
            </a:r>
            <a:r>
              <a:rPr lang="ko-KR" altLang="ko-KR" dirty="0">
                <a:latin typeface="+mn-ea"/>
              </a:rPr>
              <a:t>않으며 개인의 건강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자기 결정권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정서적 안정 상태 등에 위협을 가할 수 </a:t>
            </a:r>
            <a:endParaRPr lang="en-US" altLang="ko-KR" dirty="0"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dirty="0">
                <a:latin typeface="+mn-ea"/>
              </a:rPr>
              <a:t>         </a:t>
            </a:r>
            <a:r>
              <a:rPr lang="ko-KR" altLang="ko-KR" dirty="0">
                <a:latin typeface="+mn-ea"/>
              </a:rPr>
              <a:t>있는 모든 가혹행위</a:t>
            </a:r>
            <a:endParaRPr lang="en-US" altLang="ko-KR" dirty="0">
              <a:latin typeface="+mn-ea"/>
            </a:endParaRPr>
          </a:p>
          <a:p>
            <a:pPr marL="514350" indent="-514350">
              <a:lnSpc>
                <a:spcPct val="130000"/>
              </a:lnSpc>
            </a:pPr>
            <a:r>
              <a:rPr lang="en-US" altLang="ko-KR" sz="2000" dirty="0">
                <a:latin typeface="+mj-ea"/>
                <a:ea typeface="+mj-ea"/>
              </a:rPr>
              <a:t>      </a:t>
            </a:r>
          </a:p>
          <a:p>
            <a:pPr marL="514350" indent="-514350">
              <a:lnSpc>
                <a:spcPct val="130000"/>
              </a:lnSpc>
            </a:pPr>
            <a:r>
              <a:rPr lang="en-US" altLang="ko-KR" sz="2000" dirty="0">
                <a:latin typeface="+mj-ea"/>
                <a:ea typeface="+mj-ea"/>
              </a:rPr>
              <a:t>      2) </a:t>
            </a:r>
            <a:r>
              <a:rPr lang="ko-KR" altLang="en-US" sz="2000" dirty="0">
                <a:latin typeface="+mj-ea"/>
                <a:ea typeface="+mj-ea"/>
              </a:rPr>
              <a:t>방임</a:t>
            </a:r>
            <a:r>
              <a:rPr lang="en-US" altLang="ko-KR" sz="2000" dirty="0">
                <a:latin typeface="+mj-ea"/>
                <a:ea typeface="+mj-ea"/>
              </a:rPr>
              <a:t>(Neglect)</a:t>
            </a:r>
          </a:p>
          <a:p>
            <a:pPr latinLnBrk="0">
              <a:lnSpc>
                <a:spcPct val="130000"/>
              </a:lnSpc>
            </a:pPr>
            <a:r>
              <a:rPr lang="en-US" altLang="ko-KR" dirty="0">
                <a:latin typeface="+mn-ea"/>
              </a:rPr>
              <a:t>         </a:t>
            </a:r>
            <a:r>
              <a:rPr lang="ko-KR" altLang="ko-KR" dirty="0">
                <a:latin typeface="+mn-ea"/>
              </a:rPr>
              <a:t>부모나 주 양육자가 필수적인 의식주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양육 및 상해와 질병에 대한 적절한 </a:t>
            </a:r>
            <a:r>
              <a:rPr lang="en-US" altLang="ko-KR" dirty="0">
                <a:latin typeface="+mn-ea"/>
              </a:rPr>
              <a:t>   </a:t>
            </a:r>
          </a:p>
          <a:p>
            <a:pPr latinLnBrk="0">
              <a:lnSpc>
                <a:spcPct val="130000"/>
              </a:lnSpc>
            </a:pPr>
            <a:r>
              <a:rPr lang="en-US" altLang="ko-KR" dirty="0">
                <a:latin typeface="+mn-ea"/>
              </a:rPr>
              <a:t>         </a:t>
            </a:r>
            <a:r>
              <a:rPr lang="ko-KR" altLang="ko-KR" dirty="0">
                <a:latin typeface="+mn-ea"/>
              </a:rPr>
              <a:t>치료를 제공하지 않아 개인의 신체적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정신적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ko-KR" dirty="0">
                <a:latin typeface="+mn-ea"/>
              </a:rPr>
              <a:t>정서적 건강에 위협 및 </a:t>
            </a:r>
            <a:endParaRPr lang="en-US" altLang="ko-KR" dirty="0"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dirty="0">
                <a:latin typeface="+mn-ea"/>
              </a:rPr>
              <a:t>         </a:t>
            </a:r>
            <a:r>
              <a:rPr lang="ko-KR" altLang="ko-KR" dirty="0">
                <a:latin typeface="+mn-ea"/>
              </a:rPr>
              <a:t>손상을 야기한 경우</a:t>
            </a:r>
            <a:endParaRPr lang="en-US" altLang="ko-KR" sz="2400" dirty="0"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79DFFB-CDCC-4396-8933-EB00F9B095A5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1406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2FD885-795E-4E3E-B87A-AD6547E3019E}"/>
              </a:ext>
            </a:extLst>
          </p:cNvPr>
          <p:cNvSpPr txBox="1"/>
          <p:nvPr/>
        </p:nvSpPr>
        <p:spPr>
          <a:xfrm>
            <a:off x="928821" y="461041"/>
            <a:ext cx="487035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600" dirty="0">
                <a:latin typeface="+mj-ea"/>
                <a:ea typeface="+mj-ea"/>
              </a:rPr>
              <a:t>4. SAFE Indication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3ECF903-3FDF-4837-B7A4-CE47E1D04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473979"/>
              </p:ext>
            </p:extLst>
          </p:nvPr>
        </p:nvGraphicFramePr>
        <p:xfrm>
          <a:off x="1423201" y="1243929"/>
          <a:ext cx="9752797" cy="49599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98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8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Indication</a:t>
                      </a:r>
                      <a:endParaRPr lang="ko-KR" altLang="en-US" sz="18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+mj-ea"/>
                          <a:ea typeface="+mj-ea"/>
                        </a:rPr>
                        <a:t>신체적 학대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 발생 및 회복에 시간차가 있는 설명하기 어려운 상처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열상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화상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골절 등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Shaken baby Syndrome(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경련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망막출혈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+mj-ea"/>
                          <a:ea typeface="+mj-ea"/>
                        </a:rPr>
                        <a:t>성적 학대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성기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나 항문의 이물질 또는 상처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소아청소년의 임신하거나 성병에 감염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타인으로부터의 성적 추행 경험</a:t>
                      </a:r>
                      <a:endParaRPr lang="en-US" altLang="ko-KR" sz="1600" b="0" baseline="0" dirty="0">
                        <a:latin typeface="+mn-ea"/>
                        <a:ea typeface="+mn-ea"/>
                      </a:endParaRP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타인으로부터 동의 없이 촬영당하거나 촬영 당한 영상물을 유포 또는 유포 협박당한 경험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0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+mj-ea"/>
                          <a:ea typeface="+mj-ea"/>
                        </a:rPr>
                        <a:t>정서적 학대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비정상적인 위축 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or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지나치게 공격적인 행동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or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양육자와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 부적절한 유대관계</a:t>
                      </a:r>
                      <a:endParaRPr lang="en-US" altLang="ko-KR" sz="1600" b="0" baseline="0" dirty="0">
                        <a:latin typeface="+mn-ea"/>
                        <a:ea typeface="+mn-ea"/>
                      </a:endParaRP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자살시도</a:t>
                      </a:r>
                      <a:endParaRPr lang="ko-KR" altLang="en-US" sz="16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7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+mj-ea"/>
                          <a:ea typeface="+mj-ea"/>
                        </a:rPr>
                        <a:t>노인 및 아동</a:t>
                      </a:r>
                      <a:r>
                        <a:rPr lang="ko-KR" altLang="en-US" sz="1600" b="0" baseline="0" dirty="0">
                          <a:latin typeface="+mj-ea"/>
                          <a:ea typeface="+mj-ea"/>
                        </a:rPr>
                        <a:t> 방임</a:t>
                      </a:r>
                      <a:endParaRPr lang="ko-KR" altLang="en-US" sz="1600" b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개인 위생상태가 불량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의복 부적절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계절에 맞지 않는 등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영양불량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발육부진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적절한 의료를 받으려는 노력이 적극적이지 않음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29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latin typeface="+mj-ea"/>
                          <a:ea typeface="+mj-ea"/>
                        </a:rPr>
                        <a:t>가족 내 폭력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dirty="0">
                          <a:latin typeface="+mn-ea"/>
                          <a:ea typeface="+mn-ea"/>
                        </a:rPr>
                        <a:t>설명하는 원인과 일치하지 않는 상처</a:t>
                      </a:r>
                      <a:r>
                        <a:rPr lang="en-US" altLang="ko-KR" sz="16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열상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화상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골절 등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>
                        <a:buFont typeface="Wingdings" pitchFamily="2" charset="2"/>
                        <a:buChar char="§"/>
                      </a:pP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0" baseline="0" dirty="0">
                          <a:latin typeface="+mn-ea"/>
                          <a:ea typeface="+mn-ea"/>
                        </a:rPr>
                        <a:t>적절한 의료를 받으려는 노력이 적극적이지 않음</a:t>
                      </a:r>
                      <a:r>
                        <a:rPr lang="en-US" altLang="ko-KR" sz="1600" b="0" baseline="0" dirty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6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D0ABB39-3A57-4EEF-BC44-A384458F69F4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5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F8B79D-1F95-45CF-8A05-9528093782A3}"/>
              </a:ext>
            </a:extLst>
          </p:cNvPr>
          <p:cNvSpPr txBox="1"/>
          <p:nvPr/>
        </p:nvSpPr>
        <p:spPr>
          <a:xfrm>
            <a:off x="911920" y="497020"/>
            <a:ext cx="33575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latin typeface="+mj-ea"/>
                <a:ea typeface="+mj-ea"/>
              </a:rPr>
              <a:t>5. SAFE Process</a:t>
            </a:r>
            <a:endParaRPr lang="ko-KR" altLang="en-US" sz="2600" dirty="0">
              <a:latin typeface="+mj-ea"/>
              <a:ea typeface="+mj-ea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07CEC86-5386-4B6E-801D-A260864BB492}"/>
              </a:ext>
            </a:extLst>
          </p:cNvPr>
          <p:cNvCxnSpPr/>
          <p:nvPr/>
        </p:nvCxnSpPr>
        <p:spPr>
          <a:xfrm rot="5400000">
            <a:off x="8387782" y="3163515"/>
            <a:ext cx="35719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5A75E2E-0065-4645-BFD2-A638A8EF7A89}"/>
              </a:ext>
            </a:extLst>
          </p:cNvPr>
          <p:cNvCxnSpPr/>
          <p:nvPr/>
        </p:nvCxnSpPr>
        <p:spPr>
          <a:xfrm rot="5400000">
            <a:off x="3928243" y="3144511"/>
            <a:ext cx="35719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E1A945-B260-45B4-B076-7A55FFEEF43E}"/>
              </a:ext>
            </a:extLst>
          </p:cNvPr>
          <p:cNvSpPr/>
          <p:nvPr/>
        </p:nvSpPr>
        <p:spPr>
          <a:xfrm>
            <a:off x="2003719" y="2353561"/>
            <a:ext cx="8578702" cy="50006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+mj-ea"/>
                <a:ea typeface="+mj-ea"/>
              </a:rPr>
              <a:t>SAFE Activation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F9EF61F-E116-46A2-91E7-FC2C38FBC275}"/>
              </a:ext>
            </a:extLst>
          </p:cNvPr>
          <p:cNvCxnSpPr/>
          <p:nvPr/>
        </p:nvCxnSpPr>
        <p:spPr>
          <a:xfrm rot="5400000">
            <a:off x="6114580" y="2075436"/>
            <a:ext cx="35719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51">
            <a:extLst>
              <a:ext uri="{FF2B5EF4-FFF2-40B4-BE49-F238E27FC236}">
                <a16:creationId xmlns:a16="http://schemas.microsoft.com/office/drawing/2014/main" id="{3F659DA4-A69B-4995-B5D5-BC0B630C1E24}"/>
              </a:ext>
            </a:extLst>
          </p:cNvPr>
          <p:cNvSpPr/>
          <p:nvPr/>
        </p:nvSpPr>
        <p:spPr>
          <a:xfrm>
            <a:off x="2003719" y="3561043"/>
            <a:ext cx="4395388" cy="500066"/>
          </a:xfrm>
          <a:prstGeom prst="roundRect">
            <a:avLst>
              <a:gd name="adj" fmla="val 10159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  <a:latin typeface="+mj-ea"/>
                <a:ea typeface="+mj-ea"/>
              </a:rPr>
              <a:t>SAFE</a:t>
            </a:r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팀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(TEAMS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</a:rPr>
              <a:t>발송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):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</a:rPr>
              <a:t>자문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j-ea"/>
                <a:ea typeface="+mj-ea"/>
              </a:rPr>
              <a:t>감독</a:t>
            </a:r>
            <a:r>
              <a:rPr lang="en-US" altLang="ko-KR" sz="1400" b="1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endParaRPr lang="ko-KR" altLang="en-US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모서리가 둥근 직사각형 56">
            <a:extLst>
              <a:ext uri="{FF2B5EF4-FFF2-40B4-BE49-F238E27FC236}">
                <a16:creationId xmlns:a16="http://schemas.microsoft.com/office/drawing/2014/main" id="{10654401-E626-4113-9B8F-2F06CC257A4D}"/>
              </a:ext>
            </a:extLst>
          </p:cNvPr>
          <p:cNvSpPr/>
          <p:nvPr/>
        </p:nvSpPr>
        <p:spPr>
          <a:xfrm>
            <a:off x="6582144" y="3551876"/>
            <a:ext cx="1985027" cy="5184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  <a:latin typeface="+mj-ea"/>
                <a:ea typeface="+mj-ea"/>
              </a:rPr>
              <a:t>주 </a:t>
            </a:r>
            <a:r>
              <a:rPr lang="ko-KR" altLang="en-US" sz="1600" b="1" dirty="0" err="1">
                <a:solidFill>
                  <a:schemeClr val="tx1"/>
                </a:solidFill>
                <a:latin typeface="+mj-ea"/>
                <a:ea typeface="+mj-ea"/>
              </a:rPr>
              <a:t>진료과</a:t>
            </a:r>
            <a:endParaRPr lang="ko-KR" altLang="en-US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5" name="모서리가 둥근 직사각형 57">
            <a:extLst>
              <a:ext uri="{FF2B5EF4-FFF2-40B4-BE49-F238E27FC236}">
                <a16:creationId xmlns:a16="http://schemas.microsoft.com/office/drawing/2014/main" id="{DBA271D3-0901-4E5A-A65F-1B964921C627}"/>
              </a:ext>
            </a:extLst>
          </p:cNvPr>
          <p:cNvSpPr/>
          <p:nvPr/>
        </p:nvSpPr>
        <p:spPr>
          <a:xfrm>
            <a:off x="8568009" y="3546877"/>
            <a:ext cx="2012822" cy="519816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 err="1">
                <a:solidFill>
                  <a:schemeClr val="tx1"/>
                </a:solidFill>
                <a:latin typeface="+mj-ea"/>
                <a:ea typeface="+mj-ea"/>
              </a:rPr>
              <a:t>간호팀</a:t>
            </a:r>
            <a:endParaRPr lang="ko-KR" altLang="en-US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71C7CD8-5554-4D82-B18A-FF1C917AD38C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20" name="모서리가 둥근 직사각형 51">
            <a:extLst>
              <a:ext uri="{FF2B5EF4-FFF2-40B4-BE49-F238E27FC236}">
                <a16:creationId xmlns:a16="http://schemas.microsoft.com/office/drawing/2014/main" id="{CBBF2EC6-2A26-4849-90ED-E20EAC92DBC0}"/>
              </a:ext>
            </a:extLst>
          </p:cNvPr>
          <p:cNvSpPr/>
          <p:nvPr/>
        </p:nvSpPr>
        <p:spPr>
          <a:xfrm>
            <a:off x="4089824" y="1255449"/>
            <a:ext cx="4395388" cy="500066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  <a:latin typeface="+mj-ea"/>
                <a:ea typeface="+mj-ea"/>
              </a:rPr>
              <a:t>학대와 방임</a:t>
            </a:r>
            <a:r>
              <a:rPr lang="en-US" altLang="ko-KR" sz="160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1600" dirty="0">
                <a:solidFill>
                  <a:schemeClr val="tx1"/>
                </a:solidFill>
                <a:latin typeface="+mj-ea"/>
                <a:ea typeface="+mj-ea"/>
              </a:rPr>
              <a:t>의심</a:t>
            </a:r>
            <a:r>
              <a:rPr lang="en-US" altLang="ko-KR" sz="160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r>
              <a:rPr lang="ko-KR" altLang="en-US" sz="1600" dirty="0">
                <a:solidFill>
                  <a:schemeClr val="tx1"/>
                </a:solidFill>
                <a:latin typeface="+mj-ea"/>
                <a:ea typeface="+mj-ea"/>
              </a:rPr>
              <a:t> 환자 발생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F439E0-2244-485E-B938-59158A1C3A6B}"/>
              </a:ext>
            </a:extLst>
          </p:cNvPr>
          <p:cNvSpPr/>
          <p:nvPr/>
        </p:nvSpPr>
        <p:spPr>
          <a:xfrm>
            <a:off x="2003719" y="4070276"/>
            <a:ext cx="2086943" cy="14157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B2F10-B188-409D-AD00-4A7CC683D21D}"/>
              </a:ext>
            </a:extLst>
          </p:cNvPr>
          <p:cNvSpPr txBox="1"/>
          <p:nvPr/>
        </p:nvSpPr>
        <p:spPr>
          <a:xfrm>
            <a:off x="2117559" y="4184243"/>
            <a:ext cx="189667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ExtraBold"/>
                <a:ea typeface="나눔스퀘어 ExtraBold"/>
                <a:cs typeface="+mn-cs"/>
              </a:rPr>
              <a:t>SAFE</a:t>
            </a:r>
            <a:r>
              <a:rPr kumimoji="0" lang="ko-KR" alt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ExtraBold"/>
                <a:ea typeface="나눔스퀘어 ExtraBold"/>
                <a:cs typeface="+mn-cs"/>
              </a:rPr>
              <a:t>팀장</a:t>
            </a:r>
            <a:endParaRPr kumimoji="0" lang="en-US" altLang="ko-KR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SAFE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팀 및 진료팀과 논의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SAFE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팀 회의 주관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6CAD07-71B9-4315-8FCA-AD8DD128A334}"/>
              </a:ext>
            </a:extLst>
          </p:cNvPr>
          <p:cNvSpPr/>
          <p:nvPr/>
        </p:nvSpPr>
        <p:spPr>
          <a:xfrm>
            <a:off x="4121793" y="4070276"/>
            <a:ext cx="2261857" cy="14157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FA42F-1EDA-436A-9A5A-7968415A9DCE}"/>
              </a:ext>
            </a:extLst>
          </p:cNvPr>
          <p:cNvSpPr txBox="1"/>
          <p:nvPr/>
        </p:nvSpPr>
        <p:spPr>
          <a:xfrm>
            <a:off x="4150368" y="4174192"/>
            <a:ext cx="223328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ExtraBold"/>
                <a:ea typeface="나눔스퀘어 ExtraBold"/>
                <a:cs typeface="+mn-cs"/>
              </a:rPr>
              <a:t>사회사업팀</a:t>
            </a:r>
            <a:r>
              <a:rPr kumimoji="0" lang="en-US" altLang="ko-KR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ExtraBold"/>
                <a:ea typeface="나눔스퀘어 ExtraBold"/>
                <a:cs typeface="+mn-cs"/>
              </a:rPr>
              <a:t>(</a:t>
            </a:r>
            <a:r>
              <a:rPr kumimoji="0" lang="ko-KR" alt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ExtraBold"/>
                <a:ea typeface="나눔스퀘어 ExtraBold"/>
                <a:cs typeface="+mn-cs"/>
              </a:rPr>
              <a:t>간사</a:t>
            </a:r>
            <a:r>
              <a:rPr kumimoji="0" lang="en-US" altLang="ko-KR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ExtraBold"/>
                <a:ea typeface="나눔스퀘어 ExtraBold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초기평가 및 재평가 시행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학대와 방임 사례 접수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관리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상황에 따라 관련 공공기관 신고</a:t>
            </a:r>
            <a:endParaRPr kumimoji="0" lang="en-US" altLang="ko-KR" sz="12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추후관리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F47E1F-CF18-4883-AB83-28C78483D0DE}"/>
              </a:ext>
            </a:extLst>
          </p:cNvPr>
          <p:cNvSpPr/>
          <p:nvPr/>
        </p:nvSpPr>
        <p:spPr>
          <a:xfrm>
            <a:off x="6605949" y="4067895"/>
            <a:ext cx="1903867" cy="1415772"/>
          </a:xfrm>
          <a:prstGeom prst="rect">
            <a:avLst/>
          </a:prstGeom>
          <a:solidFill>
            <a:srgbClr val="E5FAD6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BFC2EE-D856-4B9B-89B0-1876AC1BAF70}"/>
              </a:ext>
            </a:extLst>
          </p:cNvPr>
          <p:cNvSpPr txBox="1"/>
          <p:nvPr/>
        </p:nvSpPr>
        <p:spPr>
          <a:xfrm>
            <a:off x="6676318" y="3997220"/>
            <a:ext cx="18334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학대 혹은 방임 인지 시</a:t>
            </a:r>
            <a:b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</a:b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직접 공공기관에 신고 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환자평가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재평가 및 진료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필요 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협의진료 의뢰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C31E47-3214-45B4-BB18-3A8599546986}"/>
              </a:ext>
            </a:extLst>
          </p:cNvPr>
          <p:cNvSpPr/>
          <p:nvPr/>
        </p:nvSpPr>
        <p:spPr>
          <a:xfrm>
            <a:off x="8622486" y="4061109"/>
            <a:ext cx="1903867" cy="1415772"/>
          </a:xfrm>
          <a:prstGeom prst="rect">
            <a:avLst/>
          </a:prstGeom>
          <a:solidFill>
            <a:srgbClr val="E5FAD6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34653-2E41-400F-9F5F-C5A7FD4FE0F0}"/>
              </a:ext>
            </a:extLst>
          </p:cNvPr>
          <p:cNvSpPr txBox="1"/>
          <p:nvPr/>
        </p:nvSpPr>
        <p:spPr>
          <a:xfrm>
            <a:off x="8789470" y="4044748"/>
            <a:ext cx="1340432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환자평가 및 간호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Bold"/>
                <a:ea typeface="나눔스퀘어 Bold"/>
                <a:cs typeface="+mn-cs"/>
              </a:rPr>
              <a:t>사생활 보호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Bold"/>
              <a:ea typeface="나눔스퀘어 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ExtraBold"/>
              <a:ea typeface="나눔스퀘어 ExtraBold"/>
              <a:cs typeface="+mn-cs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064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786A36-D523-4F58-BD6D-3CE1CE796D08}"/>
              </a:ext>
            </a:extLst>
          </p:cNvPr>
          <p:cNvSpPr txBox="1"/>
          <p:nvPr/>
        </p:nvSpPr>
        <p:spPr>
          <a:xfrm>
            <a:off x="766152" y="657654"/>
            <a:ext cx="4645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0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SAFE</a:t>
            </a:r>
            <a:r>
              <a:rPr lang="ko-KR" altLang="en-US" sz="2400" dirty="0">
                <a:latin typeface="+mj-ea"/>
                <a:ea typeface="+mj-ea"/>
              </a:rPr>
              <a:t> </a:t>
            </a:r>
            <a:r>
              <a:rPr lang="en-US" altLang="ko-KR" sz="2400" dirty="0">
                <a:latin typeface="+mj-ea"/>
                <a:ea typeface="+mj-ea"/>
              </a:rPr>
              <a:t>CP Activation </a:t>
            </a:r>
            <a:r>
              <a:rPr lang="ko-KR" altLang="en-US" sz="2400" dirty="0">
                <a:latin typeface="+mj-ea"/>
                <a:ea typeface="+mj-ea"/>
              </a:rPr>
              <a:t>화면</a:t>
            </a:r>
            <a:r>
              <a:rPr lang="en-US" altLang="ko-KR" sz="2400" dirty="0">
                <a:latin typeface="+mj-ea"/>
                <a:ea typeface="+mj-ea"/>
              </a:rPr>
              <a:t> </a:t>
            </a:r>
            <a:endParaRPr lang="en-US" altLang="ko-KR" sz="2800" dirty="0">
              <a:latin typeface="+mj-ea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9D3F9C2-461E-4DD1-9FE5-D26CA012ADB7}"/>
              </a:ext>
            </a:extLst>
          </p:cNvPr>
          <p:cNvGrpSpPr/>
          <p:nvPr/>
        </p:nvGrpSpPr>
        <p:grpSpPr>
          <a:xfrm>
            <a:off x="2100026" y="1560984"/>
            <a:ext cx="7991947" cy="4477989"/>
            <a:chOff x="405919" y="109273"/>
            <a:chExt cx="10970918" cy="614714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9B2640A-2580-4704-802F-B686BDFAC5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8751"/>
            <a:stretch/>
          </p:blipFill>
          <p:spPr>
            <a:xfrm>
              <a:off x="802382" y="109273"/>
              <a:ext cx="10218268" cy="2848776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AE3DB15-660E-4E77-A963-288D95B7B4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599"/>
            <a:stretch/>
          </p:blipFill>
          <p:spPr>
            <a:xfrm>
              <a:off x="760079" y="2727852"/>
              <a:ext cx="10616758" cy="352856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F16BBF-DF30-4825-AB0B-E1C7FB62756F}"/>
                </a:ext>
              </a:extLst>
            </p:cNvPr>
            <p:cNvSpPr/>
            <p:nvPr/>
          </p:nvSpPr>
          <p:spPr>
            <a:xfrm>
              <a:off x="1281214" y="551399"/>
              <a:ext cx="482644" cy="61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B77BDFB-D650-44A1-B94C-5F82A294CCC6}"/>
                </a:ext>
              </a:extLst>
            </p:cNvPr>
            <p:cNvSpPr/>
            <p:nvPr/>
          </p:nvSpPr>
          <p:spPr>
            <a:xfrm>
              <a:off x="1933097" y="551399"/>
              <a:ext cx="257667" cy="66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78CB956-1199-46CB-BF73-EE13B8EAB4D9}"/>
                </a:ext>
              </a:extLst>
            </p:cNvPr>
            <p:cNvSpPr/>
            <p:nvPr/>
          </p:nvSpPr>
          <p:spPr>
            <a:xfrm>
              <a:off x="2457320" y="529968"/>
              <a:ext cx="356433" cy="88107"/>
            </a:xfrm>
            <a:prstGeom prst="rect">
              <a:avLst/>
            </a:prstGeom>
            <a:solidFill>
              <a:srgbClr val="CAC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F813140-2D2C-4B07-A34F-63F4FD4C6F6F}"/>
                </a:ext>
              </a:extLst>
            </p:cNvPr>
            <p:cNvSpPr/>
            <p:nvPr/>
          </p:nvSpPr>
          <p:spPr>
            <a:xfrm>
              <a:off x="2834615" y="525998"/>
              <a:ext cx="365636" cy="87314"/>
            </a:xfrm>
            <a:prstGeom prst="rect">
              <a:avLst/>
            </a:prstGeom>
            <a:solidFill>
              <a:srgbClr val="CAC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1AD34DD-8569-44AE-8C3B-1D635B8C5D80}"/>
                </a:ext>
              </a:extLst>
            </p:cNvPr>
            <p:cNvSpPr/>
            <p:nvPr/>
          </p:nvSpPr>
          <p:spPr>
            <a:xfrm>
              <a:off x="3273617" y="525205"/>
              <a:ext cx="365052" cy="88107"/>
            </a:xfrm>
            <a:prstGeom prst="rect">
              <a:avLst/>
            </a:prstGeom>
            <a:solidFill>
              <a:srgbClr val="CAC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B7741D8-8954-42A2-8CBB-3A1DF2F25B64}"/>
                </a:ext>
              </a:extLst>
            </p:cNvPr>
            <p:cNvSpPr/>
            <p:nvPr/>
          </p:nvSpPr>
          <p:spPr>
            <a:xfrm>
              <a:off x="3703417" y="525205"/>
              <a:ext cx="193189" cy="88107"/>
            </a:xfrm>
            <a:prstGeom prst="rect">
              <a:avLst/>
            </a:prstGeom>
            <a:solidFill>
              <a:srgbClr val="CAC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81646A2-0DF9-4954-90F6-139C39E3D003}"/>
                </a:ext>
              </a:extLst>
            </p:cNvPr>
            <p:cNvSpPr/>
            <p:nvPr/>
          </p:nvSpPr>
          <p:spPr>
            <a:xfrm>
              <a:off x="3961354" y="525205"/>
              <a:ext cx="606067" cy="88107"/>
            </a:xfrm>
            <a:prstGeom prst="rect">
              <a:avLst/>
            </a:prstGeom>
            <a:solidFill>
              <a:srgbClr val="CAC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E607045-567F-4A46-AC22-2E933BEA9344}"/>
                </a:ext>
              </a:extLst>
            </p:cNvPr>
            <p:cNvSpPr/>
            <p:nvPr/>
          </p:nvSpPr>
          <p:spPr>
            <a:xfrm>
              <a:off x="5063166" y="525205"/>
              <a:ext cx="606067" cy="88107"/>
            </a:xfrm>
            <a:prstGeom prst="rect">
              <a:avLst/>
            </a:prstGeom>
            <a:solidFill>
              <a:srgbClr val="CAC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A0E2755-4D97-4AF8-8885-C27FDF2938A0}"/>
                </a:ext>
              </a:extLst>
            </p:cNvPr>
            <p:cNvSpPr/>
            <p:nvPr/>
          </p:nvSpPr>
          <p:spPr>
            <a:xfrm>
              <a:off x="4639410" y="525204"/>
              <a:ext cx="354892" cy="88108"/>
            </a:xfrm>
            <a:prstGeom prst="rect">
              <a:avLst/>
            </a:prstGeom>
            <a:solidFill>
              <a:srgbClr val="CACF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02040C4-8B27-4057-A5C3-F59480F66A86}"/>
                </a:ext>
              </a:extLst>
            </p:cNvPr>
            <p:cNvSpPr/>
            <p:nvPr/>
          </p:nvSpPr>
          <p:spPr>
            <a:xfrm>
              <a:off x="2094619" y="1748374"/>
              <a:ext cx="213415" cy="60326"/>
            </a:xfrm>
            <a:prstGeom prst="rect">
              <a:avLst/>
            </a:prstGeom>
            <a:solidFill>
              <a:srgbClr val="A6D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BEAA62C-5BB1-4E06-82C2-A57516B902D5}"/>
                </a:ext>
              </a:extLst>
            </p:cNvPr>
            <p:cNvSpPr/>
            <p:nvPr/>
          </p:nvSpPr>
          <p:spPr>
            <a:xfrm>
              <a:off x="2084057" y="1840449"/>
              <a:ext cx="213415" cy="60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24C21C3-2B40-4DB9-8461-4A15F0D158DB}"/>
                </a:ext>
              </a:extLst>
            </p:cNvPr>
            <p:cNvSpPr/>
            <p:nvPr/>
          </p:nvSpPr>
          <p:spPr>
            <a:xfrm>
              <a:off x="2090774" y="1923193"/>
              <a:ext cx="213415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1306117-D43B-4BC0-A4C9-9591370C76D7}"/>
                </a:ext>
              </a:extLst>
            </p:cNvPr>
            <p:cNvSpPr/>
            <p:nvPr/>
          </p:nvSpPr>
          <p:spPr>
            <a:xfrm>
              <a:off x="2084057" y="2018443"/>
              <a:ext cx="213415" cy="60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F3DDF02-ABC4-4EBE-B8CF-13888570D1CB}"/>
                </a:ext>
              </a:extLst>
            </p:cNvPr>
            <p:cNvSpPr/>
            <p:nvPr/>
          </p:nvSpPr>
          <p:spPr>
            <a:xfrm>
              <a:off x="2090774" y="2098426"/>
              <a:ext cx="213415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8D0DBC2-D091-48B4-8B5D-7352ED3E4F69}"/>
                </a:ext>
              </a:extLst>
            </p:cNvPr>
            <p:cNvSpPr/>
            <p:nvPr/>
          </p:nvSpPr>
          <p:spPr>
            <a:xfrm>
              <a:off x="2084057" y="2196851"/>
              <a:ext cx="213415" cy="60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4E2C6E5-DD26-413C-9E4D-0337165C425A}"/>
                </a:ext>
              </a:extLst>
            </p:cNvPr>
            <p:cNvSpPr/>
            <p:nvPr/>
          </p:nvSpPr>
          <p:spPr>
            <a:xfrm>
              <a:off x="2090774" y="2273907"/>
              <a:ext cx="213415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3C2D747-29C5-48B7-8484-D13C3A2DD1BF}"/>
                </a:ext>
              </a:extLst>
            </p:cNvPr>
            <p:cNvSpPr/>
            <p:nvPr/>
          </p:nvSpPr>
          <p:spPr>
            <a:xfrm>
              <a:off x="2084057" y="2369157"/>
              <a:ext cx="213415" cy="60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11082C7-8253-464B-933E-21A12D072F53}"/>
                </a:ext>
              </a:extLst>
            </p:cNvPr>
            <p:cNvSpPr/>
            <p:nvPr/>
          </p:nvSpPr>
          <p:spPr>
            <a:xfrm>
              <a:off x="2094896" y="2450437"/>
              <a:ext cx="213415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063E231-330E-44E9-AC9E-278D0E511AB5}"/>
                </a:ext>
              </a:extLst>
            </p:cNvPr>
            <p:cNvSpPr/>
            <p:nvPr/>
          </p:nvSpPr>
          <p:spPr>
            <a:xfrm>
              <a:off x="1858080" y="2450437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E626015-E537-4ECF-B5A4-D46F5EEB26A8}"/>
                </a:ext>
              </a:extLst>
            </p:cNvPr>
            <p:cNvSpPr/>
            <p:nvPr/>
          </p:nvSpPr>
          <p:spPr>
            <a:xfrm>
              <a:off x="1858080" y="2358997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7C37752-1DE6-4B22-9AE7-B0C81714E7DE}"/>
                </a:ext>
              </a:extLst>
            </p:cNvPr>
            <p:cNvSpPr/>
            <p:nvPr/>
          </p:nvSpPr>
          <p:spPr>
            <a:xfrm>
              <a:off x="1845930" y="2278035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BB9E13-FDE3-4323-A8BB-4C184209F9DF}"/>
                </a:ext>
              </a:extLst>
            </p:cNvPr>
            <p:cNvSpPr/>
            <p:nvPr/>
          </p:nvSpPr>
          <p:spPr>
            <a:xfrm>
              <a:off x="1845930" y="2186595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94C8F1E-4504-4994-BD21-D50D19999C82}"/>
                </a:ext>
              </a:extLst>
            </p:cNvPr>
            <p:cNvSpPr/>
            <p:nvPr/>
          </p:nvSpPr>
          <p:spPr>
            <a:xfrm>
              <a:off x="1845930" y="2100464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4DE8B9C-77F5-4329-9803-444C14C79223}"/>
                </a:ext>
              </a:extLst>
            </p:cNvPr>
            <p:cNvSpPr/>
            <p:nvPr/>
          </p:nvSpPr>
          <p:spPr>
            <a:xfrm>
              <a:off x="1845930" y="2009024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84772D4-C62B-4A02-AD2B-07C79A9ADD96}"/>
                </a:ext>
              </a:extLst>
            </p:cNvPr>
            <p:cNvSpPr/>
            <p:nvPr/>
          </p:nvSpPr>
          <p:spPr>
            <a:xfrm>
              <a:off x="1858080" y="1923193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2EE21D03-45FF-4A7F-AEAA-D1EF973FF0FB}"/>
                </a:ext>
              </a:extLst>
            </p:cNvPr>
            <p:cNvSpPr/>
            <p:nvPr/>
          </p:nvSpPr>
          <p:spPr>
            <a:xfrm>
              <a:off x="1845930" y="1840449"/>
              <a:ext cx="189718" cy="60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D19212CD-016D-47F3-A32A-CE54175CEF92}"/>
                </a:ext>
              </a:extLst>
            </p:cNvPr>
            <p:cNvSpPr/>
            <p:nvPr/>
          </p:nvSpPr>
          <p:spPr>
            <a:xfrm>
              <a:off x="1858080" y="1751426"/>
              <a:ext cx="189718" cy="60326"/>
            </a:xfrm>
            <a:prstGeom prst="rect">
              <a:avLst/>
            </a:prstGeom>
            <a:solidFill>
              <a:srgbClr val="A6D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ED86DAA-2BA8-454A-AD4A-4ED2D134CDE4}"/>
                </a:ext>
              </a:extLst>
            </p:cNvPr>
            <p:cNvSpPr/>
            <p:nvPr/>
          </p:nvSpPr>
          <p:spPr>
            <a:xfrm>
              <a:off x="8983359" y="613505"/>
              <a:ext cx="1619990" cy="344294"/>
            </a:xfrm>
            <a:prstGeom prst="rect">
              <a:avLst/>
            </a:prstGeom>
            <a:solidFill>
              <a:srgbClr val="FFFF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D830A94-C367-4700-839E-5DDD5DE2BF1E}"/>
                </a:ext>
              </a:extLst>
            </p:cNvPr>
            <p:cNvSpPr/>
            <p:nvPr/>
          </p:nvSpPr>
          <p:spPr>
            <a:xfrm>
              <a:off x="10064943" y="230020"/>
              <a:ext cx="553789" cy="105479"/>
            </a:xfrm>
            <a:prstGeom prst="rect">
              <a:avLst/>
            </a:prstGeom>
            <a:solidFill>
              <a:srgbClr val="E2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3782300C-580A-483F-85C1-D29A995F31E3}"/>
                </a:ext>
              </a:extLst>
            </p:cNvPr>
            <p:cNvSpPr/>
            <p:nvPr/>
          </p:nvSpPr>
          <p:spPr>
            <a:xfrm flipV="1">
              <a:off x="2584955" y="1373919"/>
              <a:ext cx="903729" cy="871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FE7ABAAC-D632-4FB2-BB60-4570F1F94198}"/>
                </a:ext>
              </a:extLst>
            </p:cNvPr>
            <p:cNvSpPr/>
            <p:nvPr/>
          </p:nvSpPr>
          <p:spPr>
            <a:xfrm>
              <a:off x="3188103" y="1714036"/>
              <a:ext cx="5646023" cy="9911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FA7ACDF2-0A67-49B0-91DF-4FE92C239DDF}"/>
                </a:ext>
              </a:extLst>
            </p:cNvPr>
            <p:cNvSpPr/>
            <p:nvPr/>
          </p:nvSpPr>
          <p:spPr>
            <a:xfrm>
              <a:off x="1915286" y="1049750"/>
              <a:ext cx="369745" cy="216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241B338D-8321-49CA-9153-D8FDB27D5056}"/>
                </a:ext>
              </a:extLst>
            </p:cNvPr>
            <p:cNvSpPr/>
            <p:nvPr/>
          </p:nvSpPr>
          <p:spPr>
            <a:xfrm>
              <a:off x="1366208" y="855352"/>
              <a:ext cx="479721" cy="468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</a:rPr>
                <a:t>1</a:t>
              </a:r>
              <a:endParaRPr lang="ko-KR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98208B1-9A4A-453D-9B91-DBA70CBD4B45}"/>
                </a:ext>
              </a:extLst>
            </p:cNvPr>
            <p:cNvSpPr/>
            <p:nvPr/>
          </p:nvSpPr>
          <p:spPr>
            <a:xfrm>
              <a:off x="1518811" y="3289185"/>
              <a:ext cx="423421" cy="108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5C69C09-078C-4B38-9357-470DD6274B7D}"/>
                </a:ext>
              </a:extLst>
            </p:cNvPr>
            <p:cNvSpPr/>
            <p:nvPr/>
          </p:nvSpPr>
          <p:spPr>
            <a:xfrm>
              <a:off x="2257062" y="3289185"/>
              <a:ext cx="423421" cy="108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7A1764F-2C3A-4B28-BD00-C8F065C60917}"/>
                </a:ext>
              </a:extLst>
            </p:cNvPr>
            <p:cNvSpPr/>
            <p:nvPr/>
          </p:nvSpPr>
          <p:spPr>
            <a:xfrm>
              <a:off x="3354579" y="3297766"/>
              <a:ext cx="338045" cy="108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DBBB865-D106-4DDF-BC67-6D5BFCA11311}"/>
                </a:ext>
              </a:extLst>
            </p:cNvPr>
            <p:cNvSpPr/>
            <p:nvPr/>
          </p:nvSpPr>
          <p:spPr>
            <a:xfrm>
              <a:off x="760079" y="4551784"/>
              <a:ext cx="5970117" cy="266418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6386E884-11E8-48EB-B37C-92B4117F9708}"/>
                </a:ext>
              </a:extLst>
            </p:cNvPr>
            <p:cNvSpPr/>
            <p:nvPr/>
          </p:nvSpPr>
          <p:spPr>
            <a:xfrm>
              <a:off x="405919" y="4247152"/>
              <a:ext cx="459838" cy="468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</a:rPr>
                <a:t>2</a:t>
              </a:r>
              <a:endParaRPr lang="ko-KR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5AE3A1DF-55B9-4BD8-98DD-29983C172AC5}"/>
                </a:ext>
              </a:extLst>
            </p:cNvPr>
            <p:cNvSpPr/>
            <p:nvPr/>
          </p:nvSpPr>
          <p:spPr>
            <a:xfrm>
              <a:off x="6879594" y="3428088"/>
              <a:ext cx="4497243" cy="183871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8DDC690-85A5-4EFA-87DA-5B53281FE11A}"/>
                </a:ext>
              </a:extLst>
            </p:cNvPr>
            <p:cNvSpPr/>
            <p:nvPr/>
          </p:nvSpPr>
          <p:spPr>
            <a:xfrm>
              <a:off x="6823303" y="2867199"/>
              <a:ext cx="1673266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rgbClr val="FF0000"/>
                  </a:solidFill>
                </a:rPr>
                <a:t>사유 선택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818148C-2F4C-4C89-8DC1-9B533887149F}"/>
                </a:ext>
              </a:extLst>
            </p:cNvPr>
            <p:cNvSpPr/>
            <p:nvPr/>
          </p:nvSpPr>
          <p:spPr>
            <a:xfrm>
              <a:off x="6448529" y="2636140"/>
              <a:ext cx="459838" cy="432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</a:rPr>
                <a:t>3</a:t>
              </a:r>
              <a:endParaRPr lang="ko-KR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96497D1-52F1-44CA-B1C9-5078A61F9F83}"/>
                </a:ext>
              </a:extLst>
            </p:cNvPr>
            <p:cNvSpPr/>
            <p:nvPr/>
          </p:nvSpPr>
          <p:spPr>
            <a:xfrm>
              <a:off x="9028327" y="2558942"/>
              <a:ext cx="1550981" cy="36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 dirty="0">
                  <a:solidFill>
                    <a:srgbClr val="FF0000"/>
                  </a:solidFill>
                </a:rPr>
                <a:t>적용 선택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4DCBEA1-8F24-4DDE-AFD4-C642F7434557}"/>
                </a:ext>
              </a:extLst>
            </p:cNvPr>
            <p:cNvSpPr/>
            <p:nvPr/>
          </p:nvSpPr>
          <p:spPr>
            <a:xfrm>
              <a:off x="8653550" y="2336205"/>
              <a:ext cx="459838" cy="432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b="1" dirty="0">
                  <a:solidFill>
                    <a:srgbClr val="FF0000"/>
                  </a:solidFill>
                </a:rPr>
                <a:t>4</a:t>
              </a:r>
              <a:endParaRPr lang="ko-KR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53888B7-F5B0-480F-8F3E-6B62CD686BA4}"/>
                </a:ext>
              </a:extLst>
            </p:cNvPr>
            <p:cNvSpPr/>
            <p:nvPr/>
          </p:nvSpPr>
          <p:spPr>
            <a:xfrm>
              <a:off x="10021236" y="3099608"/>
              <a:ext cx="386064" cy="264795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B07044A-1202-4B24-8B0D-EC2FCAEE7673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9903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593C374-3D86-45F7-A72A-09A8B2B7A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02" y="1192189"/>
            <a:ext cx="4605598" cy="52841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F8B197B-5537-406A-9728-D95A3EFA1CF3}"/>
              </a:ext>
            </a:extLst>
          </p:cNvPr>
          <p:cNvGrpSpPr/>
          <p:nvPr/>
        </p:nvGrpSpPr>
        <p:grpSpPr>
          <a:xfrm>
            <a:off x="6570133" y="1378314"/>
            <a:ext cx="4937016" cy="4898019"/>
            <a:chOff x="6604000" y="1361381"/>
            <a:chExt cx="4937016" cy="489801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BA7AAC6-83C9-40D5-8B98-E59A28461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4000" y="1361381"/>
              <a:ext cx="4937016" cy="4898019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0FCB5FA-3E5E-41E4-A47F-0971689EAF9D}"/>
                </a:ext>
              </a:extLst>
            </p:cNvPr>
            <p:cNvSpPr/>
            <p:nvPr/>
          </p:nvSpPr>
          <p:spPr>
            <a:xfrm>
              <a:off x="6747933" y="4064000"/>
              <a:ext cx="1828800" cy="160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0382AA5-C608-4D23-B00B-70A7375F45EF}"/>
                </a:ext>
              </a:extLst>
            </p:cNvPr>
            <p:cNvSpPr/>
            <p:nvPr/>
          </p:nvSpPr>
          <p:spPr>
            <a:xfrm>
              <a:off x="7323666" y="5496620"/>
              <a:ext cx="1100667" cy="998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FDBAFAC-B62B-454A-B0CC-395E28CA620B}"/>
              </a:ext>
            </a:extLst>
          </p:cNvPr>
          <p:cNvSpPr txBox="1"/>
          <p:nvPr/>
        </p:nvSpPr>
        <p:spPr>
          <a:xfrm>
            <a:off x="911920" y="497020"/>
            <a:ext cx="33575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latin typeface="+mj-ea"/>
                <a:ea typeface="+mj-ea"/>
              </a:rPr>
              <a:t>6. </a:t>
            </a:r>
            <a:r>
              <a:rPr lang="ko-KR" altLang="en-US" sz="2600" dirty="0">
                <a:latin typeface="+mj-ea"/>
                <a:ea typeface="+mj-ea"/>
              </a:rPr>
              <a:t>선별도구 </a:t>
            </a:r>
            <a:r>
              <a:rPr lang="en-US" altLang="ko-KR" sz="2600" dirty="0">
                <a:latin typeface="+mj-ea"/>
                <a:ea typeface="+mj-ea"/>
              </a:rPr>
              <a:t>- </a:t>
            </a:r>
            <a:r>
              <a:rPr lang="ko-KR" altLang="en-US" sz="2600" dirty="0">
                <a:latin typeface="+mj-ea"/>
                <a:ea typeface="+mj-ea"/>
              </a:rPr>
              <a:t>아동학대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A3F312E-9D2B-46FB-B172-602CCDCFF405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28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FDBAFAC-B62B-454A-B0CC-395E28CA620B}"/>
              </a:ext>
            </a:extLst>
          </p:cNvPr>
          <p:cNvSpPr txBox="1"/>
          <p:nvPr/>
        </p:nvSpPr>
        <p:spPr>
          <a:xfrm>
            <a:off x="911920" y="497020"/>
            <a:ext cx="33575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latin typeface="+mj-ea"/>
                <a:ea typeface="+mj-ea"/>
              </a:rPr>
              <a:t>6. </a:t>
            </a:r>
            <a:r>
              <a:rPr lang="ko-KR" altLang="en-US" sz="2600" dirty="0">
                <a:latin typeface="+mj-ea"/>
                <a:ea typeface="+mj-ea"/>
              </a:rPr>
              <a:t>선별도구 </a:t>
            </a:r>
            <a:r>
              <a:rPr lang="en-US" altLang="ko-KR" sz="2600" dirty="0">
                <a:latin typeface="+mj-ea"/>
                <a:ea typeface="+mj-ea"/>
              </a:rPr>
              <a:t>- </a:t>
            </a:r>
            <a:r>
              <a:rPr lang="ko-KR" altLang="en-US" sz="2600" dirty="0">
                <a:latin typeface="+mj-ea"/>
                <a:ea typeface="+mj-ea"/>
              </a:rPr>
              <a:t>노인학대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EC5A0BF-DC50-44FC-9AEA-1C6CC6DB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393" y="1151465"/>
            <a:ext cx="4630338" cy="54440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8594D848-3E9B-41A1-B056-9BBE4CAC6243}"/>
              </a:ext>
            </a:extLst>
          </p:cNvPr>
          <p:cNvGrpSpPr/>
          <p:nvPr/>
        </p:nvGrpSpPr>
        <p:grpSpPr>
          <a:xfrm>
            <a:off x="6736341" y="1964267"/>
            <a:ext cx="4997289" cy="4210753"/>
            <a:chOff x="6736341" y="1964267"/>
            <a:chExt cx="4997289" cy="421075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3E3470F-DD6E-42D6-8A9D-3F9705ED9B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6341" y="1964267"/>
              <a:ext cx="4997289" cy="421075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627ACAA-7D56-416E-9911-E46E9BC21FEE}"/>
                </a:ext>
              </a:extLst>
            </p:cNvPr>
            <p:cNvSpPr/>
            <p:nvPr/>
          </p:nvSpPr>
          <p:spPr>
            <a:xfrm>
              <a:off x="6849532" y="3962399"/>
              <a:ext cx="1828800" cy="160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8F9FB7E-19DF-4914-9970-696C1EEED7D0}"/>
                </a:ext>
              </a:extLst>
            </p:cNvPr>
            <p:cNvSpPr/>
            <p:nvPr/>
          </p:nvSpPr>
          <p:spPr>
            <a:xfrm>
              <a:off x="7425265" y="5428885"/>
              <a:ext cx="1100667" cy="998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57F9A3-CE5D-48A0-9FA3-65D4603BDC98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679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FDBAFAC-B62B-454A-B0CC-395E28CA620B}"/>
              </a:ext>
            </a:extLst>
          </p:cNvPr>
          <p:cNvSpPr txBox="1"/>
          <p:nvPr/>
        </p:nvSpPr>
        <p:spPr>
          <a:xfrm>
            <a:off x="911920" y="497020"/>
            <a:ext cx="33575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latin typeface="+mj-ea"/>
                <a:ea typeface="+mj-ea"/>
              </a:rPr>
              <a:t>7. SAFE </a:t>
            </a:r>
            <a:r>
              <a:rPr lang="ko-KR" altLang="en-US" sz="2600" dirty="0">
                <a:latin typeface="+mj-ea"/>
                <a:ea typeface="+mj-ea"/>
              </a:rPr>
              <a:t>팀원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6D1ABFF-0EB3-461D-9D8E-816CEB48F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658525"/>
              </p:ext>
            </p:extLst>
          </p:nvPr>
        </p:nvGraphicFramePr>
        <p:xfrm>
          <a:off x="2742165" y="1565791"/>
          <a:ext cx="6250470" cy="4270723"/>
        </p:xfrm>
        <a:graphic>
          <a:graphicData uri="http://schemas.openxmlformats.org/drawingml/2006/table">
            <a:tbl>
              <a:tblPr/>
              <a:tblGrid>
                <a:gridCol w="1074602">
                  <a:extLst>
                    <a:ext uri="{9D8B030D-6E8A-4147-A177-3AD203B41FA5}">
                      <a16:colId xmlns:a16="http://schemas.microsoft.com/office/drawing/2014/main" val="2081172214"/>
                    </a:ext>
                  </a:extLst>
                </a:gridCol>
                <a:gridCol w="2789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211">
                  <a:extLst>
                    <a:ext uri="{9D8B030D-6E8A-4147-A177-3AD203B41FA5}">
                      <a16:colId xmlns:a16="http://schemas.microsoft.com/office/drawing/2014/main" val="1646591789"/>
                    </a:ext>
                  </a:extLst>
                </a:gridCol>
              </a:tblGrid>
              <a:tr h="251219">
                <a:tc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임상과</a:t>
                      </a:r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부서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219"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팀장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소아정신과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천근아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219"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간사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사회사업팀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이재경 사회복지사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219">
                <a:tc rowSpan="14"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사회사업팀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박소라 팀장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응급의학과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김민정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740176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정신건강의학과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박천일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소아정신과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이정한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소아응급의학과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윤서희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소아정형외과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박건보</a:t>
                      </a: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신경외과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박은경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안과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고재상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산부인과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이준호 교수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어린이병원 간호팀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김정연 팀장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971694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응급간호팀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서은경 파트장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682596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의무기록팀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정지은 파트장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법무팀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김연</a:t>
                      </a:r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변호사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219">
                <a:tc vMerge="1">
                  <a:txBody>
                    <a:bodyPr/>
                    <a:lstStyle/>
                    <a:p>
                      <a:pPr lvl="0" algn="ctr" fontAlgn="ctr"/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ko-KR" altLang="en-US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환자안전팀</a:t>
                      </a: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fontAlgn="ctr"/>
                      <a:r>
                        <a:rPr lang="en-US" altLang="ko-KR" sz="1200" b="0" i="0" u="none" strike="noStrike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1200" b="0" i="0" u="none" strike="noStrike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4516" marR="4516" marT="4516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93A1348C-69EA-4C61-8EB8-53B27272E4CE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5066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FC0791-1FD5-4D80-8A1F-F29048578E2F}"/>
              </a:ext>
            </a:extLst>
          </p:cNvPr>
          <p:cNvSpPr txBox="1"/>
          <p:nvPr/>
        </p:nvSpPr>
        <p:spPr>
          <a:xfrm>
            <a:off x="911920" y="497020"/>
            <a:ext cx="6360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>
                <a:latin typeface="+mj-ea"/>
                <a:ea typeface="+mj-ea"/>
              </a:rPr>
              <a:t>8. </a:t>
            </a:r>
            <a:r>
              <a:rPr lang="ko-KR" altLang="en-US" sz="2600" dirty="0">
                <a:latin typeface="+mj-ea"/>
                <a:ea typeface="+mj-ea"/>
              </a:rPr>
              <a:t>학대와 방임환자 신고 또는 관련 공공기관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806D67-A008-46DD-9187-615535C73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27013"/>
              </p:ext>
            </p:extLst>
          </p:nvPr>
        </p:nvGraphicFramePr>
        <p:xfrm>
          <a:off x="1847528" y="1501632"/>
          <a:ext cx="8712968" cy="365457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97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4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4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공공기관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연락처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1. 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경찰서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112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2.  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보건복지부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콜센터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129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3. 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아동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학대 및 성폭력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vl="1" latinLnBrk="1"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중부아동보호전문기관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02-422-1391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vl="1" latinLnBrk="1">
                        <a:buFont typeface="Wingdings" pitchFamily="2" charset="2"/>
                        <a:buChar char="§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서울서북</a:t>
                      </a:r>
                      <a:r>
                        <a:rPr lang="ko-KR" altLang="en-US" sz="1200" b="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아동보호전문기관</a:t>
                      </a:r>
                      <a:r>
                        <a:rPr lang="ko-KR" altLang="ko-KR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02-3157-1391</a:t>
                      </a:r>
                      <a:endParaRPr lang="ko-KR" altLang="ko-KR" sz="14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vl="1" latinLnBrk="1"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ko-KR" sz="1200" b="0" kern="12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서울해바라기아동센터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02-3274-1375 </a:t>
                      </a:r>
                      <a:endParaRPr lang="ko-KR" altLang="ko-KR" sz="14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vl="1" latinLnBrk="1">
                        <a:buFont typeface="Wingdings" pitchFamily="2" charset="2"/>
                        <a:buChar char="§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 </a:t>
                      </a:r>
                      <a:r>
                        <a:rPr lang="ko-KR" altLang="ko-KR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서대문구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청</a:t>
                      </a:r>
                      <a:r>
                        <a:rPr lang="ko-KR" altLang="ko-KR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아동보호</a:t>
                      </a:r>
                      <a:r>
                        <a:rPr lang="ko-KR" altLang="ko-KR" sz="12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팀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02-330-8441</a:t>
                      </a:r>
                      <a:endParaRPr lang="ko-KR" altLang="ko-KR" sz="14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4. </a:t>
                      </a:r>
                      <a:r>
                        <a:rPr lang="ko-KR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노인보호전문기관 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1577-1389</a:t>
                      </a:r>
                      <a:endParaRPr lang="ko-KR" altLang="ko-KR" sz="1400" b="0" kern="120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54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5.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장애인보호전문기관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1644-8295</a:t>
                      </a:r>
                      <a:endParaRPr lang="ko-KR" altLang="ko-KR" sz="14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621354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3CEA62F-C111-4D6E-B9FB-EAF3F96A17A7}"/>
              </a:ext>
            </a:extLst>
          </p:cNvPr>
          <p:cNvSpPr/>
          <p:nvPr/>
        </p:nvSpPr>
        <p:spPr>
          <a:xfrm>
            <a:off x="10347920" y="188640"/>
            <a:ext cx="1481388" cy="35776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6.2.1. </a:t>
            </a:r>
            <a:r>
              <a:rPr lang="ko-KR" altLang="en-US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부록</a:t>
            </a:r>
            <a:r>
              <a:rPr lang="en-US" altLang="ko-KR" sz="1600" dirty="0">
                <a:latin typeface="HY신명조" panose="02030600000101010101" pitchFamily="18" charset="-127"/>
                <a:ea typeface="HY신명조" panose="02030600000101010101" pitchFamily="18" charset="-127"/>
              </a:rPr>
              <a:t>1</a:t>
            </a:r>
            <a:endParaRPr lang="ko-KR" altLang="en-US" sz="16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6506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스퀘어 ExtraBold"/>
        <a:ea typeface="나눔스퀘어 ExtraBold"/>
        <a:cs typeface=""/>
      </a:majorFont>
      <a:minorFont>
        <a:latin typeface="나눔스퀘어 Bold"/>
        <a:ea typeface="나눔스퀘어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667</Words>
  <Application>Microsoft Office PowerPoint</Application>
  <PresentationFormat>와이드스크린</PresentationFormat>
  <Paragraphs>157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HY신명조</vt:lpstr>
      <vt:lpstr>나눔스퀘어 Bold</vt:lpstr>
      <vt:lpstr>나눔스퀘어 ExtraBold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이재경(사회사업팀)</dc:creator>
  <cp:lastModifiedBy>이재경(사회사업팀)</cp:lastModifiedBy>
  <cp:revision>53</cp:revision>
  <dcterms:created xsi:type="dcterms:W3CDTF">2025-02-19T05:31:46Z</dcterms:created>
  <dcterms:modified xsi:type="dcterms:W3CDTF">2025-07-25T06:12:53Z</dcterms:modified>
</cp:coreProperties>
</file>