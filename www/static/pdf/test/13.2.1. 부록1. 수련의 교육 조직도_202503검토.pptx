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284" r:id="rId2"/>
    <p:sldId id="312" r:id="rId3"/>
  </p:sldIdLst>
  <p:sldSz cx="6858000" cy="9906000" type="A4"/>
  <p:notesSz cx="6807200" cy="9906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43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333FF"/>
    <a:srgbClr val="CCFFCC"/>
    <a:srgbClr val="FF9933"/>
    <a:srgbClr val="FF6600"/>
    <a:srgbClr val="FFCC00"/>
    <a:srgbClr val="FFCC99"/>
    <a:srgbClr val="FFCCFF"/>
    <a:srgbClr val="D22EA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91" autoAdjust="0"/>
    <p:restoredTop sz="96353" autoAdjust="0"/>
  </p:normalViewPr>
  <p:slideViewPr>
    <p:cSldViewPr>
      <p:cViewPr varScale="1">
        <p:scale>
          <a:sx n="79" d="100"/>
          <a:sy n="79" d="100"/>
        </p:scale>
        <p:origin x="3258" y="114"/>
      </p:cViewPr>
      <p:guideLst>
        <p:guide orient="horz" pos="3120"/>
        <p:guide pos="43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75964" cy="532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1647" y="2"/>
            <a:ext cx="2899657" cy="532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157"/>
            <a:ext cx="2975964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1647" y="9429157"/>
            <a:ext cx="2899657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05CD100-F97A-4F01-845B-5C1F14E01E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46511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1" y="2"/>
            <a:ext cx="2950528" cy="49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55084" y="2"/>
            <a:ext cx="2950528" cy="49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2F2EB6-FD8A-4E58-A60C-4140E0B923A9}" type="datetimeFigureOut">
              <a:rPr lang="ko-KR" altLang="en-US"/>
              <a:pPr>
                <a:defRPr/>
              </a:pPr>
              <a:t>2025-04-02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9313" y="742950"/>
            <a:ext cx="257016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92" tIns="47346" rIns="94692" bIns="4734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0403" y="4705074"/>
            <a:ext cx="5446396" cy="445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1" y="9408563"/>
            <a:ext cx="2950528" cy="49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55084" y="9408563"/>
            <a:ext cx="2950528" cy="49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1EA8D4B-D8CF-450A-80F3-D4FD22EABB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76350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117725" y="744538"/>
            <a:ext cx="2573338" cy="37147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12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DFB718-3BEC-4D62-AA3B-F99A6F21E649}" type="slidenum">
              <a:rPr lang="ko-KR" altLang="en-US">
                <a:latin typeface="굴림" charset="-127"/>
                <a:ea typeface="굴림" charset="-127"/>
              </a:rPr>
              <a:pPr/>
              <a:t>2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4022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 bwMode="auto">
          <a:xfrm>
            <a:off x="171450" y="2062165"/>
            <a:ext cx="6057900" cy="23256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79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0100" y="4972049"/>
            <a:ext cx="4972050" cy="24209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342900" y="9024939"/>
            <a:ext cx="1600200" cy="681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343150" y="9032875"/>
            <a:ext cx="2171700" cy="660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9024939"/>
            <a:ext cx="1600200" cy="681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ED139-29FB-4B15-9D9C-A1F89446BD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6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2"/>
            <a:ext cx="6172200" cy="65373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6B457-AD41-4A3D-91D6-A3EB049D64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7"/>
            <a:ext cx="5829300" cy="19669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40"/>
            <a:ext cx="5829300" cy="21669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181" indent="0">
              <a:buNone/>
              <a:defRPr sz="1800"/>
            </a:lvl2pPr>
            <a:lvl3pPr marL="914362" indent="0">
              <a:buNone/>
              <a:defRPr sz="1600"/>
            </a:lvl3pPr>
            <a:lvl4pPr marL="1371543" indent="0">
              <a:buNone/>
              <a:defRPr sz="1400"/>
            </a:lvl4pPr>
            <a:lvl5pPr marL="1828723" indent="0">
              <a:buNone/>
              <a:defRPr sz="1400"/>
            </a:lvl5pPr>
            <a:lvl6pPr marL="2285905" indent="0">
              <a:buNone/>
              <a:defRPr sz="1400"/>
            </a:lvl6pPr>
            <a:lvl7pPr marL="2743085" indent="0">
              <a:buNone/>
              <a:defRPr sz="1400"/>
            </a:lvl7pPr>
            <a:lvl8pPr marL="3200266" indent="0">
              <a:buNone/>
              <a:defRPr sz="1400"/>
            </a:lvl8pPr>
            <a:lvl9pPr marL="3657446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E5DBA-04FD-4B87-A36D-8EC81C620C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6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09900" cy="6537324"/>
          </a:xfrm>
          <a:prstGeom prst="rect">
            <a:avLst/>
          </a:prstGeom>
        </p:spPr>
        <p:txBody>
          <a:bodyPr/>
          <a:lstStyle>
            <a:lvl1pPr>
              <a:defRPr sz="2799"/>
            </a:lvl1pPr>
            <a:lvl2pPr>
              <a:defRPr sz="240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311402"/>
            <a:ext cx="3009900" cy="6537324"/>
          </a:xfrm>
          <a:prstGeom prst="rect">
            <a:avLst/>
          </a:prstGeom>
        </p:spPr>
        <p:txBody>
          <a:bodyPr/>
          <a:lstStyle>
            <a:lvl1pPr>
              <a:defRPr sz="2799"/>
            </a:lvl1pPr>
            <a:lvl2pPr>
              <a:defRPr sz="240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A8AF8-6B74-4975-AC2F-1E17207386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6"/>
            <a:ext cx="6172200" cy="165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40"/>
            <a:ext cx="3030538" cy="9239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1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3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</p:spPr>
        <p:txBody>
          <a:bodyPr/>
          <a:lstStyle>
            <a:lvl1pPr>
              <a:defRPr sz="2401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4" y="2217740"/>
            <a:ext cx="3030537" cy="9239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1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3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4" y="3141663"/>
            <a:ext cx="3030537" cy="5707062"/>
          </a:xfrm>
          <a:prstGeom prst="rect">
            <a:avLst/>
          </a:prstGeom>
        </p:spPr>
        <p:txBody>
          <a:bodyPr/>
          <a:lstStyle>
            <a:lvl1pPr>
              <a:defRPr sz="2401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185A4-7857-4B4F-99EC-C7C75E5FB9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6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7FDA3-2ADD-415B-84CA-46B4BE2BB1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A646-62D2-4072-BD5C-ABCC4EA824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2"/>
            <a:ext cx="2255838" cy="1679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2"/>
            <a:ext cx="3833812" cy="8455025"/>
          </a:xfrm>
          <a:prstGeom prst="rect">
            <a:avLst/>
          </a:prstGeo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1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1" indent="0">
              <a:buNone/>
              <a:defRPr sz="1200"/>
            </a:lvl2pPr>
            <a:lvl3pPr marL="914362" indent="0">
              <a:buNone/>
              <a:defRPr sz="1000"/>
            </a:lvl3pPr>
            <a:lvl4pPr marL="1371543" indent="0">
              <a:buNone/>
              <a:defRPr sz="900"/>
            </a:lvl4pPr>
            <a:lvl5pPr marL="1828723" indent="0">
              <a:buNone/>
              <a:defRPr sz="900"/>
            </a:lvl5pPr>
            <a:lvl6pPr marL="2285905" indent="0">
              <a:buNone/>
              <a:defRPr sz="900"/>
            </a:lvl6pPr>
            <a:lvl7pPr marL="2743085" indent="0">
              <a:buNone/>
              <a:defRPr sz="900"/>
            </a:lvl7pPr>
            <a:lvl8pPr marL="3200266" indent="0">
              <a:buNone/>
              <a:defRPr sz="900"/>
            </a:lvl8pPr>
            <a:lvl9pPr marL="3657446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C5D47-3997-440C-B774-F17BB09923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4"/>
            <a:ext cx="4114800" cy="594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/>
            </a:lvl1pPr>
            <a:lvl2pPr marL="457181" indent="0">
              <a:buNone/>
              <a:defRPr sz="2799"/>
            </a:lvl2pPr>
            <a:lvl3pPr marL="914362" indent="0">
              <a:buNone/>
              <a:defRPr sz="2401"/>
            </a:lvl3pPr>
            <a:lvl4pPr marL="1371543" indent="0">
              <a:buNone/>
              <a:defRPr sz="2000"/>
            </a:lvl4pPr>
            <a:lvl5pPr marL="1828723" indent="0">
              <a:buNone/>
              <a:defRPr sz="2000"/>
            </a:lvl5pPr>
            <a:lvl6pPr marL="2285905" indent="0">
              <a:buNone/>
              <a:defRPr sz="2000"/>
            </a:lvl6pPr>
            <a:lvl7pPr marL="2743085" indent="0">
              <a:buNone/>
              <a:defRPr sz="2000"/>
            </a:lvl7pPr>
            <a:lvl8pPr marL="3200266" indent="0">
              <a:buNone/>
              <a:defRPr sz="2000"/>
            </a:lvl8pPr>
            <a:lvl9pPr marL="3657446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1" indent="0">
              <a:buNone/>
              <a:defRPr sz="1200"/>
            </a:lvl2pPr>
            <a:lvl3pPr marL="914362" indent="0">
              <a:buNone/>
              <a:defRPr sz="1000"/>
            </a:lvl3pPr>
            <a:lvl4pPr marL="1371543" indent="0">
              <a:buNone/>
              <a:defRPr sz="900"/>
            </a:lvl4pPr>
            <a:lvl5pPr marL="1828723" indent="0">
              <a:buNone/>
              <a:defRPr sz="900"/>
            </a:lvl5pPr>
            <a:lvl6pPr marL="2285905" indent="0">
              <a:buNone/>
              <a:defRPr sz="900"/>
            </a:lvl6pPr>
            <a:lvl7pPr marL="2743085" indent="0">
              <a:buNone/>
              <a:defRPr sz="900"/>
            </a:lvl7pPr>
            <a:lvl8pPr marL="3200266" indent="0">
              <a:buNone/>
              <a:defRPr sz="900"/>
            </a:lvl8pPr>
            <a:lvl9pPr marL="3657446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362C2-63F9-4ADB-9077-FDDEF6BC65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6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2311402"/>
            <a:ext cx="6172200" cy="653732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045BB-3214-4E04-BBB8-18E47A13AD1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876"/>
            <a:ext cx="1543050" cy="845185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876"/>
            <a:ext cx="4476750" cy="8451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68EFB-4788-4DF5-9C06-75522297D6E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9024938"/>
            <a:ext cx="16002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4938"/>
            <a:ext cx="16002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8C0E143-AED1-4BC2-9C2F-EECAE4340DD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5pPr>
      <a:lvl6pPr marL="457181" algn="l" rtl="0" fontAlgn="base" latinLnBrk="1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6pPr>
      <a:lvl7pPr marL="914362" algn="l" rtl="0" fontAlgn="base" latinLnBrk="1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7pPr>
      <a:lvl8pPr marL="1371543" algn="l" rtl="0" fontAlgn="base" latinLnBrk="1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8pPr>
      <a:lvl9pPr marL="1828723" algn="l" rtl="0" fontAlgn="base" latinLnBrk="1">
        <a:spcBef>
          <a:spcPct val="0"/>
        </a:spcBef>
        <a:spcAft>
          <a:spcPct val="0"/>
        </a:spcAft>
        <a:defRPr kumimoji="1" sz="2401">
          <a:solidFill>
            <a:schemeClr val="tx2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342886" indent="-342886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kumimoji="1" sz="1400">
          <a:solidFill>
            <a:srgbClr val="008080"/>
          </a:solidFill>
          <a:latin typeface="+mn-lt"/>
          <a:ea typeface="+mn-ea"/>
          <a:cs typeface="+mn-cs"/>
        </a:defRPr>
      </a:lvl1pPr>
      <a:lvl2pPr marL="742918" indent="-28573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142952" indent="-228591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00132" indent="-228591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314" indent="-228591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495" indent="-228591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675" indent="-228591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8857" indent="-228591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037" indent="-228591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73222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927468" y="70576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724208"/>
              </p:ext>
            </p:extLst>
          </p:nvPr>
        </p:nvGraphicFramePr>
        <p:xfrm>
          <a:off x="393585" y="1934203"/>
          <a:ext cx="6059748" cy="654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58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41912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13.2.1.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수련의 교육 및 감독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5354122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13.2.1.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수련의 교육 조직도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교육수련부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2012.12.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9456" y="1251824"/>
            <a:ext cx="6529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100" dirty="0">
                <a:latin typeface="+mn-ea"/>
                <a:ea typeface="+mn-ea"/>
                <a:cs typeface="Times New Roman" panose="02020603050405020304" pitchFamily="18" charset="0"/>
              </a:rPr>
              <a:t>수련의 교육 조직도</a:t>
            </a:r>
            <a:endParaRPr lang="ko-KR" altLang="ko-KR" sz="1400" kern="1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14290" y="9417496"/>
            <a:ext cx="644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373216" y="9489505"/>
            <a:ext cx="136815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5720" rIns="91441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r" defTabSz="914362">
              <a:tabLst>
                <a:tab pos="2700225" algn="ctr"/>
                <a:tab pos="5400448" algn="r"/>
              </a:tabLst>
            </a:pPr>
            <a:r>
              <a:rPr lang="en-US" altLang="ko-KR" sz="900" dirty="0">
                <a:latin typeface="바탕" pitchFamily="18" charset="-127"/>
                <a:ea typeface="-윤명조130" pitchFamily="18" charset="-127"/>
                <a:cs typeface="Times New Roman" pitchFamily="18" charset="0"/>
              </a:rPr>
              <a:t>1 | 1</a:t>
            </a:r>
            <a:endParaRPr lang="en-US" altLang="ko-KR" dirty="0"/>
          </a:p>
        </p:txBody>
      </p:sp>
      <p:cxnSp>
        <p:nvCxnSpPr>
          <p:cNvPr id="180" name="직선 연결선 179"/>
          <p:cNvCxnSpPr>
            <a:cxnSpLocks/>
            <a:endCxn id="198" idx="0"/>
          </p:cNvCxnSpPr>
          <p:nvPr/>
        </p:nvCxnSpPr>
        <p:spPr>
          <a:xfrm flipH="1">
            <a:off x="3482841" y="2609077"/>
            <a:ext cx="1406" cy="3782380"/>
          </a:xfrm>
          <a:prstGeom prst="line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578308" y="3412192"/>
            <a:ext cx="1811876" cy="360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1F497D">
                <a:lumMod val="60000"/>
                <a:lumOff val="40000"/>
              </a:srgbClr>
            </a:solidFill>
          </a:ln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General Director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5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병원장</a:t>
            </a:r>
            <a:r>
              <a:rPr kumimoji="0" lang="en-US" altLang="ko-KR" sz="105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50" b="1" kern="0" dirty="0">
              <a:solidFill>
                <a:prstClr val="black"/>
              </a:solidFill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1988841" y="2919213"/>
            <a:ext cx="2987999" cy="373522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kern="0" dirty="0">
                <a:solidFill>
                  <a:schemeClr val="bg1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Severance Hospital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b="1" kern="0" dirty="0">
                <a:solidFill>
                  <a:schemeClr val="bg1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50" b="1" kern="0" dirty="0" err="1">
                <a:solidFill>
                  <a:schemeClr val="bg1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세브란스병원</a:t>
            </a:r>
            <a:r>
              <a:rPr kumimoji="0" lang="en-US" altLang="ko-KR" sz="1050" b="1" kern="0" dirty="0">
                <a:solidFill>
                  <a:schemeClr val="bg1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50" b="1" kern="0" dirty="0">
              <a:solidFill>
                <a:schemeClr val="bg1"/>
              </a:solidFill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316759" y="6824957"/>
            <a:ext cx="2350841" cy="576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</a:ln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Chiefs of</a:t>
            </a:r>
            <a:r>
              <a:rPr kumimoji="0" lang="ko-KR" altLang="en-US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 </a:t>
            </a:r>
            <a:endParaRPr kumimoji="0" lang="en-US" altLang="ko-KR" sz="1101" b="1" kern="0" dirty="0">
              <a:solidFill>
                <a:prstClr val="black"/>
              </a:solidFill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Clinical [Science] Departments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임상과장</a:t>
            </a: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</a:p>
        </p:txBody>
      </p:sp>
      <p:cxnSp>
        <p:nvCxnSpPr>
          <p:cNvPr id="196" name="직선 연결선 195"/>
          <p:cNvCxnSpPr>
            <a:cxnSpLocks/>
          </p:cNvCxnSpPr>
          <p:nvPr/>
        </p:nvCxnSpPr>
        <p:spPr>
          <a:xfrm>
            <a:off x="4293096" y="5010448"/>
            <a:ext cx="360000" cy="0"/>
          </a:xfrm>
          <a:prstGeom prst="line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98" name="TextBox 197"/>
          <p:cNvSpPr txBox="1"/>
          <p:nvPr/>
        </p:nvSpPr>
        <p:spPr>
          <a:xfrm>
            <a:off x="2307420" y="6391457"/>
            <a:ext cx="2350841" cy="360000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Clinical [Science] Departments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kern="0" dirty="0" err="1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임상진료과</a:t>
            </a: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00" b="1" kern="0" dirty="0">
              <a:solidFill>
                <a:prstClr val="black"/>
              </a:solidFill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4653096" y="4736976"/>
            <a:ext cx="1806102" cy="57600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Education and Training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kern="0" dirty="0" err="1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교육수련부</a:t>
            </a: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00" b="1" kern="0" dirty="0">
              <a:solidFill>
                <a:prstClr val="black"/>
              </a:solidFill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4653092" y="5597440"/>
            <a:ext cx="1806103" cy="576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1F497D">
                <a:lumMod val="60000"/>
                <a:lumOff val="40000"/>
              </a:srgbClr>
            </a:solidFill>
          </a:ln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Director of 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Education and Training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교육수련부장</a:t>
            </a: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00" b="1" kern="0" dirty="0">
              <a:solidFill>
                <a:prstClr val="black"/>
              </a:solidFill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2578306" y="4736976"/>
            <a:ext cx="1806102" cy="576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1F497D">
                <a:lumMod val="60000"/>
                <a:lumOff val="40000"/>
              </a:srgbClr>
            </a:solidFill>
          </a:ln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Vice Director for Clinical Affairs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진료부원장</a:t>
            </a: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</a:p>
        </p:txBody>
      </p:sp>
      <p:cxnSp>
        <p:nvCxnSpPr>
          <p:cNvPr id="209" name="직선 연결선 208"/>
          <p:cNvCxnSpPr/>
          <p:nvPr/>
        </p:nvCxnSpPr>
        <p:spPr>
          <a:xfrm>
            <a:off x="3283729" y="4227061"/>
            <a:ext cx="199112" cy="0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</p:cxnSp>
      <p:sp>
        <p:nvSpPr>
          <p:cNvPr id="190" name="TextBox 189"/>
          <p:cNvSpPr txBox="1"/>
          <p:nvPr/>
        </p:nvSpPr>
        <p:spPr>
          <a:xfrm>
            <a:off x="1835241" y="3939061"/>
            <a:ext cx="1512000" cy="57600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1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Education and Training Committee</a:t>
            </a:r>
          </a:p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교육수련위원회</a:t>
            </a:r>
            <a:r>
              <a:rPr kumimoji="0" lang="en-US" altLang="ko-KR" sz="10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284899-D1A9-4F1D-81B0-4B74CA7AA97B}"/>
              </a:ext>
            </a:extLst>
          </p:cNvPr>
          <p:cNvSpPr txBox="1"/>
          <p:nvPr/>
        </p:nvSpPr>
        <p:spPr>
          <a:xfrm>
            <a:off x="999252" y="2177028"/>
            <a:ext cx="5044159" cy="43204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 defTabSz="914362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Yonsei University Health System (</a:t>
            </a:r>
            <a:r>
              <a:rPr kumimoji="0" lang="ko-KR" altLang="en-US" sz="12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연세의료원</a:t>
            </a:r>
            <a:r>
              <a:rPr kumimoji="0" lang="en-US" altLang="ko-KR" sz="1200" b="1" kern="0" dirty="0">
                <a:solidFill>
                  <a:prstClr val="black"/>
                </a:solidFill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200" b="1" kern="0" dirty="0">
              <a:solidFill>
                <a:prstClr val="black"/>
              </a:solidFill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B770AB8-9B08-42EC-84C7-4A362AEADD9A}"/>
              </a:ext>
            </a:extLst>
          </p:cNvPr>
          <p:cNvCxnSpPr>
            <a:cxnSpLocks/>
          </p:cNvCxnSpPr>
          <p:nvPr/>
        </p:nvCxnSpPr>
        <p:spPr>
          <a:xfrm>
            <a:off x="5543902" y="5312976"/>
            <a:ext cx="0" cy="288000"/>
          </a:xfrm>
          <a:prstGeom prst="line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00F4CADF-3C0E-41A8-9CE0-DA53E42F0C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370952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5FD682BB-DE3D-40D2-8652-DBDDDC95A993}"/>
              </a:ext>
            </a:extLst>
          </p:cNvPr>
          <p:cNvSpPr txBox="1"/>
          <p:nvPr/>
        </p:nvSpPr>
        <p:spPr>
          <a:xfrm>
            <a:off x="5927468" y="344488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307740"/>
      </p:ext>
    </p:extLst>
  </p:cSld>
  <p:clrMapOvr>
    <a:masterClrMapping/>
  </p:clrMapOvr>
</p:sld>
</file>

<file path=ppt/theme/theme1.xml><?xml version="1.0" encoding="utf-8"?>
<a:theme xmlns:a="http://schemas.openxmlformats.org/drawingml/2006/main" name="캡슐 구성">
  <a:themeElements>
    <a:clrScheme name="캡슐 구성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캡슐 구성">
      <a:majorFont>
        <a:latin typeface="HY울릉도M"/>
        <a:ea typeface="HY울릉도M"/>
        <a:cs typeface=""/>
      </a:majorFont>
      <a:minorFont>
        <a:latin typeface="연세본문체"/>
        <a:ea typeface="연세본문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캡슐 구성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캡슐 구성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캡슐 구성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3432</TotalTime>
  <Words>98</Words>
  <Application>Microsoft Office PowerPoint</Application>
  <PresentationFormat>A4 용지(210x297mm)</PresentationFormat>
  <Paragraphs>33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HY울릉도M</vt:lpstr>
      <vt:lpstr>굴림</vt:lpstr>
      <vt:lpstr>맑은 고딕</vt:lpstr>
      <vt:lpstr>바탕</vt:lpstr>
      <vt:lpstr>연세본문체</vt:lpstr>
      <vt:lpstr>연세소제목체</vt:lpstr>
      <vt:lpstr>Arial</vt:lpstr>
      <vt:lpstr>Times New Roman</vt:lpstr>
      <vt:lpstr>Wingdings</vt:lpstr>
      <vt:lpstr>캡슐 구성</vt:lpstr>
      <vt:lpstr>PowerPoint 프레젠테이션</vt:lpstr>
      <vt:lpstr>PowerPoint 프레젠테이션</vt:lpstr>
    </vt:vector>
  </TitlesOfParts>
  <Company>연세의료원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mychoi</dc:creator>
  <cp:lastModifiedBy>진료혁신센터 공지사항</cp:lastModifiedBy>
  <cp:revision>484</cp:revision>
  <dcterms:created xsi:type="dcterms:W3CDTF">2006-10-20T02:17:37Z</dcterms:created>
  <dcterms:modified xsi:type="dcterms:W3CDTF">2025-04-02T00:24:41Z</dcterms:modified>
</cp:coreProperties>
</file>