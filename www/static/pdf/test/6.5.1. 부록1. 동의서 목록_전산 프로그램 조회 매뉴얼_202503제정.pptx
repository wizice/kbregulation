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307" r:id="rId3"/>
    <p:sldId id="397" r:id="rId4"/>
    <p:sldId id="426" r:id="rId5"/>
    <p:sldId id="427" r:id="rId6"/>
    <p:sldId id="428" r:id="rId7"/>
    <p:sldId id="425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4"/>
    <p:restoredTop sz="94340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654" y="114"/>
      </p:cViewPr>
      <p:guideLst>
        <p:guide orient="horz" pos="2160"/>
        <p:guide pos="3840"/>
        <p:guide pos="5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59867-744B-44EA-BA8F-130DCAAC642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A5382-4FC2-495A-AC21-F7D6E1980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300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08691-527F-41CC-AF1C-66CF064058C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90D3-AF81-4335-A4EF-7BA500E837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41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37CCF-636E-4E45-90E9-8EC184B59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03708A-F7D1-8944-8689-F9F4C9DEC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EDDD5-E8F8-994D-80DB-F2F48828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4DB5-0CC2-4B81-B978-C38BF8AED6EB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E3056-233B-CB4C-8D4E-DB743F56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F0922E-938E-9940-BF75-1BA9ADD6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404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BA1F0-1A8E-544F-82C4-EB0A1F96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F8325-EEAF-6947-8BFB-4CF757703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DC9664-008C-C246-BABC-5016720B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C0F21-564E-4511-8E6E-4D8E16AD9CB4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F4CF33-F7FA-A54E-AF4A-A782DE01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88B0B-C3B0-E64B-92F5-8B07439C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468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820AC-51DD-DB47-AD8E-ED8D2840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7A311-2A6B-AC41-9EB3-99F4510A5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F9199-65C6-F746-86A1-492F7DA8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09B8-DFAE-4BC0-B731-A2F964018F5B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9B12D-5FEA-0248-992A-F3A4140F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07EC0-8EB8-784E-BD30-281873CFE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2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D0F58-FF4C-2A47-8674-E5893F3A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AD0BE-E4F2-1D4D-AF6E-8B3AE5B4C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4F0EE-E353-9C4B-9781-E8F09BA94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7F4CCE-44DC-1D4B-99C5-F9B041E5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AB9F-EF74-4DA0-A14E-C2CA73F06D32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2CBEDA-584E-2040-84C0-3B21938C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3774DB-4023-6F4B-86B9-71236223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71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CEEE5-4307-F14F-8B4C-4DBDCAD0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A1CAE-CA88-C748-9F51-F710CBB88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26F5AC-D50B-2243-84D8-62B85171E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E04543-10DE-4845-91FD-D0B24F103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930C33-C04E-A044-85E0-3B6FC8AFD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92DB50B-6036-1D49-922C-016BD5CF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B807F-6B3C-4F2C-99FE-B58113AE08BC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99D245-55DD-4646-9893-78C9434A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EC97AA-BC8E-C041-91FF-5660312F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802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B22C0-8B1C-194E-A0EF-754FE641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F9A118-0C4D-5345-BA23-A3D39F91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399A-1705-4840-97FD-A1854946F763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E0367C-1ABE-D64A-AFD4-1534D585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DE1DFD-C2F6-9B41-A91E-0BE14194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55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A1A8F2-BFBB-FA4D-BDDF-031FD6A1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9FA0-16E5-482F-8BA6-714296CA1A11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CC93F7-E252-4347-84C0-A4203F3C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999FD-EF32-FF4D-BB70-0ACB2000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786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EE3C4-90BB-2143-93F7-AB587B03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4264E4-DE20-334E-9036-5E348B083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4476C3-2B70-724B-96E0-B6978B36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0D39B0-A2A8-3348-AB8A-B7B0C91E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4B6C-B461-4583-89A0-91B724E04F19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28E22B-C39E-6441-BF8C-9D0D4362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50FFFC-5861-1A4D-947B-495FE68B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1930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6F707-C106-C749-BC37-FA59F30D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C515B6-9C88-654E-B8E0-F3AC06441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717FF4-5387-8447-AAC8-3F71CE808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E1FC3-D0DE-E74F-8A66-DFD32A02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12EB-54EC-47CC-A3F1-EB6654D47405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C5E787-5DB4-4749-99D2-65EB6FBD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4C5E32-026C-DC41-86CE-33FD2859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292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ED39E-FE05-BB4D-958D-C482760D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0C43BD-17B8-674C-8260-DB02599F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672B2B-0F15-4D4C-BA46-480EA50B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A9AE-1FDF-4147-93C6-3071B918852E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D813A-9A6A-0F47-A443-BE46DDD3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3E6BC-FCE1-0944-9A82-AA08D331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497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0B5C05-0A0D-1B4E-ABEC-A0D8D3FDA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33F4D8-DFAB-AC4D-B7CA-2F8CC3C23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9CF687-47D2-AF42-AD6E-86943355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2ED61-FB34-44B7-806B-EFB44299FEDF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AD2A8-F8B4-7D43-93F6-B7D7D120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70721-44FE-7C41-B461-908C1C4D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2606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20F6C-8A8D-9983-3F23-80A504E9E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D997A6-12B0-07F6-92FA-9BD50A361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8C251-620A-C902-E4AB-7233150D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D618-02BC-449E-B292-4B8F4A7FFC95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AA040-7CFE-BD88-197D-87F727B0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065BC-88C1-6310-4487-F5F699F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65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B007B-D709-7A61-6711-F087C17C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B1511-C270-0665-F301-6C564FD8C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FC3A85-FA53-2227-9172-38096618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D6042-45C2-46E0-9748-4095632AD484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F4179-CF92-04AF-1864-1B3C9220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FA19A-BF08-3038-8B84-83226825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84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B0F7B-DA50-163D-B658-4C01D34A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D9ADA8-97E2-17F1-99EF-C32205B0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71863-D504-EC32-D45F-B59EDB7E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C805-75E7-42F9-A8DB-FFE40822D54B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21F953-02EC-BC32-D603-DA92327E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D1DCA-1E17-715D-0D36-02A4DFA1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9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42342-C193-3790-18E0-34EB9E00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64CEF-EC34-21B3-6FA0-197449652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6C7E04-D6F2-CF16-BE18-605965840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FC2AD1-3FC6-5FA9-64AD-6F29DB10B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FF1D-7959-4CA4-A735-25A006C5FD75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C02A6A-157B-D6D2-A562-DD637CD1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5B658-5BD9-5B85-8470-B53A78AC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020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95CF8-C88B-8D08-3070-09B770FE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FA798D-8560-429C-BF61-7FCD95221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E911D9-208F-44CB-1868-F8E02B776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AC023E-558A-059F-F045-2036002A4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62AC75-C5C5-74CA-B96D-EBAB94961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6A465F-625B-5C6F-6D9B-3C7F6024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3D34A-99F6-4478-91CF-1FAC753B45EC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621444-1B3C-997C-B65D-F737B1FB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91E4BC-BC0B-D877-E368-7DCEBEDB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493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D69BA-E39C-073B-1121-837E454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8107D1-DDFF-FAFE-A178-8A1F99E7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2B4EA-115B-4E14-BEDB-3B47E7EEFE7D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4A561E-18CE-9104-3160-A892AD6E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3917BD-A27C-D2A0-6564-58085751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467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AA0149-D436-D270-F316-924606A7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8F4B6-F08E-4533-98C2-3E06A94ACD5D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3A2DB2-490F-B313-EE48-EFEAED69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6A303-945A-722A-3154-A051F5D9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419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EAB91-C4FA-694D-ABEE-A78FA624D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67F50F-7ECF-A0FB-EC9A-D5897E042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FBA5E5-76B6-058F-ED97-CA51D53A7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7AF2C-AE55-D88F-7606-999FB5F6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056BA-3A2D-4BED-AFEC-5149BE8468B3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F07863-A99C-33D4-E62E-41FB41D9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FCC8B9-B392-08D5-F270-6886F445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649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C1839-B885-8E67-B6CE-0FE05121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F904ED-DF7E-8A4B-5F8F-53B7D945C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F014CA-92D0-8676-7FF2-FC7377288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81A8F-616A-08DB-B461-292688F3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09F05-0BD8-4F03-8068-42FF88021841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0563D-9891-B221-CAE4-69798EB8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ACA55-05F6-1AC2-D98E-A5958E01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864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21D69-EB9B-3F3F-7829-295AEC2C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E1852F-42C7-9516-E517-D247A1606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5C40F-8025-38CD-2D15-C3C323B6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296D4-6456-4F19-831E-46426DF714D0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59AC6-28A1-F1AB-7781-6463EA0D5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9FC86-A715-DEEE-628C-688621F4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600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B991AF-CE85-7132-881C-00CDB4C0F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C46915-E2D3-34B4-3FAD-1B7101C7D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F79BE-0D7E-A93A-5536-E6327AF8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3049C-1008-41E3-9BCC-D8D728DD32DE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F9E0B8-C4E7-00D2-8D73-93868017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4202F-6415-5BEE-29B2-0E2AC37E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2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547A82-6FB6-0748-81DE-846A65A8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CAE4D2-C164-D341-BBAD-02C2C8523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EE0A3-3994-EC48-AE7A-DDC0B5266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92DB4-172C-4DBE-A9F1-857279243A7D}" type="datetime1">
              <a:rPr kumimoji="1" lang="ko-KR" altLang="en-US" smtClean="0"/>
              <a:t>2025-04-02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4F0DE-26C1-3A49-8376-C9D04EF02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317F29-AC18-1741-9F0E-7F32B68E6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44325-C4E7-494B-A730-101B3619CD6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090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4A36E3-690B-661F-B4C3-7DDE0082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EC17-7397-ECE1-09D0-482C9215E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F14D6-94DB-7B8F-1FDD-7C66CCD99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DDBC7-CF90-4C0A-A2FA-3C23931DA5F5}" type="datetime1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1543A-0343-6B65-AFFB-2E0A4F771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8B8C6-C1F8-D156-74C2-B57C54014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55D1B-4533-4B2B-81ED-CD22DC9E6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07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EEBFCF-1CAA-4384-9DAA-41B27C6750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051" y="437899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9A37D989-2F51-4AEF-B297-DD41E9D59EBE}"/>
              </a:ext>
            </a:extLst>
          </p:cNvPr>
          <p:cNvSpPr txBox="1"/>
          <p:nvPr/>
        </p:nvSpPr>
        <p:spPr>
          <a:xfrm>
            <a:off x="9885073" y="411436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612BD5-94D3-4D27-8931-14E03BD57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495083"/>
              </p:ext>
            </p:extLst>
          </p:nvPr>
        </p:nvGraphicFramePr>
        <p:xfrm>
          <a:off x="1841988" y="1235525"/>
          <a:ext cx="8508024" cy="460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004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3234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6.5.1.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동의서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3655791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6.5.1.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동의서 목록</a:t>
                      </a:r>
                      <a:endParaRPr lang="en-US" altLang="ko-KR" sz="2200" dirty="0">
                        <a:solidFill>
                          <a:schemeClr val="tx1"/>
                        </a:solidFill>
                        <a:latin typeface="연세소제목체" panose="02030504000101010101" pitchFamily="18" charset="-127"/>
                        <a:ea typeface="연세소제목체" panose="02030504000101010101" pitchFamily="18" charset="-127"/>
                      </a:endParaRP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전산 프로그램 조회 매뉴얼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의무기록위원회</a:t>
                      </a:r>
                      <a:r>
                        <a:rPr lang="en-US" altLang="ko-KR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의무기록팀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8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E43A-D8B5-D9EB-F2B2-F8188E8C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5ED90D-F182-F768-205A-D4DA041DB6C7}"/>
              </a:ext>
            </a:extLst>
          </p:cNvPr>
          <p:cNvSpPr/>
          <p:nvPr/>
        </p:nvSpPr>
        <p:spPr>
          <a:xfrm>
            <a:off x="0" y="6270171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E5C58-5806-6E71-D895-9CBCB169B736}"/>
              </a:ext>
            </a:extLst>
          </p:cNvPr>
          <p:cNvSpPr/>
          <p:nvPr/>
        </p:nvSpPr>
        <p:spPr>
          <a:xfrm>
            <a:off x="0" y="6322142"/>
            <a:ext cx="12192000" cy="535858"/>
          </a:xfrm>
          <a:prstGeom prst="rect">
            <a:avLst/>
          </a:prstGeom>
          <a:solidFill>
            <a:srgbClr val="203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B85ABD-1319-3C17-10D5-BEB350B6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56" y="6429182"/>
            <a:ext cx="1076289" cy="321777"/>
          </a:xfrm>
          <a:prstGeom prst="rect">
            <a:avLst/>
          </a:prstGeom>
        </p:spPr>
      </p:pic>
      <p:pic>
        <p:nvPicPr>
          <p:cNvPr id="3" name="Object 10">
            <a:extLst>
              <a:ext uri="{FF2B5EF4-FFF2-40B4-BE49-F238E27FC236}">
                <a16:creationId xmlns:a16="http://schemas.microsoft.com/office/drawing/2014/main" id="{829EF1A9-E760-6DE7-891A-DB85EA2BF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228000" y="706060"/>
            <a:ext cx="11736000" cy="132975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2202A38A-137E-D371-5450-0E582296AB29}"/>
              </a:ext>
            </a:extLst>
          </p:cNvPr>
          <p:cNvSpPr txBox="1"/>
          <p:nvPr/>
        </p:nvSpPr>
        <p:spPr>
          <a:xfrm>
            <a:off x="228000" y="106740"/>
            <a:ext cx="109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진료 </a:t>
            </a:r>
            <a:r>
              <a:rPr lang="en-US" altLang="ko-KR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EHR_</a:t>
            </a: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목록 조회 방법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0CB7D9-A417-7020-1523-E4C3560D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2</a:t>
            </a:fld>
            <a:endParaRPr kumimoji="1"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3" y="1900645"/>
            <a:ext cx="11046618" cy="14259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000" y="884108"/>
            <a:ext cx="525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sz="1500" b="1" dirty="0">
                <a:latin typeface="+mn-ea"/>
              </a:rPr>
              <a:t>진료 </a:t>
            </a:r>
            <a:r>
              <a:rPr lang="en-US" altLang="ko-KR" sz="1500" b="1" dirty="0">
                <a:latin typeface="+mn-ea"/>
              </a:rPr>
              <a:t>EHR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 My Option  </a:t>
            </a:r>
            <a:r>
              <a:rPr lang="ko-KR" altLang="en-US" sz="1500" b="1" dirty="0" err="1">
                <a:latin typeface="+mn-ea"/>
                <a:sym typeface="Wingdings" panose="05000000000000000000" pitchFamily="2" charset="2"/>
              </a:rPr>
              <a:t>서식검색</a:t>
            </a:r>
            <a:r>
              <a:rPr lang="ko-KR" altLang="en-US" sz="1500" b="1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500" b="1" dirty="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3" y="3903549"/>
            <a:ext cx="11046618" cy="143409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242874" y="2594753"/>
            <a:ext cx="1296140" cy="21306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242874" y="4593396"/>
            <a:ext cx="1296140" cy="21306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539014" y="2589546"/>
            <a:ext cx="1296140" cy="213064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577504" y="4593396"/>
            <a:ext cx="1296140" cy="213064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28000" y="1243673"/>
            <a:ext cx="870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sz="1500" b="1" dirty="0" err="1">
                <a:solidFill>
                  <a:srgbClr val="FF0000"/>
                </a:solidFill>
                <a:latin typeface="+mn-ea"/>
              </a:rPr>
              <a:t>대분류</a:t>
            </a:r>
            <a:r>
              <a:rPr lang="ko-KR" altLang="en-US" sz="1500" b="1" dirty="0">
                <a:solidFill>
                  <a:srgbClr val="FF0000"/>
                </a:solidFill>
                <a:latin typeface="+mn-ea"/>
              </a:rPr>
              <a:t> 전체</a:t>
            </a:r>
            <a:r>
              <a:rPr lang="en-US" altLang="ko-KR" sz="15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:  </a:t>
            </a:r>
            <a:r>
              <a:rPr lang="ko-KR" altLang="en-US" sz="15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법정</a:t>
            </a:r>
            <a:r>
              <a:rPr lang="en-US" altLang="ko-KR" sz="15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5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외부용 서식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중분류 전체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:  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동의서</a:t>
            </a:r>
            <a:r>
              <a:rPr lang="en-US" altLang="ko-KR" sz="15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5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신청서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500" b="1" dirty="0">
                <a:latin typeface="+mn-ea"/>
                <a:sym typeface="Wingdings" panose="05000000000000000000" pitchFamily="2" charset="2"/>
              </a:rPr>
              <a:t>검색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500" b="1" dirty="0">
              <a:latin typeface="+mn-ea"/>
            </a:endParaRPr>
          </a:p>
        </p:txBody>
      </p:sp>
      <p:sp>
        <p:nvSpPr>
          <p:cNvPr id="18" name="아래쪽 화살표 17"/>
          <p:cNvSpPr/>
          <p:nvPr/>
        </p:nvSpPr>
        <p:spPr>
          <a:xfrm>
            <a:off x="1781666" y="2869061"/>
            <a:ext cx="109278" cy="1617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아래쪽 화살표 18"/>
          <p:cNvSpPr/>
          <p:nvPr/>
        </p:nvSpPr>
        <p:spPr>
          <a:xfrm>
            <a:off x="3132445" y="2853471"/>
            <a:ext cx="109278" cy="1617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902696" y="4806460"/>
            <a:ext cx="1875935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수술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검사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처방</a:t>
            </a:r>
            <a:r>
              <a:rPr lang="en-US" altLang="ko-KR" sz="1000" dirty="0">
                <a:latin typeface="+mn-ea"/>
              </a:rPr>
              <a:t>-</a:t>
            </a:r>
            <a:r>
              <a:rPr lang="ko-KR" altLang="en-US" sz="1000" dirty="0">
                <a:latin typeface="+mn-ea"/>
              </a:rPr>
              <a:t>동의서 매핑 포함</a:t>
            </a:r>
            <a:r>
              <a:rPr lang="en-US" altLang="ko-KR" sz="1000" dirty="0">
                <a:latin typeface="+mn-ea"/>
              </a:rPr>
              <a:t>)</a:t>
            </a:r>
          </a:p>
          <a:p>
            <a:r>
              <a:rPr lang="ko-KR" altLang="en-US" sz="1000" dirty="0">
                <a:latin typeface="+mn-ea"/>
              </a:rPr>
              <a:t>수혈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행정 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마취</a:t>
            </a:r>
            <a:endParaRPr lang="en-US" altLang="ko-KR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915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3"/>
    </mc:Choice>
    <mc:Fallback xmlns="">
      <p:transition spd="slow" advTm="688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E43A-D8B5-D9EB-F2B2-F8188E8C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5ED90D-F182-F768-205A-D4DA041DB6C7}"/>
              </a:ext>
            </a:extLst>
          </p:cNvPr>
          <p:cNvSpPr/>
          <p:nvPr/>
        </p:nvSpPr>
        <p:spPr>
          <a:xfrm>
            <a:off x="0" y="6270171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E5C58-5806-6E71-D895-9CBCB169B736}"/>
              </a:ext>
            </a:extLst>
          </p:cNvPr>
          <p:cNvSpPr/>
          <p:nvPr/>
        </p:nvSpPr>
        <p:spPr>
          <a:xfrm>
            <a:off x="0" y="6322142"/>
            <a:ext cx="12192000" cy="535858"/>
          </a:xfrm>
          <a:prstGeom prst="rect">
            <a:avLst/>
          </a:prstGeom>
          <a:solidFill>
            <a:srgbClr val="203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B85ABD-1319-3C17-10D5-BEB350B6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56" y="6429182"/>
            <a:ext cx="1076289" cy="321777"/>
          </a:xfrm>
          <a:prstGeom prst="rect">
            <a:avLst/>
          </a:prstGeom>
        </p:spPr>
      </p:pic>
      <p:pic>
        <p:nvPicPr>
          <p:cNvPr id="3" name="Object 10">
            <a:extLst>
              <a:ext uri="{FF2B5EF4-FFF2-40B4-BE49-F238E27FC236}">
                <a16:creationId xmlns:a16="http://schemas.microsoft.com/office/drawing/2014/main" id="{829EF1A9-E760-6DE7-891A-DB85EA2BF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228000" y="706060"/>
            <a:ext cx="11736000" cy="132975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2202A38A-137E-D371-5450-0E582296AB29}"/>
              </a:ext>
            </a:extLst>
          </p:cNvPr>
          <p:cNvSpPr txBox="1"/>
          <p:nvPr/>
        </p:nvSpPr>
        <p:spPr>
          <a:xfrm>
            <a:off x="228000" y="106740"/>
            <a:ext cx="109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진료 </a:t>
            </a:r>
            <a:r>
              <a:rPr lang="en-US" altLang="ko-KR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EHR_</a:t>
            </a: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목록 조회 방법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0CB7D9-A417-7020-1523-E4C3560D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3</a:t>
            </a:fld>
            <a:endParaRPr kumimoji="1"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00" y="1118162"/>
            <a:ext cx="8495337" cy="221025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99" y="3607542"/>
            <a:ext cx="8447937" cy="2015744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007149" y="4176074"/>
            <a:ext cx="245098" cy="84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2914757" y="4119615"/>
            <a:ext cx="12513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1" dirty="0">
                <a:latin typeface="+mn-ea"/>
              </a:rPr>
              <a:t>검사</a:t>
            </a:r>
            <a:r>
              <a:rPr lang="en-US" altLang="ko-KR" sz="600" b="1" dirty="0">
                <a:latin typeface="+mn-ea"/>
              </a:rPr>
              <a:t>(</a:t>
            </a:r>
            <a:r>
              <a:rPr lang="ko-KR" altLang="en-US" sz="600" b="1" dirty="0">
                <a:latin typeface="+mn-ea"/>
              </a:rPr>
              <a:t>처방</a:t>
            </a:r>
            <a:r>
              <a:rPr lang="en-US" altLang="ko-KR" sz="600" b="1" dirty="0">
                <a:latin typeface="+mn-ea"/>
              </a:rPr>
              <a:t>-</a:t>
            </a:r>
            <a:r>
              <a:rPr lang="ko-KR" altLang="en-US" sz="600" b="1" dirty="0">
                <a:latin typeface="+mn-ea"/>
              </a:rPr>
              <a:t>동의서 매핑 포함</a:t>
            </a:r>
            <a:r>
              <a:rPr lang="en-US" altLang="ko-KR" sz="600" dirty="0">
                <a:latin typeface="+mn-ea"/>
              </a:rPr>
              <a:t>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892386" y="1580877"/>
            <a:ext cx="1076299" cy="213064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2975123" y="4089962"/>
            <a:ext cx="1076299" cy="213064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3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3"/>
    </mc:Choice>
    <mc:Fallback xmlns="">
      <p:transition spd="slow" advTm="688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E43A-D8B5-D9EB-F2B2-F8188E8C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5ED90D-F182-F768-205A-D4DA041DB6C7}"/>
              </a:ext>
            </a:extLst>
          </p:cNvPr>
          <p:cNvSpPr/>
          <p:nvPr/>
        </p:nvSpPr>
        <p:spPr>
          <a:xfrm>
            <a:off x="0" y="6270171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E5C58-5806-6E71-D895-9CBCB169B736}"/>
              </a:ext>
            </a:extLst>
          </p:cNvPr>
          <p:cNvSpPr/>
          <p:nvPr/>
        </p:nvSpPr>
        <p:spPr>
          <a:xfrm>
            <a:off x="0" y="6322142"/>
            <a:ext cx="12192000" cy="535858"/>
          </a:xfrm>
          <a:prstGeom prst="rect">
            <a:avLst/>
          </a:prstGeom>
          <a:solidFill>
            <a:srgbClr val="203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B85ABD-1319-3C17-10D5-BEB350B6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56" y="6429182"/>
            <a:ext cx="1076289" cy="321777"/>
          </a:xfrm>
          <a:prstGeom prst="rect">
            <a:avLst/>
          </a:prstGeom>
        </p:spPr>
      </p:pic>
      <p:pic>
        <p:nvPicPr>
          <p:cNvPr id="3" name="Object 10">
            <a:extLst>
              <a:ext uri="{FF2B5EF4-FFF2-40B4-BE49-F238E27FC236}">
                <a16:creationId xmlns:a16="http://schemas.microsoft.com/office/drawing/2014/main" id="{829EF1A9-E760-6DE7-891A-DB85EA2BF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228000" y="706060"/>
            <a:ext cx="11736000" cy="132975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2202A38A-137E-D371-5450-0E582296AB29}"/>
              </a:ext>
            </a:extLst>
          </p:cNvPr>
          <p:cNvSpPr txBox="1"/>
          <p:nvPr/>
        </p:nvSpPr>
        <p:spPr>
          <a:xfrm>
            <a:off x="228000" y="106740"/>
            <a:ext cx="109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진료 </a:t>
            </a:r>
            <a:r>
              <a:rPr lang="en-US" altLang="ko-KR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EHR_</a:t>
            </a: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목록 조회 방법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0CB7D9-A417-7020-1523-E4C3560D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4</a:t>
            </a:fld>
            <a:endParaRPr kumimoji="1"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00" y="1080289"/>
            <a:ext cx="8871589" cy="2173057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034431" y="1607511"/>
            <a:ext cx="1076299" cy="213064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90" y="3556886"/>
            <a:ext cx="8887399" cy="2133700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142441" y="4103616"/>
            <a:ext cx="1076299" cy="213064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0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3"/>
    </mc:Choice>
    <mc:Fallback xmlns="">
      <p:transition spd="slow" advTm="6884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E43A-D8B5-D9EB-F2B2-F8188E8C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5ED90D-F182-F768-205A-D4DA041DB6C7}"/>
              </a:ext>
            </a:extLst>
          </p:cNvPr>
          <p:cNvSpPr/>
          <p:nvPr/>
        </p:nvSpPr>
        <p:spPr>
          <a:xfrm>
            <a:off x="0" y="6270171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E5C58-5806-6E71-D895-9CBCB169B736}"/>
              </a:ext>
            </a:extLst>
          </p:cNvPr>
          <p:cNvSpPr/>
          <p:nvPr/>
        </p:nvSpPr>
        <p:spPr>
          <a:xfrm>
            <a:off x="0" y="6322142"/>
            <a:ext cx="12192000" cy="535858"/>
          </a:xfrm>
          <a:prstGeom prst="rect">
            <a:avLst/>
          </a:prstGeom>
          <a:solidFill>
            <a:srgbClr val="203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B85ABD-1319-3C17-10D5-BEB350B6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56" y="6429182"/>
            <a:ext cx="1076289" cy="321777"/>
          </a:xfrm>
          <a:prstGeom prst="rect">
            <a:avLst/>
          </a:prstGeom>
        </p:spPr>
      </p:pic>
      <p:pic>
        <p:nvPicPr>
          <p:cNvPr id="3" name="Object 10">
            <a:extLst>
              <a:ext uri="{FF2B5EF4-FFF2-40B4-BE49-F238E27FC236}">
                <a16:creationId xmlns:a16="http://schemas.microsoft.com/office/drawing/2014/main" id="{829EF1A9-E760-6DE7-891A-DB85EA2BF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228000" y="706060"/>
            <a:ext cx="11736000" cy="132975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2202A38A-137E-D371-5450-0E582296AB29}"/>
              </a:ext>
            </a:extLst>
          </p:cNvPr>
          <p:cNvSpPr txBox="1"/>
          <p:nvPr/>
        </p:nvSpPr>
        <p:spPr>
          <a:xfrm>
            <a:off x="228000" y="106740"/>
            <a:ext cx="109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진료 </a:t>
            </a:r>
            <a:r>
              <a:rPr lang="en-US" altLang="ko-KR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EHR_</a:t>
            </a: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목록 조회 방법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0CB7D9-A417-7020-1523-E4C3560D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5</a:t>
            </a:fld>
            <a:endParaRPr kumimoji="1"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01" y="1187642"/>
            <a:ext cx="9732746" cy="2487713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3309638" y="1812350"/>
            <a:ext cx="1076299" cy="213064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1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3"/>
    </mc:Choice>
    <mc:Fallback xmlns="">
      <p:transition spd="slow" advTm="6884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E43A-D8B5-D9EB-F2B2-F8188E8C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5ED90D-F182-F768-205A-D4DA041DB6C7}"/>
              </a:ext>
            </a:extLst>
          </p:cNvPr>
          <p:cNvSpPr/>
          <p:nvPr/>
        </p:nvSpPr>
        <p:spPr>
          <a:xfrm>
            <a:off x="0" y="6270171"/>
            <a:ext cx="12192000" cy="5878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EE5C58-5806-6E71-D895-9CBCB169B736}"/>
              </a:ext>
            </a:extLst>
          </p:cNvPr>
          <p:cNvSpPr/>
          <p:nvPr/>
        </p:nvSpPr>
        <p:spPr>
          <a:xfrm>
            <a:off x="0" y="6322142"/>
            <a:ext cx="12192000" cy="535858"/>
          </a:xfrm>
          <a:prstGeom prst="rect">
            <a:avLst/>
          </a:prstGeom>
          <a:solidFill>
            <a:srgbClr val="2034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B85ABD-1319-3C17-10D5-BEB350B6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856" y="6429182"/>
            <a:ext cx="1076289" cy="321777"/>
          </a:xfrm>
          <a:prstGeom prst="rect">
            <a:avLst/>
          </a:prstGeom>
        </p:spPr>
      </p:pic>
      <p:pic>
        <p:nvPicPr>
          <p:cNvPr id="3" name="Object 10">
            <a:extLst>
              <a:ext uri="{FF2B5EF4-FFF2-40B4-BE49-F238E27FC236}">
                <a16:creationId xmlns:a16="http://schemas.microsoft.com/office/drawing/2014/main" id="{829EF1A9-E760-6DE7-891A-DB85EA2BF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228000" y="706060"/>
            <a:ext cx="11736000" cy="132975"/>
          </a:xfrm>
          <a:prstGeom prst="rect">
            <a:avLst/>
          </a:prstGeom>
        </p:spPr>
      </p:pic>
      <p:sp>
        <p:nvSpPr>
          <p:cNvPr id="4" name="TextBox 17">
            <a:extLst>
              <a:ext uri="{FF2B5EF4-FFF2-40B4-BE49-F238E27FC236}">
                <a16:creationId xmlns:a16="http://schemas.microsoft.com/office/drawing/2014/main" id="{2202A38A-137E-D371-5450-0E582296AB29}"/>
              </a:ext>
            </a:extLst>
          </p:cNvPr>
          <p:cNvSpPr txBox="1"/>
          <p:nvPr/>
        </p:nvSpPr>
        <p:spPr>
          <a:xfrm>
            <a:off x="228000" y="106740"/>
            <a:ext cx="1090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모바일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세브란스 앱</a:t>
            </a:r>
            <a:r>
              <a:rPr lang="en-US" altLang="ko-KR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2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동의서 목록 조회 방법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0CB7D9-A417-7020-1523-E4C3560D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4325-C4E7-494B-A730-101B3619CD6A}" type="slidenum">
              <a:rPr kumimoji="1" lang="ko-KR" altLang="en-US" smtClean="0"/>
              <a:t>6</a:t>
            </a:fld>
            <a:endParaRPr kumimoji="1"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000" y="1068774"/>
            <a:ext cx="620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sz="1500" b="1" dirty="0">
                <a:latin typeface="+mn-ea"/>
              </a:rPr>
              <a:t>모바일 </a:t>
            </a:r>
            <a:r>
              <a:rPr lang="en-US" altLang="ko-KR" sz="1500" b="1" dirty="0">
                <a:latin typeface="+mn-ea"/>
              </a:rPr>
              <a:t>u</a:t>
            </a:r>
            <a:r>
              <a:rPr lang="ko-KR" altLang="en-US" sz="1500" b="1" dirty="0">
                <a:latin typeface="+mn-ea"/>
              </a:rPr>
              <a:t>세브란스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500" b="1" dirty="0" err="1">
                <a:latin typeface="+mn-ea"/>
                <a:sym typeface="Wingdings" panose="05000000000000000000" pitchFamily="2" charset="2"/>
              </a:rPr>
              <a:t>전자동의서</a:t>
            </a:r>
            <a:r>
              <a:rPr lang="ko-KR" altLang="en-US" sz="1500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500" b="1" dirty="0" err="1">
                <a:latin typeface="+mn-ea"/>
                <a:sym typeface="Wingdings" panose="05000000000000000000" pitchFamily="2" charset="2"/>
              </a:rPr>
              <a:t>동의서검색</a:t>
            </a:r>
            <a:r>
              <a:rPr lang="ko-KR" altLang="en-US" sz="1500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500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500" b="1" dirty="0" err="1">
                <a:latin typeface="+mn-ea"/>
                <a:sym typeface="Wingdings" panose="05000000000000000000" pitchFamily="2" charset="2"/>
              </a:rPr>
              <a:t>리스트형</a:t>
            </a:r>
            <a:endParaRPr lang="ko-KR" altLang="en-US" sz="1500" b="1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185" y="1667844"/>
            <a:ext cx="2489341" cy="4039813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5660590" y="2003763"/>
            <a:ext cx="804002" cy="3749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72" y="1667844"/>
            <a:ext cx="2514577" cy="4039813"/>
          </a:xfrm>
          <a:prstGeom prst="rect">
            <a:avLst/>
          </a:prstGeom>
        </p:spPr>
      </p:pic>
      <p:sp>
        <p:nvSpPr>
          <p:cNvPr id="13" name="타원 12"/>
          <p:cNvSpPr/>
          <p:nvPr/>
        </p:nvSpPr>
        <p:spPr>
          <a:xfrm>
            <a:off x="2157274" y="2031871"/>
            <a:ext cx="704456" cy="3749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86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3"/>
    </mc:Choice>
    <mc:Fallback xmlns="">
      <p:transition spd="slow" advTm="6884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7885</TotalTime>
  <Words>125</Words>
  <Application>Microsoft Office PowerPoint</Application>
  <PresentationFormat>와이드스크린</PresentationFormat>
  <Paragraphs>30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바탕</vt:lpstr>
      <vt:lpstr>연세소제목체</vt:lpstr>
      <vt:lpstr>Arial</vt:lpstr>
      <vt:lpstr>Times New Roman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진료혁신센터 공지사항</cp:lastModifiedBy>
  <cp:revision>211</cp:revision>
  <cp:lastPrinted>2024-11-20T22:28:03Z</cp:lastPrinted>
  <dcterms:created xsi:type="dcterms:W3CDTF">2018-06-01T02:36:15Z</dcterms:created>
  <dcterms:modified xsi:type="dcterms:W3CDTF">2025-04-02T00:20:04Z</dcterms:modified>
</cp:coreProperties>
</file>