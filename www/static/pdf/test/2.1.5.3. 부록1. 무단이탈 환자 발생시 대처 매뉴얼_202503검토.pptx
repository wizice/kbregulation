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07" r:id="rId2"/>
    <p:sldId id="284" r:id="rId3"/>
  </p:sldIdLst>
  <p:sldSz cx="12192000" cy="6858000"/>
  <p:notesSz cx="6807200" cy="9939338"/>
  <p:embeddedFontLst>
    <p:embeddedFont>
      <p:font typeface="나눔고딕" panose="020D0604000000000000" pitchFamily="50" charset="-127"/>
      <p:regular r:id="rId6"/>
      <p:bold r:id="rId7"/>
    </p:embeddedFont>
    <p:embeddedFont>
      <p:font typeface="나눔고딕 ExtraBold" panose="020D0904000000000000" pitchFamily="50" charset="-127"/>
      <p:bold r:id="rId8"/>
    </p:embeddedFont>
    <p:embeddedFont>
      <p:font typeface="맑은 고딕" panose="020B0503020000020004" pitchFamily="50" charset="-127"/>
      <p:regular r:id="rId9"/>
      <p:bold r:id="rId10"/>
    </p:embeddedFont>
    <p:embeddedFont>
      <p:font typeface="연세소제목체" panose="02030504000101010101" pitchFamily="18" charset="-127"/>
      <p:regular r:id="rId1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9" autoAdjust="0"/>
    <p:restoredTop sz="96353" autoAdjust="0"/>
  </p:normalViewPr>
  <p:slideViewPr>
    <p:cSldViewPr snapToGrid="0" showGuides="1">
      <p:cViewPr varScale="1">
        <p:scale>
          <a:sx n="109" d="100"/>
          <a:sy n="109" d="100"/>
        </p:scale>
        <p:origin x="546" y="114"/>
      </p:cViewPr>
      <p:guideLst>
        <p:guide orient="horz" pos="170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50529" cy="498953"/>
          </a:xfrm>
          <a:prstGeom prst="rect">
            <a:avLst/>
          </a:prstGeom>
        </p:spPr>
        <p:txBody>
          <a:bodyPr vert="horz" lIns="91541" tIns="45770" rIns="91541" bIns="4577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082" y="1"/>
            <a:ext cx="2950529" cy="498953"/>
          </a:xfrm>
          <a:prstGeom prst="rect">
            <a:avLst/>
          </a:prstGeom>
        </p:spPr>
        <p:txBody>
          <a:bodyPr vert="horz" lIns="91541" tIns="45770" rIns="91541" bIns="45770" rtlCol="0"/>
          <a:lstStyle>
            <a:lvl1pPr algn="r">
              <a:defRPr sz="1200"/>
            </a:lvl1pPr>
          </a:lstStyle>
          <a:p>
            <a:fld id="{8EDB3C5D-CDD8-4C8F-8B63-D999BDB4F101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385"/>
            <a:ext cx="2950529" cy="498953"/>
          </a:xfrm>
          <a:prstGeom prst="rect">
            <a:avLst/>
          </a:prstGeom>
        </p:spPr>
        <p:txBody>
          <a:bodyPr vert="horz" lIns="91541" tIns="45770" rIns="91541" bIns="4577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082" y="9440385"/>
            <a:ext cx="2950529" cy="498953"/>
          </a:xfrm>
          <a:prstGeom prst="rect">
            <a:avLst/>
          </a:prstGeom>
        </p:spPr>
        <p:txBody>
          <a:bodyPr vert="horz" lIns="91541" tIns="45770" rIns="91541" bIns="45770" rtlCol="0" anchor="b"/>
          <a:lstStyle>
            <a:lvl1pPr algn="r">
              <a:defRPr sz="1200"/>
            </a:lvl1pPr>
          </a:lstStyle>
          <a:p>
            <a:fld id="{D27A29A3-B98C-4D9A-8AFA-A0FDC58D1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2187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50529" cy="499033"/>
          </a:xfrm>
          <a:prstGeom prst="rect">
            <a:avLst/>
          </a:prstGeom>
        </p:spPr>
        <p:txBody>
          <a:bodyPr vert="horz" lIns="91541" tIns="45770" rIns="91541" bIns="4577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082" y="1"/>
            <a:ext cx="2950529" cy="499033"/>
          </a:xfrm>
          <a:prstGeom prst="rect">
            <a:avLst/>
          </a:prstGeom>
        </p:spPr>
        <p:txBody>
          <a:bodyPr vert="horz" lIns="91541" tIns="45770" rIns="91541" bIns="45770" rtlCol="0"/>
          <a:lstStyle>
            <a:lvl1pPr algn="r">
              <a:defRPr sz="1200"/>
            </a:lvl1pPr>
          </a:lstStyle>
          <a:p>
            <a:fld id="{5CDFA2B1-32DD-4D18-8B99-4254939D2301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41" tIns="45770" rIns="91541" bIns="4577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403" y="4783724"/>
            <a:ext cx="5446396" cy="3912800"/>
          </a:xfrm>
          <a:prstGeom prst="rect">
            <a:avLst/>
          </a:prstGeom>
        </p:spPr>
        <p:txBody>
          <a:bodyPr vert="horz" lIns="91541" tIns="45770" rIns="91541" bIns="4577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306"/>
            <a:ext cx="2950529" cy="499033"/>
          </a:xfrm>
          <a:prstGeom prst="rect">
            <a:avLst/>
          </a:prstGeom>
        </p:spPr>
        <p:txBody>
          <a:bodyPr vert="horz" lIns="91541" tIns="45770" rIns="91541" bIns="4577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082" y="9440306"/>
            <a:ext cx="2950529" cy="499033"/>
          </a:xfrm>
          <a:prstGeom prst="rect">
            <a:avLst/>
          </a:prstGeom>
        </p:spPr>
        <p:txBody>
          <a:bodyPr vert="horz" lIns="91541" tIns="45770" rIns="91541" bIns="45770" rtlCol="0" anchor="b"/>
          <a:lstStyle>
            <a:lvl1pPr algn="r">
              <a:defRPr sz="1200"/>
            </a:lvl1pPr>
          </a:lstStyle>
          <a:p>
            <a:fld id="{71046279-1E9A-440B-92AA-14EB9042AF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47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46279-1E9A-440B-92AA-14EB9042AF8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028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487F-B858-459A-A99E-400F5679E6BD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7EBF1-D19F-4EC8-9FA0-9882C1D29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84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487F-B858-459A-A99E-400F5679E6BD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7EBF1-D19F-4EC8-9FA0-9882C1D29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865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487F-B858-459A-A99E-400F5679E6BD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7EBF1-D19F-4EC8-9FA0-9882C1D29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640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487F-B858-459A-A99E-400F5679E6BD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7EBF1-D19F-4EC8-9FA0-9882C1D29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870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487F-B858-459A-A99E-400F5679E6BD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7EBF1-D19F-4EC8-9FA0-9882C1D29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85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487F-B858-459A-A99E-400F5679E6BD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7EBF1-D19F-4EC8-9FA0-9882C1D29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588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487F-B858-459A-A99E-400F5679E6BD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7EBF1-D19F-4EC8-9FA0-9882C1D29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61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487F-B858-459A-A99E-400F5679E6BD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7EBF1-D19F-4EC8-9FA0-9882C1D29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00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487F-B858-459A-A99E-400F5679E6BD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7EBF1-D19F-4EC8-9FA0-9882C1D29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632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487F-B858-459A-A99E-400F5679E6BD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7EBF1-D19F-4EC8-9FA0-9882C1D29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293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487F-B858-459A-A99E-400F5679E6BD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7EBF1-D19F-4EC8-9FA0-9882C1D29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52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1487F-B858-459A-A99E-400F5679E6BD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7EBF1-D19F-4EC8-9FA0-9882C1D29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27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CEEBFCF-1CAA-4384-9DAA-41B27C67507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51" y="437899"/>
            <a:ext cx="1315894" cy="3323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9A37D989-2F51-4AEF-B297-DD41E9D59EBE}"/>
              </a:ext>
            </a:extLst>
          </p:cNvPr>
          <p:cNvSpPr txBox="1"/>
          <p:nvPr/>
        </p:nvSpPr>
        <p:spPr>
          <a:xfrm>
            <a:off x="9885073" y="411436"/>
            <a:ext cx="597877" cy="24970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385"/>
              </a:spcBef>
              <a:spcAft>
                <a:spcPts val="1385"/>
              </a:spcAft>
            </a:pPr>
            <a:r>
              <a:rPr lang="ko-KR" altLang="en-US" sz="1015" kern="50" dirty="0">
                <a:solidFill>
                  <a:srgbClr val="FF0000"/>
                </a:solidFill>
                <a:latin typeface="바탕" panose="02030600000101010101" pitchFamily="18" charset="-127"/>
                <a:ea typeface="연세소제목체" panose="02030504000101010101" pitchFamily="18" charset="-127"/>
                <a:cs typeface="Times New Roman" panose="02020603050405020304" pitchFamily="18" charset="0"/>
              </a:rPr>
              <a:t>대외비</a:t>
            </a:r>
            <a:endParaRPr lang="ko-KR" altLang="en-US" sz="923" kern="50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7C612BD5-94D3-4D27-8931-14E03BD57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996159"/>
              </p:ext>
            </p:extLst>
          </p:nvPr>
        </p:nvGraphicFramePr>
        <p:xfrm>
          <a:off x="1841988" y="1235525"/>
          <a:ext cx="8508024" cy="4601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004">
                  <a:extLst>
                    <a:ext uri="{9D8B030D-6E8A-4147-A177-3AD203B41FA5}">
                      <a16:colId xmlns:a16="http://schemas.microsoft.com/office/drawing/2014/main" val="3307287349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2503108154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1982474349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159794727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842079274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267532808"/>
                    </a:ext>
                  </a:extLst>
                </a:gridCol>
              </a:tblGrid>
              <a:tr h="332345">
                <a:tc gridSpan="6"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세브란스병원 내규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2.1.5.3.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진료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·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치료 거부 및 무단이탈 환자 관리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84877"/>
                  </a:ext>
                </a:extLst>
              </a:tr>
              <a:tr h="3655791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2.1.5.3. 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부록</a:t>
                      </a: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1. 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무단이탈 환자 발생시 대처 매뉴얼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995443"/>
                  </a:ext>
                </a:extLst>
              </a:tr>
              <a:tr h="3068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담당부서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의료질향상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 및 환자안전위원회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327800"/>
                  </a:ext>
                </a:extLst>
              </a:tr>
              <a:tr h="3068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2023.06.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최종검토일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2025.03.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832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8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11007" y="78231"/>
            <a:ext cx="41874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 fontAlgn="ctr">
              <a:buFont typeface="Wingdings" panose="05000000000000000000" pitchFamily="2" charset="2"/>
              <a:buChar char="v"/>
            </a:pP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무단이탈 환자 발생시 대처 매뉴얼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41600" y="593381"/>
            <a:ext cx="3934266" cy="6067071"/>
            <a:chOff x="408697" y="486027"/>
            <a:chExt cx="3934266" cy="6067071"/>
          </a:xfrm>
        </p:grpSpPr>
        <p:sp>
          <p:nvSpPr>
            <p:cNvPr id="9" name="직사각형 8"/>
            <p:cNvSpPr/>
            <p:nvPr/>
          </p:nvSpPr>
          <p:spPr>
            <a:xfrm>
              <a:off x="1553726" y="2579381"/>
              <a:ext cx="2329109" cy="797225"/>
            </a:xfrm>
            <a:prstGeom prst="rect">
              <a:avLst/>
            </a:prstGeom>
            <a:solidFill>
              <a:srgbClr val="DBEEF4"/>
            </a:solidFill>
            <a:ln w="28575" cap="flat" cmpd="sng" algn="ctr">
              <a:solidFill>
                <a:schemeClr val="accent5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7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나눔고딕 ExtraBold" pitchFamily="50" charset="-127"/>
                  <a:ea typeface="나눔고딕 ExtraBold" pitchFamily="50" charset="-127"/>
                </a:rPr>
                <a:t>원내 방송</a:t>
              </a:r>
              <a:r>
                <a:rPr kumimoji="0" lang="en-US" altLang="ko-KR" sz="1600" b="0" i="0" u="none" strike="noStrike" kern="0" cap="none" spc="-7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나눔고딕 ExtraBold" pitchFamily="50" charset="-127"/>
                  <a:ea typeface="나눔고딕 ExtraBold" pitchFamily="50" charset="-127"/>
                </a:rPr>
                <a:t>(☎</a:t>
              </a:r>
              <a:r>
                <a:rPr lang="en-US" altLang="ko-KR" sz="1600" kern="0" spc="-70" noProof="0" dirty="0">
                  <a:solidFill>
                    <a:srgbClr val="FF0000"/>
                  </a:solidFill>
                  <a:latin typeface="나눔고딕 ExtraBold" pitchFamily="50" charset="-127"/>
                  <a:ea typeface="나눔고딕 ExtraBold" pitchFamily="50" charset="-127"/>
                </a:rPr>
                <a:t>0</a:t>
              </a:r>
              <a:r>
                <a:rPr lang="ko-KR" altLang="en-US" sz="1600" kern="0" spc="-70" noProof="0" dirty="0">
                  <a:solidFill>
                    <a:srgbClr val="FF0000"/>
                  </a:solidFill>
                  <a:latin typeface="나눔고딕 ExtraBold" pitchFamily="50" charset="-127"/>
                  <a:ea typeface="나눔고딕 ExtraBold" pitchFamily="50" charset="-127"/>
                </a:rPr>
                <a:t>번</a:t>
              </a:r>
              <a:r>
                <a:rPr lang="en-US" altLang="ko-KR" sz="1600" kern="0" spc="-70" noProof="0" dirty="0">
                  <a:solidFill>
                    <a:srgbClr val="FF0000"/>
                  </a:solidFill>
                  <a:latin typeface="나눔고딕 ExtraBold" pitchFamily="50" charset="-127"/>
                  <a:ea typeface="나눔고딕 ExtraBold" pitchFamily="50" charset="-127"/>
                </a:rPr>
                <a:t>) </a:t>
              </a:r>
              <a:endParaRPr lang="en-US" altLang="ko-KR" sz="1600" kern="0" spc="-70" dirty="0">
                <a:solidFill>
                  <a:srgbClr val="FF0000"/>
                </a:solidFill>
                <a:latin typeface="나눔고딕 ExtraBold" pitchFamily="50" charset="-127"/>
                <a:ea typeface="나눔고딕 ExtraBold" pitchFamily="50" charset="-127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7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나눔고딕 ExtraBold" pitchFamily="50" charset="-127"/>
                  <a:ea typeface="나눔고딕 ExtraBold" pitchFamily="50" charset="-127"/>
                </a:rPr>
                <a:t>보안팀</a:t>
              </a:r>
              <a:r>
                <a:rPr kumimoji="0" lang="ko-KR" altLang="en-US" sz="1600" b="0" i="0" u="none" strike="noStrike" kern="0" cap="none" spc="-7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나눔고딕 ExtraBold" pitchFamily="50" charset="-127"/>
                  <a:ea typeface="나눔고딕 ExtraBold" pitchFamily="50" charset="-127"/>
                </a:rPr>
                <a:t> </a:t>
              </a:r>
              <a:r>
                <a:rPr lang="ko-KR" altLang="en-US" sz="1600" kern="0" spc="-70" dirty="0">
                  <a:solidFill>
                    <a:srgbClr val="FF0000"/>
                  </a:solidFill>
                  <a:latin typeface="나눔고딕 ExtraBold" pitchFamily="50" charset="-127"/>
                  <a:ea typeface="나눔고딕 ExtraBold" pitchFamily="50" charset="-127"/>
                </a:rPr>
                <a:t>연락</a:t>
              </a:r>
              <a:r>
                <a:rPr lang="en-US" altLang="ko-KR" sz="1600" kern="0" spc="-70" dirty="0">
                  <a:solidFill>
                    <a:srgbClr val="FF0000"/>
                  </a:solidFill>
                  <a:latin typeface="나눔고딕 ExtraBold" pitchFamily="50" charset="-127"/>
                  <a:ea typeface="나눔고딕 ExtraBold" pitchFamily="50" charset="-127"/>
                </a:rPr>
                <a:t>(☎44915)</a:t>
              </a:r>
              <a:endParaRPr kumimoji="0" lang="en-US" altLang="ko-KR" sz="1600" b="0" i="0" u="none" strike="noStrike" kern="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고딕 ExtraBold" pitchFamily="50" charset="-127"/>
                <a:ea typeface="나눔고딕 ExtraBold" pitchFamily="50" charset="-127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-70" normalizeH="0" baseline="0" noProof="0" dirty="0" err="1">
                  <a:ln>
                    <a:noFill/>
                  </a:ln>
                  <a:effectLst/>
                  <a:uLnTx/>
                  <a:uFillTx/>
                  <a:latin typeface="나눔고딕 ExtraBold" pitchFamily="50" charset="-127"/>
                  <a:ea typeface="나눔고딕 ExtraBold" pitchFamily="50" charset="-127"/>
                  <a:cs typeface="+mn-cs"/>
                </a:rPr>
                <a:t>파트장</a:t>
              </a:r>
              <a:r>
                <a:rPr lang="en-US" altLang="ko-KR" sz="1400" kern="0" spc="-70" dirty="0">
                  <a:latin typeface="나눔고딕 ExtraBold" pitchFamily="50" charset="-127"/>
                  <a:ea typeface="나눔고딕 ExtraBold" pitchFamily="50" charset="-127"/>
                </a:rPr>
                <a:t>, </a:t>
              </a:r>
              <a:r>
                <a:rPr lang="ko-KR" altLang="en-US" sz="1400" kern="0" spc="-70" dirty="0">
                  <a:latin typeface="나눔고딕 ExtraBold" pitchFamily="50" charset="-127"/>
                  <a:ea typeface="나눔고딕 ExtraBold" pitchFamily="50" charset="-127"/>
                </a:rPr>
                <a:t>전공의</a:t>
              </a:r>
              <a:r>
                <a:rPr lang="en-US" altLang="ko-KR" sz="800" kern="0" spc="-70" dirty="0"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800" kern="0" spc="-70" dirty="0">
                  <a:latin typeface="나눔고딕 ExtraBold" pitchFamily="50" charset="-127"/>
                  <a:ea typeface="나눔고딕 ExtraBold" pitchFamily="50" charset="-127"/>
                </a:rPr>
                <a:t>담당의사</a:t>
              </a:r>
              <a:r>
                <a:rPr lang="en-US" altLang="ko-KR" sz="800" kern="0" spc="-70" dirty="0"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1400" kern="0" spc="-70" dirty="0">
                  <a:latin typeface="나눔고딕 ExtraBold" pitchFamily="50" charset="-127"/>
                  <a:ea typeface="나눔고딕 ExtraBold" pitchFamily="50" charset="-127"/>
                </a:rPr>
                <a:t>에게 보고</a:t>
              </a:r>
              <a:r>
                <a:rPr kumimoji="0" lang="ko-KR" altLang="en-US" sz="1400" b="0" i="0" u="none" strike="noStrike" kern="0" cap="none" spc="-70" normalizeH="0" baseline="0" noProof="0" dirty="0">
                  <a:ln>
                    <a:noFill/>
                  </a:ln>
                  <a:effectLst/>
                  <a:uLnTx/>
                  <a:uFillTx/>
                  <a:latin typeface="나눔고딕 ExtraBold" pitchFamily="50" charset="-127"/>
                  <a:ea typeface="나눔고딕 ExtraBold" pitchFamily="50" charset="-127"/>
                  <a:cs typeface="+mn-cs"/>
                </a:rPr>
                <a:t> </a:t>
              </a: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561095" y="4643686"/>
              <a:ext cx="2352732" cy="585569"/>
            </a:xfrm>
            <a:prstGeom prst="rect">
              <a:avLst/>
            </a:prstGeom>
            <a:solidFill>
              <a:srgbClr val="DBEEF4"/>
            </a:solidFill>
            <a:ln w="28575" cap="flat" cmpd="sng" algn="ctr">
              <a:solidFill>
                <a:schemeClr val="accent5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 latinLnBrk="0">
                <a:defRPr/>
              </a:pPr>
              <a:r>
                <a:rPr lang="ko-KR" altLang="en-US" sz="1600" kern="0" spc="-70" dirty="0">
                  <a:solidFill>
                    <a:srgbClr val="FF0000"/>
                  </a:solidFill>
                  <a:latin typeface="나눔고딕 ExtraBold" pitchFamily="50" charset="-127"/>
                  <a:ea typeface="나눔고딕 ExtraBold" pitchFamily="50" charset="-127"/>
                </a:rPr>
                <a:t>경찰 </a:t>
              </a:r>
              <a:r>
                <a:rPr lang="en-US" altLang="ko-KR" sz="1600" kern="0" spc="-70" dirty="0">
                  <a:solidFill>
                    <a:srgbClr val="FF0000"/>
                  </a:solidFill>
                  <a:latin typeface="나눔고딕 ExtraBold" pitchFamily="50" charset="-127"/>
                  <a:ea typeface="나눔고딕 ExtraBold" pitchFamily="50" charset="-127"/>
                </a:rPr>
                <a:t>112 </a:t>
              </a:r>
              <a:r>
                <a:rPr lang="ko-KR" altLang="en-US" sz="1600" kern="0" spc="-70" dirty="0">
                  <a:solidFill>
                    <a:srgbClr val="FF0000"/>
                  </a:solidFill>
                  <a:latin typeface="나눔고딕 ExtraBold" pitchFamily="50" charset="-127"/>
                  <a:ea typeface="나눔고딕 ExtraBold" pitchFamily="50" charset="-127"/>
                </a:rPr>
                <a:t>신고</a:t>
              </a:r>
            </a:p>
          </p:txBody>
        </p:sp>
        <p:sp>
          <p:nvSpPr>
            <p:cNvPr id="15" name="타원 14"/>
            <p:cNvSpPr/>
            <p:nvPr/>
          </p:nvSpPr>
          <p:spPr>
            <a:xfrm>
              <a:off x="1219665" y="5623229"/>
              <a:ext cx="3035591" cy="511012"/>
            </a:xfrm>
            <a:prstGeom prst="ellipse">
              <a:avLst/>
            </a:prstGeom>
            <a:solidFill>
              <a:srgbClr val="DBEEF4"/>
            </a:solidFill>
            <a:ln w="28575" cap="flat" cmpd="sng" algn="ctr">
              <a:solidFill>
                <a:schemeClr val="accent5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100" normalizeH="0" baseline="0" noProof="0" dirty="0">
                  <a:ln>
                    <a:noFill/>
                  </a:ln>
                  <a:effectLst/>
                  <a:uLnTx/>
                  <a:uFillTx/>
                  <a:latin typeface="나눔고딕 ExtraBold" pitchFamily="50" charset="-127"/>
                  <a:ea typeface="나눔고딕 ExtraBold" pitchFamily="50" charset="-127"/>
                  <a:cs typeface="+mn-cs"/>
                </a:rPr>
                <a:t>기록 및 보고서 작성</a:t>
              </a:r>
            </a:p>
          </p:txBody>
        </p:sp>
        <p:sp>
          <p:nvSpPr>
            <p:cNvPr id="16" name="아래쪽 화살표 15"/>
            <p:cNvSpPr/>
            <p:nvPr/>
          </p:nvSpPr>
          <p:spPr>
            <a:xfrm>
              <a:off x="2610555" y="1682974"/>
              <a:ext cx="209181" cy="13655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아래쪽 화살표 17"/>
            <p:cNvSpPr/>
            <p:nvPr/>
          </p:nvSpPr>
          <p:spPr>
            <a:xfrm>
              <a:off x="2620466" y="2437991"/>
              <a:ext cx="195655" cy="13677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아래쪽 화살표 18"/>
            <p:cNvSpPr/>
            <p:nvPr/>
          </p:nvSpPr>
          <p:spPr>
            <a:xfrm>
              <a:off x="2592908" y="3418923"/>
              <a:ext cx="227725" cy="168519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아래쪽 화살표 19"/>
            <p:cNvSpPr/>
            <p:nvPr/>
          </p:nvSpPr>
          <p:spPr>
            <a:xfrm>
              <a:off x="2587998" y="4347160"/>
              <a:ext cx="241990" cy="269576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아래쪽 화살표 21"/>
            <p:cNvSpPr/>
            <p:nvPr/>
          </p:nvSpPr>
          <p:spPr>
            <a:xfrm>
              <a:off x="2573832" y="5298814"/>
              <a:ext cx="282625" cy="273008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805966" y="2358287"/>
              <a:ext cx="331780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100" spc="-1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N</a:t>
              </a:r>
              <a:endParaRPr lang="ko-KR" altLang="en-US" sz="1100" spc="-1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825168" y="4239699"/>
              <a:ext cx="439272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100" spc="-1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N</a:t>
              </a:r>
              <a:endParaRPr lang="ko-KR" altLang="en-US" sz="1100" spc="-1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9" name="아래쪽 화살표 38"/>
            <p:cNvSpPr/>
            <p:nvPr/>
          </p:nvSpPr>
          <p:spPr>
            <a:xfrm>
              <a:off x="2587998" y="1087458"/>
              <a:ext cx="237547" cy="205914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" name="타원 42"/>
            <p:cNvSpPr/>
            <p:nvPr/>
          </p:nvSpPr>
          <p:spPr>
            <a:xfrm>
              <a:off x="1240243" y="518617"/>
              <a:ext cx="3102720" cy="539109"/>
            </a:xfrm>
            <a:prstGeom prst="ellipse">
              <a:avLst/>
            </a:prstGeom>
            <a:solidFill>
              <a:srgbClr val="DBEEF4"/>
            </a:solidFill>
            <a:ln w="28575" cap="flat" cmpd="sng" algn="ctr">
              <a:solidFill>
                <a:schemeClr val="accent5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-100" normalizeH="0" baseline="0" noProof="0" dirty="0">
                  <a:ln>
                    <a:noFill/>
                  </a:ln>
                  <a:effectLst/>
                  <a:uLnTx/>
                  <a:uFillTx/>
                  <a:latin typeface="나눔고딕 ExtraBold" pitchFamily="50" charset="-127"/>
                  <a:ea typeface="나눔고딕 ExtraBold" pitchFamily="50" charset="-127"/>
                  <a:cs typeface="+mn-cs"/>
                </a:rPr>
                <a:t>환자 및 보호자 교육   </a:t>
              </a:r>
              <a:endParaRPr kumimoji="0" lang="en-US" altLang="ko-KR" sz="1400" b="0" i="0" u="none" strike="noStrike" kern="0" cap="none" spc="-100" normalizeH="0" baseline="0" noProof="0" dirty="0">
                <a:ln>
                  <a:noFill/>
                </a:ln>
                <a:effectLst/>
                <a:uLnTx/>
                <a:uFillTx/>
                <a:latin typeface="나눔고딕 ExtraBold" pitchFamily="50" charset="-127"/>
                <a:ea typeface="나눔고딕 ExtraBold" pitchFamily="50" charset="-127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-100" normalizeH="0" baseline="0" noProof="0" dirty="0">
                  <a:ln>
                    <a:noFill/>
                  </a:ln>
                  <a:effectLst/>
                  <a:uLnTx/>
                  <a:uFillTx/>
                  <a:latin typeface="나눔고딕 ExtraBold" pitchFamily="50" charset="-127"/>
                  <a:ea typeface="나눔고딕 ExtraBold" pitchFamily="50" charset="-127"/>
                  <a:cs typeface="+mn-cs"/>
                </a:rPr>
                <a:t>병실 </a:t>
              </a:r>
              <a:r>
                <a:rPr kumimoji="0" lang="ko-KR" altLang="en-US" sz="1400" b="0" i="0" u="none" strike="noStrike" kern="0" cap="none" spc="-100" normalizeH="0" baseline="0" noProof="0" dirty="0" err="1">
                  <a:ln>
                    <a:noFill/>
                  </a:ln>
                  <a:effectLst/>
                  <a:uLnTx/>
                  <a:uFillTx/>
                  <a:latin typeface="나눔고딕 ExtraBold" pitchFamily="50" charset="-127"/>
                  <a:ea typeface="나눔고딕 ExtraBold" pitchFamily="50" charset="-127"/>
                  <a:cs typeface="+mn-cs"/>
                </a:rPr>
                <a:t>라운딩</a:t>
              </a:r>
              <a:endParaRPr kumimoji="0" lang="ko-KR" altLang="en-US" sz="1400" b="0" i="0" u="none" strike="noStrike" kern="0" cap="none" spc="-100" normalizeH="0" baseline="0" noProof="0" dirty="0">
                <a:ln>
                  <a:noFill/>
                </a:ln>
                <a:effectLst/>
                <a:uLnTx/>
                <a:uFillTx/>
                <a:latin typeface="나눔고딕 ExtraBold" pitchFamily="50" charset="-127"/>
                <a:ea typeface="나눔고딕 ExtraBold" pitchFamily="50" charset="-127"/>
                <a:cs typeface="+mn-cs"/>
              </a:endParaRPr>
            </a:p>
          </p:txBody>
        </p:sp>
        <p:sp>
          <p:nvSpPr>
            <p:cNvPr id="6" name="갈매기형 수장 5"/>
            <p:cNvSpPr/>
            <p:nvPr/>
          </p:nvSpPr>
          <p:spPr>
            <a:xfrm rot="5400000">
              <a:off x="115337" y="1613125"/>
              <a:ext cx="1334178" cy="744644"/>
            </a:xfrm>
            <a:prstGeom prst="chevron">
              <a:avLst>
                <a:gd name="adj" fmla="val 34044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갈매기형 수장 43"/>
            <p:cNvSpPr/>
            <p:nvPr/>
          </p:nvSpPr>
          <p:spPr>
            <a:xfrm rot="5400000">
              <a:off x="-207388" y="3227021"/>
              <a:ext cx="1999592" cy="726580"/>
            </a:xfrm>
            <a:prstGeom prst="chevron">
              <a:avLst>
                <a:gd name="adj" fmla="val 34044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갈매기형 수장 44"/>
            <p:cNvSpPr/>
            <p:nvPr/>
          </p:nvSpPr>
          <p:spPr>
            <a:xfrm rot="5400000">
              <a:off x="274971" y="4597384"/>
              <a:ext cx="1033397" cy="744644"/>
            </a:xfrm>
            <a:prstGeom prst="chevron">
              <a:avLst>
                <a:gd name="adj" fmla="val 34044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갈매기형 수장 45"/>
            <p:cNvSpPr/>
            <p:nvPr/>
          </p:nvSpPr>
          <p:spPr>
            <a:xfrm rot="5400000">
              <a:off x="189978" y="5597149"/>
              <a:ext cx="1185318" cy="726580"/>
            </a:xfrm>
            <a:prstGeom prst="chevron">
              <a:avLst>
                <a:gd name="adj" fmla="val 34044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갈매기형 수장 46"/>
            <p:cNvSpPr/>
            <p:nvPr/>
          </p:nvSpPr>
          <p:spPr>
            <a:xfrm rot="5400000">
              <a:off x="317556" y="605883"/>
              <a:ext cx="966291" cy="726580"/>
            </a:xfrm>
            <a:prstGeom prst="chevron">
              <a:avLst>
                <a:gd name="adj" fmla="val 3404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57481" y="821299"/>
              <a:ext cx="66915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 dirty="0" err="1"/>
                <a:t>전단계</a:t>
              </a:r>
              <a:endParaRPr lang="ko-KR" altLang="en-US" sz="1100" b="1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08697" y="1787591"/>
              <a:ext cx="726581" cy="313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100" b="1" dirty="0"/>
                <a:t>1</a:t>
              </a:r>
              <a:r>
                <a:rPr lang="ko-KR" altLang="en-US" sz="1100" b="1" dirty="0"/>
                <a:t>단계</a:t>
              </a:r>
              <a:endParaRPr lang="en-US" altLang="ko-KR" sz="1100" b="1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30986" y="3283795"/>
              <a:ext cx="669155" cy="313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b="1" dirty="0"/>
                <a:t>2</a:t>
              </a:r>
              <a:r>
                <a:rPr lang="ko-KR" altLang="en-US" sz="1100" b="1" dirty="0"/>
                <a:t>단계</a:t>
              </a:r>
              <a:endParaRPr lang="en-US" altLang="ko-KR" sz="1100" b="1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22143" y="4794145"/>
              <a:ext cx="669155" cy="313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b="1" dirty="0">
                  <a:solidFill>
                    <a:schemeClr val="bg1"/>
                  </a:solidFill>
                </a:rPr>
                <a:t>3</a:t>
              </a:r>
              <a:r>
                <a:rPr lang="ko-KR" altLang="en-US" sz="1100" b="1" dirty="0">
                  <a:solidFill>
                    <a:schemeClr val="bg1"/>
                  </a:solidFill>
                </a:rPr>
                <a:t>단계</a:t>
              </a:r>
              <a:endParaRPr lang="en-US" altLang="ko-KR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17861" y="5721962"/>
              <a:ext cx="669155" cy="313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b="1" dirty="0">
                  <a:solidFill>
                    <a:schemeClr val="bg1"/>
                  </a:solidFill>
                </a:rPr>
                <a:t>4</a:t>
              </a:r>
              <a:r>
                <a:rPr lang="ko-KR" altLang="en-US" sz="1100" b="1" dirty="0">
                  <a:solidFill>
                    <a:schemeClr val="bg1"/>
                  </a:solidFill>
                </a:rPr>
                <a:t>단계</a:t>
              </a:r>
              <a:endParaRPr lang="en-US" altLang="ko-KR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1572472" y="1320024"/>
              <a:ext cx="2400283" cy="345115"/>
            </a:xfrm>
            <a:prstGeom prst="rect">
              <a:avLst/>
            </a:prstGeom>
            <a:solidFill>
              <a:srgbClr val="C00000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-7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고딕 ExtraBold" pitchFamily="50" charset="-127"/>
                  <a:ea typeface="나눔고딕 ExtraBold" pitchFamily="50" charset="-127"/>
                  <a:cs typeface="+mn-cs"/>
                </a:rPr>
                <a:t>환자 부재 인지</a:t>
              </a:r>
            </a:p>
          </p:txBody>
        </p:sp>
        <p:sp>
          <p:nvSpPr>
            <p:cNvPr id="5" name="다이아몬드 4"/>
            <p:cNvSpPr/>
            <p:nvPr/>
          </p:nvSpPr>
          <p:spPr>
            <a:xfrm>
              <a:off x="1416570" y="1804804"/>
              <a:ext cx="2620151" cy="601575"/>
            </a:xfrm>
            <a:prstGeom prst="diamond">
              <a:avLst/>
            </a:prstGeom>
            <a:solidFill>
              <a:srgbClr val="DBEEF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668159" y="1975839"/>
              <a:ext cx="22266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/>
                <a:t>병동 주변 환자위치파악</a:t>
              </a:r>
            </a:p>
          </p:txBody>
        </p:sp>
        <p:sp>
          <p:nvSpPr>
            <p:cNvPr id="53" name="다이아몬드 52"/>
            <p:cNvSpPr/>
            <p:nvPr/>
          </p:nvSpPr>
          <p:spPr>
            <a:xfrm>
              <a:off x="1396694" y="3608766"/>
              <a:ext cx="2620151" cy="707374"/>
            </a:xfrm>
            <a:prstGeom prst="diamond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09947" y="3748732"/>
              <a:ext cx="2423799" cy="336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latinLnBrk="0">
                <a:defRPr/>
              </a:pPr>
              <a:r>
                <a:rPr lang="en-US" altLang="ko-KR" sz="1600" kern="0" spc="-70" dirty="0">
                  <a:solidFill>
                    <a:srgbClr val="FF0000"/>
                  </a:solidFill>
                  <a:latin typeface="나눔고딕 ExtraBold" pitchFamily="50" charset="-127"/>
                  <a:ea typeface="나눔고딕 ExtraBold" pitchFamily="50" charset="-127"/>
                </a:rPr>
                <a:t>CCTV </a:t>
              </a:r>
              <a:r>
                <a:rPr lang="ko-KR" altLang="en-US" sz="1600" kern="0" spc="-70" dirty="0">
                  <a:solidFill>
                    <a:srgbClr val="FF0000"/>
                  </a:solidFill>
                  <a:latin typeface="나눔고딕 ExtraBold" pitchFamily="50" charset="-127"/>
                  <a:ea typeface="나눔고딕 ExtraBold" pitchFamily="50" charset="-127"/>
                </a:rPr>
                <a:t>확인</a:t>
              </a:r>
            </a:p>
          </p:txBody>
        </p:sp>
      </p:grpSp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338377"/>
              </p:ext>
            </p:extLst>
          </p:nvPr>
        </p:nvGraphicFramePr>
        <p:xfrm>
          <a:off x="4835956" y="648232"/>
          <a:ext cx="7033547" cy="578707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88224">
                  <a:extLst>
                    <a:ext uri="{9D8B030D-6E8A-4147-A177-3AD203B41FA5}">
                      <a16:colId xmlns:a16="http://schemas.microsoft.com/office/drawing/2014/main" val="3861404555"/>
                    </a:ext>
                  </a:extLst>
                </a:gridCol>
                <a:gridCol w="3169225">
                  <a:extLst>
                    <a:ext uri="{9D8B030D-6E8A-4147-A177-3AD203B41FA5}">
                      <a16:colId xmlns:a16="http://schemas.microsoft.com/office/drawing/2014/main" val="1991010618"/>
                    </a:ext>
                  </a:extLst>
                </a:gridCol>
                <a:gridCol w="3076098">
                  <a:extLst>
                    <a:ext uri="{9D8B030D-6E8A-4147-A177-3AD203B41FA5}">
                      <a16:colId xmlns:a16="http://schemas.microsoft.com/office/drawing/2014/main" val="1983667647"/>
                    </a:ext>
                  </a:extLst>
                </a:gridCol>
              </a:tblGrid>
              <a:tr h="4080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단계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행동 요령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007828"/>
                  </a:ext>
                </a:extLst>
              </a:tr>
              <a:tr h="7790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전단계</a:t>
                      </a:r>
                      <a:r>
                        <a:rPr lang="ko-KR" altLang="en-US" sz="1400" b="1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180000" indent="-180000" latinLnBrk="1">
                        <a:buAutoNum type="arabicPeriod"/>
                      </a:pPr>
                      <a:r>
                        <a:rPr lang="ko-KR" altLang="en-US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환자 및 보호자 교육</a:t>
                      </a:r>
                      <a:endParaRPr lang="en-US" altLang="ko-KR" sz="1200" baseline="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00" baseline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: 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환자가 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 이상 자리를 비울 경우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휴대폰을 지참 및 간호사에게 미리 알리기</a:t>
                      </a:r>
                    </a:p>
                    <a:p>
                      <a:pPr marL="0" lvl="0" indent="0" latinLnBrk="1">
                        <a:buFont typeface="+mj-lt"/>
                        <a:buNone/>
                      </a:pPr>
                      <a:r>
                        <a:rPr lang="en-US" altLang="ko-KR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lang="ko-KR" altLang="en-US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정기적 병실 </a:t>
                      </a:r>
                      <a:r>
                        <a:rPr lang="ko-KR" altLang="en-US" sz="1200" baseline="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라운딩</a:t>
                      </a:r>
                      <a:r>
                        <a:rPr lang="ko-KR" altLang="en-US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endParaRPr lang="ko-KR" altLang="en-US"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488696"/>
                  </a:ext>
                </a:extLst>
              </a:tr>
              <a:tr h="7790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1</a:t>
                      </a:r>
                      <a:r>
                        <a:rPr lang="ko-KR" altLang="en-US" sz="1400" b="1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단계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환자 부재 인지후 즉시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환자 위치 파악 </a:t>
                      </a:r>
                      <a:endParaRPr lang="en-US" altLang="ko-KR" sz="12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1. </a:t>
                      </a: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병동 주변</a:t>
                      </a:r>
                      <a:r>
                        <a:rPr lang="en-US" altLang="ko-KR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병실</a:t>
                      </a:r>
                      <a:r>
                        <a:rPr lang="en-US" altLang="ko-KR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복도</a:t>
                      </a:r>
                      <a:r>
                        <a:rPr lang="en-US" altLang="ko-KR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화장실</a:t>
                      </a:r>
                      <a:r>
                        <a:rPr lang="en-US" altLang="ko-KR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샤워실</a:t>
                      </a:r>
                      <a:r>
                        <a:rPr lang="en-US" altLang="ko-KR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휴게실 등 병동 전체 </a:t>
                      </a:r>
                      <a:r>
                        <a:rPr lang="en-US" altLang="ko-KR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닫힌 문 열어</a:t>
                      </a:r>
                      <a:r>
                        <a:rPr lang="ko-KR" altLang="en-US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 확인</a:t>
                      </a:r>
                      <a:r>
                        <a:rPr lang="en-US" altLang="ko-KR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Wingdings" panose="05000000000000000000" pitchFamily="2" charset="2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2. </a:t>
                      </a: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환자 및 보호자 휴대전화로 연락 </a:t>
                      </a:r>
                      <a:endParaRPr lang="ko-KR" altLang="en-US"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585589"/>
                  </a:ext>
                </a:extLst>
              </a:tr>
              <a:tr h="37096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2</a:t>
                      </a:r>
                      <a:r>
                        <a:rPr lang="ko-KR" altLang="en-US" sz="1400" b="1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단계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간호팀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보안팀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/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기타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488625"/>
                  </a:ext>
                </a:extLst>
              </a:tr>
              <a:tr h="189192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원내 연락 </a:t>
                      </a:r>
                      <a:endParaRPr lang="en-US" altLang="ko-KR"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360000" lvl="1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원내 방송 요청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(0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360000" lvl="1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보안팀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(44915)</a:t>
                      </a:r>
                      <a:r>
                        <a:rPr lang="en-US" altLang="ko-KR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환자 인상착의 및 사진 제공 </a:t>
                      </a:r>
                      <a:endParaRPr lang="en-US" altLang="ko-KR"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360000" lvl="1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파트장</a:t>
                      </a:r>
                      <a:r>
                        <a:rPr lang="en-US" altLang="ko-KR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전공의</a:t>
                      </a:r>
                      <a:r>
                        <a:rPr lang="en-US" altLang="ko-KR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담당의사</a:t>
                      </a:r>
                      <a:r>
                        <a:rPr lang="en-US" altLang="ko-KR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보고</a:t>
                      </a:r>
                      <a:endParaRPr lang="en-US" altLang="ko-KR"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lvl="0" indent="0" latinLnBrk="1">
                        <a:buFont typeface="+mj-lt"/>
                        <a:buNone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보호자 연락</a:t>
                      </a:r>
                      <a:endParaRPr lang="en-US" altLang="ko-KR" sz="12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360000" lvl="1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필요시 환자 식별 자료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사진 등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</a:t>
                      </a:r>
                      <a:endParaRPr lang="en-US" altLang="ko-KR" sz="12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000" lvl="1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en-US" altLang="ko-KR" sz="12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동의서 작성 필수</a:t>
                      </a:r>
                      <a:r>
                        <a:rPr lang="en-US" altLang="ko-KR" sz="12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360000" lvl="1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1" i="0" u="none" strike="noStrike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자택에 가족 중 </a:t>
                      </a:r>
                      <a:r>
                        <a:rPr lang="en-US" altLang="ko-KR" sz="1200" b="1" i="0" u="none" strike="noStrike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200" b="1" i="0" u="none" strike="noStrike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 대기하도록 교육</a:t>
                      </a:r>
                      <a:endParaRPr lang="ko-KR" altLang="en-US" sz="1200" b="1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원내</a:t>
                      </a:r>
                      <a:r>
                        <a:rPr lang="en-US" altLang="ko-KR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원외 주변 환자 위치 파악</a:t>
                      </a:r>
                      <a:r>
                        <a:rPr lang="ko-KR" altLang="en-US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1200" baseline="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000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비상연락망 가동</a:t>
                      </a:r>
                      <a:r>
                        <a:rPr lang="en-US" altLang="ko-KR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1200" baseline="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보안팀</a:t>
                      </a:r>
                      <a:r>
                        <a:rPr lang="en-US" altLang="ko-KR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승강기감시실</a:t>
                      </a:r>
                      <a:r>
                        <a:rPr lang="en-US" altLang="ko-KR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주차관제실</a:t>
                      </a:r>
                      <a:r>
                        <a:rPr lang="en-US" altLang="ko-KR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사무팀</a:t>
                      </a:r>
                      <a:r>
                        <a:rPr lang="en-US" altLang="ko-KR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경영지원팀 </a:t>
                      </a:r>
                      <a:endParaRPr lang="en-US" altLang="ko-KR" sz="1200" baseline="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ko-KR" altLang="en-US"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000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CCTV 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확인 </a:t>
                      </a: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보호자 또는 부재 시 간호사 동반</a:t>
                      </a:r>
                      <a:r>
                        <a:rPr lang="en-US" altLang="ko-KR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ko-KR" altLang="en-US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환자 식별</a:t>
                      </a:r>
                      <a:r>
                        <a:rPr lang="en-US" altLang="ko-KR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1460862"/>
                  </a:ext>
                </a:extLst>
              </a:tr>
              <a:tr h="7790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3</a:t>
                      </a:r>
                      <a:r>
                        <a:rPr lang="ko-KR" altLang="en-US" sz="1400" b="1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단계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180000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필요시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경찰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(112)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신고</a:t>
                      </a:r>
                      <a:r>
                        <a:rPr lang="en-US" altLang="ko-KR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보호자 또는 담당 의료진</a:t>
                      </a:r>
                      <a:endParaRPr lang="en-US" altLang="ko-KR"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-  </a:t>
                      </a: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보호자에게 규정 알리고 경찰 신고</a:t>
                      </a:r>
                      <a:endParaRPr lang="en-US" altLang="ko-KR"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-  </a:t>
                      </a: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보호자 신고 거부 시 담당 의료진 신고</a:t>
                      </a:r>
                      <a:endParaRPr lang="en-US" altLang="ko-KR"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479226"/>
                  </a:ext>
                </a:extLst>
              </a:tr>
              <a:tr h="7790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4</a:t>
                      </a:r>
                      <a:r>
                        <a:rPr lang="ko-KR" altLang="en-US" sz="1400" b="1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단계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진행사항에 대한 간호 기록 </a:t>
                      </a:r>
                      <a:endParaRPr lang="en-US" altLang="ko-KR"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000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환자안전사건 보고 </a:t>
                      </a:r>
                      <a:endParaRPr lang="en-US" altLang="ko-KR"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000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환자</a:t>
                      </a:r>
                      <a:r>
                        <a:rPr lang="ko-KR" altLang="en-US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탈원보고서</a:t>
                      </a:r>
                      <a:r>
                        <a:rPr lang="en-US" altLang="ko-KR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</a:t>
                      </a:r>
                      <a:r>
                        <a:rPr lang="en-US" altLang="ko-KR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Wingdings" panose="05000000000000000000" pitchFamily="2" charset="2"/>
                        </a:rPr>
                        <a:t>입원원무팀으로 제출</a:t>
                      </a:r>
                      <a:endParaRPr lang="ko-KR" altLang="en-US"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관할 경찰과 연계 하여 최대한 협조 </a:t>
                      </a:r>
                      <a:endParaRPr lang="en-US" altLang="ko-KR"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000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서대문 경찰서</a:t>
                      </a:r>
                      <a:r>
                        <a:rPr lang="en-US" altLang="ko-KR" sz="12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(112, 02-362-0112)</a:t>
                      </a:r>
                      <a:endParaRPr lang="ko-KR" altLang="en-US"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1596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3509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3725</TotalTime>
  <Words>306</Words>
  <Application>Microsoft Office PowerPoint</Application>
  <PresentationFormat>와이드스크린</PresentationFormat>
  <Paragraphs>66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1" baseType="lpstr">
      <vt:lpstr>나눔고딕</vt:lpstr>
      <vt:lpstr>Wingdings</vt:lpstr>
      <vt:lpstr>나눔고딕 ExtraBold</vt:lpstr>
      <vt:lpstr>바탕</vt:lpstr>
      <vt:lpstr>맑은 고딕</vt:lpstr>
      <vt:lpstr>연세소제목체</vt:lpstr>
      <vt:lpstr>Arial</vt:lpstr>
      <vt:lpstr>Times New Roman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영상의학팀 환자안전교육 -인공호흡기 중심-</dc:title>
  <dc:creator>노영옥(환자안전팀)</dc:creator>
  <cp:lastModifiedBy>진료혁신센터 공지사항</cp:lastModifiedBy>
  <cp:revision>99</cp:revision>
  <cp:lastPrinted>2023-07-03T09:29:16Z</cp:lastPrinted>
  <dcterms:created xsi:type="dcterms:W3CDTF">2022-06-21T23:57:55Z</dcterms:created>
  <dcterms:modified xsi:type="dcterms:W3CDTF">2025-04-02T00:11:57Z</dcterms:modified>
</cp:coreProperties>
</file>