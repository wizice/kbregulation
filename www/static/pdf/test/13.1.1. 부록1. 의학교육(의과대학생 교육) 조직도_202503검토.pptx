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284" r:id="rId2"/>
    <p:sldId id="265" r:id="rId3"/>
  </p:sldIdLst>
  <p:sldSz cx="6858000" cy="9906000" type="A4"/>
  <p:notesSz cx="6807200" cy="9906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43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FFCC"/>
    <a:srgbClr val="FF9933"/>
    <a:srgbClr val="FF6600"/>
    <a:srgbClr val="FFCC00"/>
    <a:srgbClr val="FFCC99"/>
    <a:srgbClr val="FFCCFF"/>
    <a:srgbClr val="D22EAF"/>
    <a:srgbClr val="FFFF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91" autoAdjust="0"/>
    <p:restoredTop sz="96400" autoAdjust="0"/>
  </p:normalViewPr>
  <p:slideViewPr>
    <p:cSldViewPr>
      <p:cViewPr varScale="1">
        <p:scale>
          <a:sx n="79" d="100"/>
          <a:sy n="79" d="100"/>
        </p:scale>
        <p:origin x="3258" y="114"/>
      </p:cViewPr>
      <p:guideLst>
        <p:guide orient="horz" pos="3120"/>
        <p:guide pos="43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5964" cy="53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1646" y="0"/>
            <a:ext cx="2899657" cy="532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t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156"/>
            <a:ext cx="2975964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1646" y="9429156"/>
            <a:ext cx="2899657" cy="45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1" tIns="45675" rIns="91351" bIns="45675" numCol="1" anchor="b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05CD100-F97A-4F01-845B-5C1F14E01E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46511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1" y="0"/>
            <a:ext cx="2950528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55083" y="0"/>
            <a:ext cx="2950528" cy="495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2F2EB6-FD8A-4E58-A60C-4140E0B923A9}" type="datetimeFigureOut">
              <a:rPr lang="ko-KR" altLang="en-US"/>
              <a:pPr>
                <a:defRPr/>
              </a:pPr>
              <a:t>2025-04-02</a:t>
            </a:fld>
            <a:endParaRPr lang="en-US" altLang="ko-KR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9313" y="742950"/>
            <a:ext cx="257016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92" tIns="47346" rIns="94692" bIns="4734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0403" y="4705073"/>
            <a:ext cx="5446396" cy="445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1" y="9408562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55083" y="9408562"/>
            <a:ext cx="2950528" cy="49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8" tIns="45679" rIns="91358" bIns="45679" numCol="1" anchor="b" anchorCtr="0" compatLnSpc="1">
            <a:prstTxWarp prst="textNoShape">
              <a:avLst/>
            </a:prstTxWarp>
          </a:bodyPr>
          <a:lstStyle>
            <a:lvl1pPr algn="r" defTabSz="882017">
              <a:defRPr sz="1200" smtClean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1EA8D4B-D8CF-450A-80F3-D4FD22EABB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76350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ko-KR" altLang="en-US" dirty="0" err="1"/>
              <a:t>학생파트장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>
                <a:solidFill>
                  <a:srgbClr val="FF0000"/>
                </a:solidFill>
              </a:rPr>
              <a:t>교육파트장</a:t>
            </a:r>
            <a:r>
              <a:rPr lang="ko-KR" altLang="en-US" dirty="0"/>
              <a:t>으로 수정하였습니다</a:t>
            </a:r>
            <a:r>
              <a:rPr lang="en-US" altLang="ko-KR" dirty="0"/>
              <a:t>. </a:t>
            </a:r>
          </a:p>
          <a:p>
            <a:pPr eaLnBrk="1" hangingPunct="1">
              <a:spcBef>
                <a:spcPct val="0"/>
              </a:spcBef>
            </a:pPr>
            <a:r>
              <a:rPr lang="en-US" altLang="ko-KR" dirty="0"/>
              <a:t>2019.01.28</a:t>
            </a:r>
            <a:r>
              <a:rPr lang="ko-KR" altLang="en-US" dirty="0"/>
              <a:t>현재 수정사항 없습니다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12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DFB718-3BEC-4D62-AA3B-F99A6F21E649}" type="slidenum">
              <a:rPr lang="ko-KR" altLang="en-US">
                <a:latin typeface="굴림" charset="-127"/>
                <a:ea typeface="굴림" charset="-127"/>
              </a:rPr>
              <a:pPr/>
              <a:t>2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 bwMode="auto">
          <a:xfrm>
            <a:off x="171450" y="2062163"/>
            <a:ext cx="6057900" cy="232568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0100" y="4972050"/>
            <a:ext cx="4972050" cy="24209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342900" y="9024938"/>
            <a:ext cx="1600200" cy="681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2343150" y="9032875"/>
            <a:ext cx="2171700" cy="6604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914900" y="9024938"/>
            <a:ext cx="1600200" cy="681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ED139-29FB-4B15-9D9C-A1F89446BD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6B457-AD41-4A3D-91D6-A3EB049D64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E5DBA-04FD-4B87-A36D-8EC81C620C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BA8AF8-6B74-4975-AC2F-1E17207386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185A4-7857-4B4F-99EC-C7C75E5FB9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7FDA3-2ADD-415B-84CA-46B4BE2BB1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A646-62D2-4072-BD5C-ABCC4EA824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C5D47-3997-440C-B774-F17BB09923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362C2-63F9-4ADB-9077-FDDEF6BC65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045BB-3214-4E04-BBB8-18E47A13AD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5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68EFB-4788-4DF5-9C06-75522297D6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9024938"/>
            <a:ext cx="1600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9024938"/>
            <a:ext cx="16002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8C0E143-AED1-4BC2-9C2F-EECAE4340D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kumimoji="1" sz="1400">
          <a:solidFill>
            <a:srgbClr val="008080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kumimoji="1" sz="1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3222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8" y="705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259945"/>
              </p:ext>
            </p:extLst>
          </p:nvPr>
        </p:nvGraphicFramePr>
        <p:xfrm>
          <a:off x="393585" y="1934203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13.1.1.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의과대학생 임상실습 교육 및 감독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13.1.1.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의학교육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(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의과대학생 교육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)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조직도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광혜교육위원회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의과대학 사무팀 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2012.12.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9456" y="1477452"/>
            <a:ext cx="65299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kern="100" dirty="0">
                <a:latin typeface="+mn-ea"/>
                <a:ea typeface="+mn-ea"/>
                <a:cs typeface="Times New Roman" panose="02020603050405020304" pitchFamily="18" charset="0"/>
              </a:rPr>
              <a:t>의학교육</a:t>
            </a:r>
            <a:r>
              <a:rPr lang="en-US" altLang="ko-KR" sz="1600" b="1" kern="100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ko-KR" altLang="en-US" sz="1600" b="1" kern="100" dirty="0">
                <a:latin typeface="+mn-ea"/>
                <a:ea typeface="+mn-ea"/>
                <a:cs typeface="Times New Roman" panose="02020603050405020304" pitchFamily="18" charset="0"/>
              </a:rPr>
              <a:t>의과대학생 교육</a:t>
            </a:r>
            <a:r>
              <a:rPr lang="en-US" altLang="ko-KR" sz="1600" b="1" kern="100" dirty="0">
                <a:latin typeface="+mn-ea"/>
                <a:ea typeface="+mn-ea"/>
                <a:cs typeface="Times New Roman" panose="02020603050405020304" pitchFamily="18" charset="0"/>
              </a:rPr>
              <a:t>) </a:t>
            </a:r>
            <a:r>
              <a:rPr lang="ko-KR" altLang="en-US" sz="1600" b="1" kern="100" dirty="0">
                <a:latin typeface="+mn-ea"/>
                <a:ea typeface="+mn-ea"/>
                <a:cs typeface="Times New Roman" panose="02020603050405020304" pitchFamily="18" charset="0"/>
              </a:rPr>
              <a:t>조직도</a:t>
            </a:r>
            <a:endParaRPr lang="ko-KR" altLang="en-US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14289" y="9417496"/>
            <a:ext cx="644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73216" y="9489504"/>
            <a:ext cx="136815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1pPr>
            <a:lvl2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2pPr>
            <a:lvl3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3pPr>
            <a:lvl4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4pPr>
            <a:lvl5pPr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700338" algn="ctr"/>
                <a:tab pos="5400675" algn="r"/>
              </a:tabLs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굴림" pitchFamily="50" charset="-127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700338" algn="ctr"/>
                <a:tab pos="5400675" algn="r"/>
              </a:tabLst>
            </a:pPr>
            <a:r>
              <a:rPr kumimoji="1" lang="en-US" altLang="ko-KR" sz="900" b="0" i="0" u="none" strike="noStrike" cap="none" normalizeH="0" baseline="0" dirty="0">
                <a:ln>
                  <a:noFill/>
                </a:ln>
                <a:effectLst/>
                <a:latin typeface="바탕" pitchFamily="18" charset="-127"/>
                <a:ea typeface="-윤명조130" pitchFamily="18" charset="-127"/>
                <a:cs typeface="Times New Roman" pitchFamily="18" charset="0"/>
              </a:rPr>
              <a:t>1 | 1</a:t>
            </a:r>
            <a:endParaRPr kumimoji="1" lang="en-US" altLang="ko-KR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181" name="직선 연결선 180"/>
          <p:cNvCxnSpPr>
            <a:cxnSpLocks/>
          </p:cNvCxnSpPr>
          <p:nvPr/>
        </p:nvCxnSpPr>
        <p:spPr>
          <a:xfrm>
            <a:off x="3312315" y="3096752"/>
            <a:ext cx="0" cy="3524464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sp>
        <p:nvSpPr>
          <p:cNvPr id="183" name="TextBox 182"/>
          <p:cNvSpPr txBox="1"/>
          <p:nvPr/>
        </p:nvSpPr>
        <p:spPr>
          <a:xfrm>
            <a:off x="2406377" y="3921184"/>
            <a:ext cx="1811877" cy="360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92D05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Dean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학장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737408" y="2664704"/>
            <a:ext cx="5044159" cy="43204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Yonsei University Health System (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연세의료원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935000" y="3475654"/>
            <a:ext cx="2988000" cy="373522"/>
          </a:xfrm>
          <a:prstGeom prst="rect">
            <a:avLst/>
          </a:prstGeom>
          <a:solidFill>
            <a:srgbClr val="9BBB59"/>
          </a:solidFill>
          <a:ln w="25400" cap="flat" cmpd="sng" algn="ctr">
            <a:solidFill>
              <a:srgbClr val="9BBB59">
                <a:shade val="50000"/>
              </a:srgbClr>
            </a:solidFill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Yonsei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 University College of Medicine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연세대학교 의과대학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cxnSp>
        <p:nvCxnSpPr>
          <p:cNvPr id="193" name="직선 연결선 192"/>
          <p:cNvCxnSpPr/>
          <p:nvPr/>
        </p:nvCxnSpPr>
        <p:spPr>
          <a:xfrm flipV="1">
            <a:off x="2428205" y="6628680"/>
            <a:ext cx="1800000" cy="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cxnSp>
        <p:nvCxnSpPr>
          <p:cNvPr id="194" name="직선 연결선 193"/>
          <p:cNvCxnSpPr/>
          <p:nvPr/>
        </p:nvCxnSpPr>
        <p:spPr>
          <a:xfrm flipH="1">
            <a:off x="4240905" y="6628680"/>
            <a:ext cx="0" cy="28800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sp>
        <p:nvSpPr>
          <p:cNvPr id="195" name="TextBox 194"/>
          <p:cNvSpPr txBox="1"/>
          <p:nvPr/>
        </p:nvSpPr>
        <p:spPr>
          <a:xfrm>
            <a:off x="3670829" y="7382687"/>
            <a:ext cx="2350841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ysClr val="windowText" lastClr="00000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Chiefs of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 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Clinical [Science] Departments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임상과장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661491" y="6949187"/>
            <a:ext cx="2350841" cy="360000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Clinical [Science] Departments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임상진료과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cxnSp>
        <p:nvCxnSpPr>
          <p:cNvPr id="202" name="직선 연결선 201"/>
          <p:cNvCxnSpPr/>
          <p:nvPr/>
        </p:nvCxnSpPr>
        <p:spPr>
          <a:xfrm flipH="1">
            <a:off x="2429574" y="6628680"/>
            <a:ext cx="0" cy="28800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sp>
        <p:nvSpPr>
          <p:cNvPr id="203" name="TextBox 202"/>
          <p:cNvSpPr txBox="1"/>
          <p:nvPr/>
        </p:nvSpPr>
        <p:spPr>
          <a:xfrm>
            <a:off x="1064809" y="6949187"/>
            <a:ext cx="2350841" cy="360000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General Affairs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사무팀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1064808" y="7382687"/>
            <a:ext cx="2338393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92D05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Assistant Manager of Educational Affairs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교육파트장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2406376" y="5188520"/>
            <a:ext cx="1806101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92D05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Vice Dean for Educational Affairs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교육부학장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 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cxnSp>
        <p:nvCxnSpPr>
          <p:cNvPr id="208" name="직선 연결선 207"/>
          <p:cNvCxnSpPr/>
          <p:nvPr/>
        </p:nvCxnSpPr>
        <p:spPr>
          <a:xfrm>
            <a:off x="3307650" y="4736054"/>
            <a:ext cx="108000" cy="0"/>
          </a:xfrm>
          <a:prstGeom prst="line">
            <a:avLst/>
          </a:prstGeom>
          <a:noFill/>
          <a:ln w="12700" cap="flat" cmpd="sng" algn="ctr">
            <a:solidFill>
              <a:srgbClr val="92D050"/>
            </a:solidFill>
            <a:prstDash val="soli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2430488" y="5916944"/>
            <a:ext cx="1806101" cy="576000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92D050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Assistant Dean for Educational Affairs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교육부장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3445049" y="4448054"/>
            <a:ext cx="1620000" cy="576000"/>
          </a:xfrm>
          <a:prstGeom prst="rect">
            <a:avLst/>
          </a:prstGeom>
          <a:gradFill rotWithShape="1">
            <a:gsLst>
              <a:gs pos="0">
                <a:srgbClr val="9BBB59">
                  <a:tint val="50000"/>
                  <a:satMod val="300000"/>
                </a:srgbClr>
              </a:gs>
              <a:gs pos="35000">
                <a:srgbClr val="9BBB59">
                  <a:tint val="37000"/>
                  <a:satMod val="300000"/>
                </a:srgbClr>
              </a:gs>
              <a:gs pos="100000">
                <a:srgbClr val="9BBB59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9BBB59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kern="0" dirty="0">
                <a:latin typeface="Arial" pitchFamily="34" charset="0"/>
                <a:ea typeface="나눔고딕 ExtraBold" pitchFamily="50" charset="-127"/>
                <a:cs typeface="Arial" pitchFamily="34" charset="0"/>
              </a:rPr>
              <a:t>G</a:t>
            </a:r>
            <a:r>
              <a:rPr kumimoji="0" lang="en-US" altLang="ko-KR" sz="11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wanghye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 Education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Committee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광혜교육위원회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나눔고딕 ExtraBold" pitchFamily="50" charset="-127"/>
                <a:cs typeface="Arial" pitchFamily="34" charset="0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나눔고딕 ExtraBold" pitchFamily="50" charset="-127"/>
              <a:cs typeface="Arial" pitchFamily="34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D856C22-F195-4257-8E63-812985F1D22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29894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F7EC49C1-72F7-4706-992B-34950987704A}"/>
              </a:ext>
            </a:extLst>
          </p:cNvPr>
          <p:cNvSpPr txBox="1"/>
          <p:nvPr/>
        </p:nvSpPr>
        <p:spPr>
          <a:xfrm>
            <a:off x="5927468" y="27248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캡슐 구성">
  <a:themeElements>
    <a:clrScheme name="캡슐 구성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캡슐 구성">
      <a:majorFont>
        <a:latin typeface="HY울릉도M"/>
        <a:ea typeface="HY울릉도M"/>
        <a:cs typeface=""/>
      </a:majorFont>
      <a:minorFont>
        <a:latin typeface="연세본문체"/>
        <a:ea typeface="연세본문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캡슐 구성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캡슐 구성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캡슐 구성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캡슐 구성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Radial</Template>
  <TotalTime>3422</TotalTime>
  <Words>127</Words>
  <Application>Microsoft Office PowerPoint</Application>
  <PresentationFormat>A4 용지(210x297mm)</PresentationFormat>
  <Paragraphs>36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HY울릉도M</vt:lpstr>
      <vt:lpstr>굴림</vt:lpstr>
      <vt:lpstr>맑은 고딕</vt:lpstr>
      <vt:lpstr>바탕</vt:lpstr>
      <vt:lpstr>연세본문체</vt:lpstr>
      <vt:lpstr>연세소제목체</vt:lpstr>
      <vt:lpstr>Arial</vt:lpstr>
      <vt:lpstr>Times New Roman</vt:lpstr>
      <vt:lpstr>Wingdings</vt:lpstr>
      <vt:lpstr>캡슐 구성</vt:lpstr>
      <vt:lpstr>PowerPoint 프레젠테이션</vt:lpstr>
      <vt:lpstr>PowerPoint 프레젠테이션</vt:lpstr>
    </vt:vector>
  </TitlesOfParts>
  <Company>연세의료원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mychoi</dc:creator>
  <cp:lastModifiedBy>진료혁신센터 공지사항</cp:lastModifiedBy>
  <cp:revision>473</cp:revision>
  <dcterms:created xsi:type="dcterms:W3CDTF">2006-10-20T02:17:37Z</dcterms:created>
  <dcterms:modified xsi:type="dcterms:W3CDTF">2025-04-02T00:23:42Z</dcterms:modified>
</cp:coreProperties>
</file>